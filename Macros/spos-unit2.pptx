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3"/>
  </p:notesMasterIdLst>
  <p:sldIdLst>
    <p:sldId id="371" r:id="rId2"/>
    <p:sldId id="374" r:id="rId3"/>
    <p:sldId id="372" r:id="rId4"/>
    <p:sldId id="373" r:id="rId5"/>
    <p:sldId id="398" r:id="rId6"/>
    <p:sldId id="359" r:id="rId7"/>
    <p:sldId id="257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407" r:id="rId17"/>
    <p:sldId id="408" r:id="rId18"/>
    <p:sldId id="409" r:id="rId19"/>
    <p:sldId id="410" r:id="rId20"/>
    <p:sldId id="411" r:id="rId21"/>
    <p:sldId id="412" r:id="rId22"/>
    <p:sldId id="413" r:id="rId23"/>
    <p:sldId id="414" r:id="rId24"/>
    <p:sldId id="415" r:id="rId25"/>
    <p:sldId id="362" r:id="rId26"/>
    <p:sldId id="416" r:id="rId27"/>
    <p:sldId id="417" r:id="rId28"/>
    <p:sldId id="420" r:id="rId29"/>
    <p:sldId id="419" r:id="rId30"/>
    <p:sldId id="418" r:id="rId31"/>
    <p:sldId id="275" r:id="rId32"/>
    <p:sldId id="266" r:id="rId33"/>
    <p:sldId id="267" r:id="rId34"/>
    <p:sldId id="268" r:id="rId35"/>
    <p:sldId id="391" r:id="rId36"/>
    <p:sldId id="392" r:id="rId37"/>
    <p:sldId id="393" r:id="rId38"/>
    <p:sldId id="394" r:id="rId39"/>
    <p:sldId id="395" r:id="rId40"/>
    <p:sldId id="396" r:id="rId41"/>
    <p:sldId id="397" r:id="rId42"/>
    <p:sldId id="421" r:id="rId43"/>
    <p:sldId id="422" r:id="rId44"/>
    <p:sldId id="423" r:id="rId45"/>
    <p:sldId id="424" r:id="rId46"/>
    <p:sldId id="269" r:id="rId47"/>
    <p:sldId id="270" r:id="rId48"/>
    <p:sldId id="377" r:id="rId49"/>
    <p:sldId id="265" r:id="rId50"/>
    <p:sldId id="367" r:id="rId51"/>
    <p:sldId id="271" r:id="rId52"/>
    <p:sldId id="272" r:id="rId53"/>
    <p:sldId id="273" r:id="rId54"/>
    <p:sldId id="274" r:id="rId55"/>
    <p:sldId id="276" r:id="rId56"/>
    <p:sldId id="277" r:id="rId57"/>
    <p:sldId id="278" r:id="rId58"/>
    <p:sldId id="279" r:id="rId59"/>
    <p:sldId id="280" r:id="rId60"/>
    <p:sldId id="281" r:id="rId61"/>
    <p:sldId id="282" r:id="rId62"/>
    <p:sldId id="283" r:id="rId63"/>
    <p:sldId id="284" r:id="rId64"/>
    <p:sldId id="285" r:id="rId65"/>
    <p:sldId id="286" r:id="rId66"/>
    <p:sldId id="287" r:id="rId67"/>
    <p:sldId id="288" r:id="rId68"/>
    <p:sldId id="289" r:id="rId69"/>
    <p:sldId id="290" r:id="rId70"/>
    <p:sldId id="291" r:id="rId71"/>
    <p:sldId id="292" r:id="rId72"/>
    <p:sldId id="293" r:id="rId73"/>
    <p:sldId id="294" r:id="rId74"/>
    <p:sldId id="295" r:id="rId75"/>
    <p:sldId id="296" r:id="rId76"/>
    <p:sldId id="297" r:id="rId77"/>
    <p:sldId id="298" r:id="rId78"/>
    <p:sldId id="299" r:id="rId79"/>
    <p:sldId id="300" r:id="rId80"/>
    <p:sldId id="301" r:id="rId81"/>
    <p:sldId id="302" r:id="rId82"/>
    <p:sldId id="303" r:id="rId83"/>
    <p:sldId id="304" r:id="rId84"/>
    <p:sldId id="305" r:id="rId85"/>
    <p:sldId id="306" r:id="rId86"/>
    <p:sldId id="307" r:id="rId87"/>
    <p:sldId id="308" r:id="rId88"/>
    <p:sldId id="309" r:id="rId89"/>
    <p:sldId id="310" r:id="rId90"/>
    <p:sldId id="311" r:id="rId91"/>
    <p:sldId id="312" r:id="rId92"/>
    <p:sldId id="313" r:id="rId93"/>
    <p:sldId id="314" r:id="rId94"/>
    <p:sldId id="315" r:id="rId95"/>
    <p:sldId id="316" r:id="rId96"/>
    <p:sldId id="317" r:id="rId97"/>
    <p:sldId id="318" r:id="rId98"/>
    <p:sldId id="319" r:id="rId99"/>
    <p:sldId id="320" r:id="rId100"/>
    <p:sldId id="323" r:id="rId101"/>
    <p:sldId id="376" r:id="rId102"/>
    <p:sldId id="462" r:id="rId103"/>
    <p:sldId id="463" r:id="rId104"/>
    <p:sldId id="426" r:id="rId105"/>
    <p:sldId id="427" r:id="rId106"/>
    <p:sldId id="428" r:id="rId107"/>
    <p:sldId id="429" r:id="rId108"/>
    <p:sldId id="430" r:id="rId109"/>
    <p:sldId id="431" r:id="rId110"/>
    <p:sldId id="432" r:id="rId111"/>
    <p:sldId id="433" r:id="rId112"/>
    <p:sldId id="434" r:id="rId113"/>
    <p:sldId id="435" r:id="rId114"/>
    <p:sldId id="436" r:id="rId115"/>
    <p:sldId id="437" r:id="rId116"/>
    <p:sldId id="438" r:id="rId117"/>
    <p:sldId id="439" r:id="rId118"/>
    <p:sldId id="440" r:id="rId119"/>
    <p:sldId id="441" r:id="rId120"/>
    <p:sldId id="442" r:id="rId121"/>
    <p:sldId id="443" r:id="rId122"/>
    <p:sldId id="444" r:id="rId123"/>
    <p:sldId id="445" r:id="rId124"/>
    <p:sldId id="446" r:id="rId125"/>
    <p:sldId id="447" r:id="rId126"/>
    <p:sldId id="448" r:id="rId127"/>
    <p:sldId id="449" r:id="rId128"/>
    <p:sldId id="450" r:id="rId129"/>
    <p:sldId id="451" r:id="rId130"/>
    <p:sldId id="452" r:id="rId131"/>
    <p:sldId id="453" r:id="rId132"/>
    <p:sldId id="454" r:id="rId133"/>
    <p:sldId id="455" r:id="rId134"/>
    <p:sldId id="456" r:id="rId135"/>
    <p:sldId id="457" r:id="rId136"/>
    <p:sldId id="458" r:id="rId137"/>
    <p:sldId id="459" r:id="rId138"/>
    <p:sldId id="460" r:id="rId139"/>
    <p:sldId id="378" r:id="rId140"/>
    <p:sldId id="379" r:id="rId141"/>
    <p:sldId id="380" r:id="rId142"/>
    <p:sldId id="381" r:id="rId143"/>
    <p:sldId id="382" r:id="rId144"/>
    <p:sldId id="383" r:id="rId145"/>
    <p:sldId id="384" r:id="rId146"/>
    <p:sldId id="385" r:id="rId147"/>
    <p:sldId id="386" r:id="rId148"/>
    <p:sldId id="387" r:id="rId149"/>
    <p:sldId id="390" r:id="rId150"/>
    <p:sldId id="389" r:id="rId151"/>
    <p:sldId id="388" r:id="rId1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C6600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87" d="100"/>
          <a:sy n="87" d="100"/>
        </p:scale>
        <p:origin x="152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3CD96-67B7-43B5-B4C0-E6115AA77C29}" type="datetimeFigureOut">
              <a:rPr lang="en-IN" smtClean="0"/>
              <a:t>27/09/2021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35EB6-E0A4-4533-9657-6E5B3999EA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77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735EB6-E0A4-4533-9657-6E5B3999EA45}" type="slidenum">
              <a:rPr lang="en-IN" smtClean="0"/>
              <a:t>129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741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4588" y="687388"/>
            <a:ext cx="4568825" cy="3427412"/>
          </a:xfrm>
          <a:ln/>
        </p:spPr>
      </p:sp>
      <p:sp>
        <p:nvSpPr>
          <p:cNvPr id="48131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TW" altLang="en-US" smtClean="0"/>
          </a:p>
        </p:txBody>
      </p:sp>
      <p:sp>
        <p:nvSpPr>
          <p:cNvPr id="48132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D720FC-97E6-43D0-82E8-A4A923FA392C}" type="slidenum">
              <a:rPr lang="zh-TW" altLang="en-US"/>
              <a:pPr/>
              <a:t>142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1613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79AFB-9753-4BCF-8633-49C5496F210E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999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754B-98D8-4F39-B672-5E801852EB5F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59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1F36-130E-446E-AACB-5EB9B5851220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70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E42A-FBA4-49FE-8141-F89C74D093FD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84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498E9-D732-4BE1-89FE-BAC1B4F25889}" type="datetime1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9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EC9F4-11B6-4E57-93EE-60A458C80257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4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F162A-FF16-4CC7-9432-FC4EC10C7DAF}" type="datetime1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1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2E34032E-6290-4503-8124-D89BC45C6003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8E721A-F7CA-4705-81EC-A2370FE3F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37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B2E8B-61F2-49B9-8121-71DA64BDDDF4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17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488D-FCFD-476A-AA87-F5E6F3DD3483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12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B0D61-9BCB-4D3C-9F97-B7CDB0C47D93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29083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866813C-8EBA-4035-BB09-56A163849C7C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28E721A-F7CA-4705-81EC-A2370FE3F5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24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SPPU%20FDP%20Unit%202.pptx#-1,21,PowerPoint Presentation" TargetMode="Externa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SPPU%20SPOS%20FDP%20Jyoti%20Kulkarni%20Unit%202.pptx#-1,47,PowerPoint Presentation" TargetMode="External"/><Relationship Id="rId2" Type="http://schemas.openxmlformats.org/officeDocument/2006/relationships/hyperlink" Target="SPPU%20SPOS%20FDP%20Jyoti%20Kulkarni%20Unit%202.pptx#-1,35,PowerPoint Presentation" TargetMode="Externa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SPPU%20SPOS%20FDP%20Jyoti%20Kulkarni%20Unit%202.pptx#-1,34,PowerPoint Presentation" TargetMode="Externa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SPPU%20SPOS%20FDP%20Jyoti%20Kulkarni%20Unit%202.pptx#-1,34,PowerPoint Presentation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SPPU%20FDP%20Unit%202.pptx#-1,34,PowerPoint Presentation" TargetMode="Externa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SPPU%20SPOS%20FDP%20Jyoti%20Kulkarni%20Unit%202.pptx#-1,34,PowerPoint Presentation" TargetMode="Externa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hyperlink" Target="SPPU%20FDP%20Unit%202.pptx#-1,5,Syllabus" TargetMode="Externa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obo.com/us/en/ebook/linux-system-programming-1" TargetMode="External"/><Relationship Id="rId2" Type="http://schemas.openxmlformats.org/officeDocument/2006/relationships/hyperlink" Target="http://www.elsevier.com/books/systems-programming/anthony/978-0-12-800729-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udemy.com/course/system-programming/" TargetMode="External"/><Relationship Id="rId4" Type="http://schemas.openxmlformats.org/officeDocument/2006/relationships/hyperlink" Target="https://www.e-booksdirectory.com/details.php?ebook=9907" TargetMode="Externa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020" y="1313646"/>
            <a:ext cx="7765366" cy="484895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endParaRPr lang="en-US" sz="3400" b="1" dirty="0" smtClean="0"/>
          </a:p>
          <a:p>
            <a:pPr marL="0" indent="0" algn="just">
              <a:buNone/>
            </a:pPr>
            <a:r>
              <a:rPr lang="en-US" sz="3400" b="1" dirty="0" smtClean="0"/>
              <a:t>Course </a:t>
            </a:r>
            <a:r>
              <a:rPr lang="en-US" sz="3400" b="1" dirty="0"/>
              <a:t>Objectives</a:t>
            </a:r>
            <a:r>
              <a:rPr lang="en-US" sz="3400" b="1" dirty="0" smtClean="0"/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To </a:t>
            </a:r>
            <a:r>
              <a:rPr lang="en-US" dirty="0"/>
              <a:t>get acquainted with the basics of System </a:t>
            </a:r>
            <a:r>
              <a:rPr lang="en-US" dirty="0" smtClean="0"/>
              <a:t>Programming.</a:t>
            </a:r>
            <a:endParaRPr lang="en-IN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To acquire knowledge of data structures used in the design of System </a:t>
            </a:r>
            <a:r>
              <a:rPr lang="en-US" dirty="0" smtClean="0"/>
              <a:t>Software.</a:t>
            </a:r>
            <a:endParaRPr lang="en-IN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To be familiar with the format of object modules, the functions of linking, relocation, and </a:t>
            </a:r>
            <a:r>
              <a:rPr lang="en-US" dirty="0" smtClean="0"/>
              <a:t>loading.</a:t>
            </a:r>
            <a:endParaRPr lang="en-IN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To comprehend the structures and functions of Operating Systems and process management.</a:t>
            </a:r>
            <a:endParaRPr lang="en-IN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To deal with concurrency and deadlock in the Operating </a:t>
            </a:r>
            <a:r>
              <a:rPr lang="en-US" dirty="0" smtClean="0"/>
              <a:t>System.</a:t>
            </a:r>
            <a:endParaRPr lang="en-IN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To learn and understand memory management of Operating </a:t>
            </a:r>
            <a:r>
              <a:rPr lang="en-US" dirty="0" smtClean="0"/>
              <a:t>System.</a:t>
            </a:r>
          </a:p>
          <a:p>
            <a:pPr lvl="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algn="just"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641020" y="469793"/>
            <a:ext cx="814588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FF0066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310243: Systems Programming and Operating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CDE7-0076-4C72-B983-F33AFE6D73C5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6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202" y="1390919"/>
            <a:ext cx="7765366" cy="4848957"/>
          </a:xfrm>
        </p:spPr>
        <p:txBody>
          <a:bodyPr>
            <a:normAutofit/>
          </a:bodyPr>
          <a:lstStyle/>
          <a:p>
            <a:pPr algn="just"/>
            <a:endParaRPr lang="en-US" sz="3200" b="1" dirty="0" smtClean="0"/>
          </a:p>
          <a:p>
            <a:pPr marL="0" indent="0" algn="just">
              <a:buNone/>
            </a:pPr>
            <a:r>
              <a:rPr lang="en-US" sz="3200" b="1" dirty="0" smtClean="0"/>
              <a:t>Course </a:t>
            </a:r>
            <a:r>
              <a:rPr lang="en-US" sz="3200" b="1" dirty="0"/>
              <a:t>Outcomes:</a:t>
            </a:r>
            <a:endParaRPr lang="en-IN" sz="3200" b="1" dirty="0"/>
          </a:p>
          <a:p>
            <a:pPr marL="0" indent="0" algn="just">
              <a:buNone/>
            </a:pPr>
            <a:r>
              <a:rPr lang="en-US" sz="1800" dirty="0"/>
              <a:t>On completion of the course, learners should be able </a:t>
            </a:r>
            <a:r>
              <a:rPr lang="en-US" sz="1800" dirty="0" smtClean="0"/>
              <a:t>to-</a:t>
            </a:r>
            <a:endParaRPr lang="en-IN" sz="1800" dirty="0"/>
          </a:p>
          <a:p>
            <a:pPr marL="0" indent="0" algn="just">
              <a:buNone/>
            </a:pPr>
            <a:r>
              <a:rPr lang="en-US" sz="1800" b="1" dirty="0"/>
              <a:t>CO1: </a:t>
            </a:r>
            <a:r>
              <a:rPr lang="en-US" sz="1800" dirty="0"/>
              <a:t>Analyze and synthesize basic System Software and its functionality.</a:t>
            </a:r>
            <a:endParaRPr lang="en-IN" sz="1800" dirty="0"/>
          </a:p>
          <a:p>
            <a:pPr marL="0" indent="0" algn="just">
              <a:buNone/>
            </a:pPr>
            <a:r>
              <a:rPr lang="en-US" sz="1800" b="1" dirty="0"/>
              <a:t>CO2: </a:t>
            </a:r>
            <a:r>
              <a:rPr lang="en-US" sz="1800" dirty="0"/>
              <a:t>Identify suitable data structures and Design &amp; Implement various System Software </a:t>
            </a:r>
            <a:endParaRPr lang="en-US" sz="1800" dirty="0" smtClean="0"/>
          </a:p>
          <a:p>
            <a:pPr marL="0" indent="0" algn="just">
              <a:buNone/>
            </a:pPr>
            <a:r>
              <a:rPr lang="en-US" sz="1800" b="1" dirty="0" smtClean="0"/>
              <a:t>CO3</a:t>
            </a:r>
            <a:r>
              <a:rPr lang="en-US" sz="1800" b="1" dirty="0"/>
              <a:t>: </a:t>
            </a:r>
            <a:r>
              <a:rPr lang="en-US" sz="1800" dirty="0"/>
              <a:t>Compare different loading schemes and analyze the performance of linker and loader </a:t>
            </a:r>
            <a:endParaRPr lang="en-US" sz="1800" dirty="0" smtClean="0"/>
          </a:p>
          <a:p>
            <a:pPr marL="0" indent="0" algn="just">
              <a:buNone/>
            </a:pPr>
            <a:r>
              <a:rPr lang="en-US" sz="1800" b="1" dirty="0" smtClean="0"/>
              <a:t>CO4</a:t>
            </a:r>
            <a:r>
              <a:rPr lang="en-US" sz="1800" b="1" dirty="0"/>
              <a:t>: </a:t>
            </a:r>
            <a:r>
              <a:rPr lang="en-US" sz="1800" dirty="0"/>
              <a:t>Implement and Analyze the performance of process scheduling algorithms</a:t>
            </a:r>
            <a:endParaRPr lang="en-IN" sz="1800" dirty="0"/>
          </a:p>
          <a:p>
            <a:pPr marL="0" indent="0" algn="just">
              <a:buNone/>
            </a:pPr>
            <a:r>
              <a:rPr lang="en-US" sz="1800" b="1" dirty="0"/>
              <a:t>CO5: </a:t>
            </a:r>
            <a:r>
              <a:rPr lang="en-US" sz="1800" dirty="0"/>
              <a:t>Identify the mechanism to deal with deadlock and concurrency issues</a:t>
            </a:r>
            <a:endParaRPr lang="en-IN" sz="1800" dirty="0"/>
          </a:p>
          <a:p>
            <a:pPr marL="0" indent="0" algn="just">
              <a:buNone/>
            </a:pPr>
            <a:r>
              <a:rPr lang="en-US" sz="1800" b="1" dirty="0"/>
              <a:t>CO6: </a:t>
            </a:r>
            <a:r>
              <a:rPr lang="en-US" sz="1800" dirty="0"/>
              <a:t>Demonstrate memory organization and memory management policies</a:t>
            </a:r>
            <a:endParaRPr lang="en-IN" sz="1800" dirty="0"/>
          </a:p>
          <a:p>
            <a:pPr lvl="0" algn="just"/>
            <a:endParaRPr lang="en-IN" sz="1800" dirty="0"/>
          </a:p>
          <a:p>
            <a:pPr marL="0" indent="0" algn="just">
              <a:buNone/>
            </a:pPr>
            <a:endParaRPr lang="en-IN" sz="1800" dirty="0"/>
          </a:p>
        </p:txBody>
      </p:sp>
      <p:sp>
        <p:nvSpPr>
          <p:cNvPr id="4" name="Rectangle 3"/>
          <p:cNvSpPr/>
          <p:nvPr/>
        </p:nvSpPr>
        <p:spPr>
          <a:xfrm>
            <a:off x="641020" y="469793"/>
            <a:ext cx="8145888" cy="107721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FF0066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310243: Systems Programming and Operating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C365D-E3C2-43B1-8F3D-93D3C51F093C}" type="datetime1">
              <a:rPr lang="en-US" smtClean="0"/>
              <a:t>9/27/2021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0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9476" y="967673"/>
            <a:ext cx="7987701" cy="1697086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>
            <a:noAutofit/>
          </a:bodyPr>
          <a:lstStyle/>
          <a:p>
            <a:pPr algn="ctr"/>
            <a:r>
              <a:rPr lang="en-IN" sz="4800" dirty="0" smtClean="0">
                <a:solidFill>
                  <a:srgbClr val="C00000"/>
                </a:solidFill>
                <a:latin typeface="+mn-lt"/>
              </a:rPr>
              <a:t>Macro Processor and Compiler</a:t>
            </a:r>
            <a:br>
              <a:rPr lang="en-IN" sz="4800" dirty="0" smtClean="0">
                <a:solidFill>
                  <a:srgbClr val="C00000"/>
                </a:solidFill>
                <a:latin typeface="+mn-lt"/>
              </a:rPr>
            </a:br>
            <a:r>
              <a:rPr lang="en-IN" sz="4800" dirty="0" smtClean="0">
                <a:solidFill>
                  <a:srgbClr val="C00000"/>
                </a:solidFill>
                <a:latin typeface="+mn-lt"/>
              </a:rPr>
              <a:t>      </a:t>
            </a:r>
            <a:endParaRPr lang="en-IN" sz="48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9634" y="3342361"/>
            <a:ext cx="7704366" cy="2038595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7030A0"/>
                </a:solidFill>
              </a:rPr>
              <a:t>UNIT-II                                            (06 hrs.)</a:t>
            </a:r>
            <a:r>
              <a:rPr lang="en-IN" sz="2800" dirty="0">
                <a:solidFill>
                  <a:srgbClr val="7030A0"/>
                </a:solidFill>
              </a:rPr>
              <a:t>    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600B-5305-41A8-B3C8-FC4D73034C7D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8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601" y="469802"/>
            <a:ext cx="7885303" cy="960668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anchor="ctr">
            <a:normAutofit/>
          </a:bodyPr>
          <a:lstStyle/>
          <a:p>
            <a:pPr algn="ctr"/>
            <a:r>
              <a:rPr lang="en-IN" sz="6000" b="1" dirty="0" smtClean="0"/>
              <a:t>Syllabus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601" y="1910227"/>
            <a:ext cx="7885303" cy="438139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dirty="0"/>
              <a:t>Introduction, </a:t>
            </a:r>
            <a:r>
              <a:rPr lang="en-US" sz="2400" b="1" dirty="0"/>
              <a:t>Features of a Macro facility</a:t>
            </a:r>
            <a:r>
              <a:rPr lang="en-US" sz="2400" dirty="0"/>
              <a:t>: Macro instruction arguments, Conditional Macro expansion, Macro calls within Macros, Macro </a:t>
            </a:r>
            <a:r>
              <a:rPr lang="en-US" sz="2400" dirty="0" smtClean="0"/>
              <a:t>instructions </a:t>
            </a:r>
            <a:r>
              <a:rPr lang="en-US" sz="2400" dirty="0"/>
              <a:t>d</a:t>
            </a:r>
            <a:r>
              <a:rPr lang="en-US" sz="2400" dirty="0" smtClean="0"/>
              <a:t>efining </a:t>
            </a:r>
            <a:r>
              <a:rPr lang="en-US" sz="2400" dirty="0"/>
              <a:t>Macro, Design of two pass Macro processor, Concept of single pass Macro </a:t>
            </a:r>
            <a:r>
              <a:rPr lang="en-US" sz="2400" dirty="0" smtClean="0"/>
              <a:t>processor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Introduction to Compilers</a:t>
            </a:r>
            <a:r>
              <a:rPr lang="en-US" sz="2400" dirty="0" smtClean="0"/>
              <a:t>: </a:t>
            </a:r>
            <a:r>
              <a:rPr lang="en-US" sz="2400" dirty="0"/>
              <a:t>Phases of Compiler with one example, Comparison of Compiler and </a:t>
            </a:r>
            <a:r>
              <a:rPr lang="en-US" sz="2400" dirty="0" smtClean="0"/>
              <a:t>Interpreter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#Exemplar/Case </a:t>
            </a:r>
            <a:r>
              <a:rPr lang="en-US" sz="2400" b="1" dirty="0" smtClean="0"/>
              <a:t>Studies: </a:t>
            </a:r>
            <a:r>
              <a:rPr lang="en-US" sz="2400" dirty="0" smtClean="0"/>
              <a:t>GNU </a:t>
            </a:r>
            <a:r>
              <a:rPr lang="en-US" sz="2400" dirty="0"/>
              <a:t>M4 Macro </a:t>
            </a:r>
            <a:r>
              <a:rPr lang="en-US" sz="2400" dirty="0" smtClean="0"/>
              <a:t>Processor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Mapping of Course Outcomes for Unit II</a:t>
            </a:r>
            <a:r>
              <a:rPr lang="en-US" sz="2400" b="1" dirty="0" smtClean="0"/>
              <a:t>: </a:t>
            </a:r>
            <a:r>
              <a:rPr lang="en-US" sz="2400" dirty="0" smtClean="0"/>
              <a:t>CO1</a:t>
            </a:r>
            <a:r>
              <a:rPr lang="en-US" sz="2400" dirty="0"/>
              <a:t>, CO2, CO3</a:t>
            </a: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EDACB-4020-4F56-B2A7-2145BE30B870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5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="" xmlns:a16="http://schemas.microsoft.com/office/drawing/2014/main" id="{66AFCC0F-26C6-4CC7-A248-DAEFD448B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altLang="zh-TW" sz="4400" b="1" dirty="0" smtClean="0"/>
              <a:t>Introduction to Macro Processor</a:t>
            </a:r>
            <a:endParaRPr lang="en-US" altLang="zh-TW" sz="4400" b="1" dirty="0"/>
          </a:p>
        </p:txBody>
      </p:sp>
      <p:sp>
        <p:nvSpPr>
          <p:cNvPr id="3075" name="Rectangle 3">
            <a:extLst>
              <a:ext uri="{FF2B5EF4-FFF2-40B4-BE49-F238E27FC236}">
                <a16:creationId xmlns="" xmlns:a16="http://schemas.microsoft.com/office/drawing/2014/main" id="{6C5B4D71-8401-4CDD-8A5E-D4DD3FF8F7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Macro instructions are considered as the extension of the basic assembler language.</a:t>
            </a:r>
          </a:p>
          <a:p>
            <a:pPr lvl="1"/>
            <a:r>
              <a:rPr lang="en-US" altLang="zh-TW" sz="2400" dirty="0" smtClean="0"/>
              <a:t>A </a:t>
            </a:r>
            <a:r>
              <a:rPr lang="en-US" altLang="zh-TW" sz="2400" dirty="0"/>
              <a:t>macro instruction is </a:t>
            </a:r>
            <a:r>
              <a:rPr lang="en-US" altLang="zh-TW" sz="2400" dirty="0" smtClean="0"/>
              <a:t>convenient </a:t>
            </a:r>
            <a:r>
              <a:rPr lang="en-US" altLang="zh-TW" sz="2400" dirty="0"/>
              <a:t>for the </a:t>
            </a:r>
            <a:r>
              <a:rPr lang="en-US" altLang="zh-TW" sz="2400" dirty="0" smtClean="0"/>
              <a:t>programmer in terms of  notation.</a:t>
            </a:r>
            <a:endParaRPr lang="en-US" altLang="zh-TW" sz="2400" dirty="0"/>
          </a:p>
          <a:p>
            <a:pPr lvl="1"/>
            <a:r>
              <a:rPr lang="en-US" altLang="zh-TW" sz="2400" dirty="0"/>
              <a:t>A macro is </a:t>
            </a:r>
            <a:r>
              <a:rPr lang="en-US" altLang="zh-TW" sz="2400" dirty="0" smtClean="0"/>
              <a:t>a single-line </a:t>
            </a:r>
            <a:r>
              <a:rPr lang="en-US" altLang="zh-TW" sz="2400" dirty="0"/>
              <a:t>abbreviation used for a group of instructions.</a:t>
            </a:r>
          </a:p>
          <a:p>
            <a:pPr lvl="1"/>
            <a:r>
              <a:rPr lang="en-US" altLang="zh-TW" sz="2400" dirty="0"/>
              <a:t>It allows the programmer to write shorthand version of a program (</a:t>
            </a:r>
            <a:r>
              <a:rPr lang="en-US" altLang="zh-TW" sz="2400" i="1" u="sng" dirty="0"/>
              <a:t>module programming</a:t>
            </a:r>
            <a:r>
              <a:rPr lang="en-US" altLang="zh-TW" sz="2400" dirty="0"/>
              <a:t>)</a:t>
            </a:r>
          </a:p>
          <a:p>
            <a:pPr lvl="1"/>
            <a:r>
              <a:rPr lang="en-US" altLang="zh-TW" sz="2400" dirty="0"/>
              <a:t>The macro processor replaces each macro </a:t>
            </a:r>
            <a:r>
              <a:rPr lang="en-US" altLang="zh-TW" sz="2400" dirty="0" smtClean="0"/>
              <a:t>call </a:t>
            </a:r>
            <a:r>
              <a:rPr lang="en-US" altLang="zh-TW" sz="2400" dirty="0"/>
              <a:t>with the corresponding sequence of statements (</a:t>
            </a:r>
            <a:r>
              <a:rPr lang="en-US" altLang="zh-TW" sz="2400" i="1" u="sng" dirty="0"/>
              <a:t>expanding</a:t>
            </a:r>
            <a:r>
              <a:rPr lang="en-US" altLang="zh-TW" sz="2400" dirty="0"/>
              <a:t>)</a:t>
            </a:r>
          </a:p>
          <a:p>
            <a:pPr lvl="1"/>
            <a:endParaRPr lang="en-US" altLang="zh-TW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6965E-77E9-45CB-9844-90820723CD66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1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 bldLvl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1" dirty="0"/>
              <a:t>Macro 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Working of Macro Processor</a:t>
            </a:r>
          </a:p>
          <a:p>
            <a:pPr marL="457200" indent="-287338">
              <a:buFont typeface="+mj-lt"/>
              <a:buAutoNum type="arabicPeriod"/>
            </a:pPr>
            <a:r>
              <a:rPr lang="en-US" dirty="0" smtClean="0"/>
              <a:t>Recognizes </a:t>
            </a:r>
            <a:r>
              <a:rPr lang="en-US" dirty="0"/>
              <a:t>macro definitions</a:t>
            </a:r>
          </a:p>
          <a:p>
            <a:pPr marL="457200" indent="-287338">
              <a:buFont typeface="+mj-lt"/>
              <a:buAutoNum type="arabicPeriod"/>
            </a:pPr>
            <a:r>
              <a:rPr lang="en-US" dirty="0" smtClean="0"/>
              <a:t>Saves </a:t>
            </a:r>
            <a:r>
              <a:rPr lang="en-US" dirty="0"/>
              <a:t>the macro definition</a:t>
            </a:r>
          </a:p>
          <a:p>
            <a:pPr marL="457200" indent="-287338">
              <a:buFont typeface="+mj-lt"/>
              <a:buAutoNum type="arabicPeriod"/>
            </a:pPr>
            <a:r>
              <a:rPr lang="en-US" dirty="0" smtClean="0"/>
              <a:t>Recognizes </a:t>
            </a:r>
            <a:r>
              <a:rPr lang="en-US" dirty="0"/>
              <a:t>macro calls</a:t>
            </a:r>
          </a:p>
          <a:p>
            <a:pPr marL="457200" indent="-287338">
              <a:buFont typeface="+mj-lt"/>
              <a:buAutoNum type="arabicPeriod"/>
            </a:pPr>
            <a:r>
              <a:rPr lang="en-US" dirty="0" smtClean="0"/>
              <a:t>Expands </a:t>
            </a:r>
            <a:r>
              <a:rPr lang="en-US" dirty="0"/>
              <a:t>macro calls</a:t>
            </a:r>
          </a:p>
          <a:p>
            <a:endParaRPr 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85800" y="4724400"/>
            <a:ext cx="1371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000">
                <a:solidFill>
                  <a:srgbClr val="000000"/>
                </a:solidFill>
                <a:latin typeface="Times New Roman" panose="02020603050405020304" pitchFamily="18" charset="0"/>
              </a:rPr>
              <a:t>Source Code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1600">
                <a:solidFill>
                  <a:srgbClr val="000000"/>
                </a:solidFill>
                <a:latin typeface="Times New Roman" panose="02020603050405020304" pitchFamily="18" charset="0"/>
              </a:rPr>
              <a:t>(with macro)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667000" y="4876800"/>
            <a:ext cx="1524000" cy="7143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Macro Processor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762000" y="4724400"/>
            <a:ext cx="1295400" cy="1143000"/>
          </a:xfrm>
          <a:prstGeom prst="flowChartDocumen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724400" y="4876800"/>
            <a:ext cx="1219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000">
                <a:solidFill>
                  <a:srgbClr val="000000"/>
                </a:solidFill>
                <a:latin typeface="Times New Roman" panose="02020603050405020304" pitchFamily="18" charset="0"/>
              </a:rPr>
              <a:t>Expanded Code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4724400" y="4876800"/>
            <a:ext cx="1219200" cy="762000"/>
          </a:xfrm>
          <a:prstGeom prst="flowChartDocumen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324600" y="4876800"/>
            <a:ext cx="1524000" cy="7143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Compiler or Assembler</a:t>
            </a:r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2057400" y="5181600"/>
            <a:ext cx="6096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4191000" y="5181600"/>
            <a:ext cx="533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5943600" y="5181600"/>
            <a:ext cx="3810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7848600" y="5181600"/>
            <a:ext cx="304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24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8213725" y="4918075"/>
            <a:ext cx="573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TW" sz="2400">
                <a:solidFill>
                  <a:srgbClr val="000000"/>
                </a:solidFill>
                <a:latin typeface="Times New Roman" panose="02020603050405020304" pitchFamily="18" charset="0"/>
              </a:rPr>
              <a:t>obj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A545-3C43-425B-ADD0-12CB4195FEB5}" type="datetime1">
              <a:rPr lang="en-US" smtClean="0"/>
              <a:t>9/27/2021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2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/>
              <a:t>Macro </a:t>
            </a:r>
            <a:r>
              <a:rPr lang="en-US" b="1" dirty="0" smtClean="0"/>
              <a:t>Definition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911608" cy="4023360"/>
          </a:xfrm>
        </p:spPr>
        <p:txBody>
          <a:bodyPr/>
          <a:lstStyle/>
          <a:p>
            <a:r>
              <a:rPr lang="en-US" dirty="0" smtClean="0">
                <a:solidFill>
                  <a:srgbClr val="7030A0"/>
                </a:solidFill>
              </a:rPr>
              <a:t>MACRO    </a:t>
            </a:r>
            <a:r>
              <a:rPr lang="en-US" dirty="0" smtClean="0"/>
              <a:t>                                   Start of Definition      </a:t>
            </a:r>
          </a:p>
          <a:p>
            <a:r>
              <a:rPr lang="en-US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&lt;Macro Name&gt;  &lt;List of Parameters [p1, p2, …</a:t>
            </a:r>
            <a:r>
              <a:rPr lang="en-US" altLang="en-US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pn</a:t>
            </a:r>
            <a:r>
              <a:rPr lang="en-US" altLang="en-US" dirty="0">
                <a:solidFill>
                  <a:srgbClr val="7030A0"/>
                </a:solidFill>
                <a:latin typeface="Times New Roman" panose="02020603050405020304" pitchFamily="18" charset="0"/>
              </a:rPr>
              <a:t>]&gt;</a:t>
            </a:r>
          </a:p>
          <a:p>
            <a:r>
              <a:rPr lang="en-US" dirty="0" smtClean="0"/>
              <a:t>                                    		Macro Name (with label or argument(s) 						which is optional)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-------------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-------------</a:t>
            </a:r>
            <a:r>
              <a:rPr lang="en-US" dirty="0" smtClean="0"/>
              <a:t>                                    Sequence to be abbreviated</a:t>
            </a:r>
            <a:endParaRPr lang="en-US" dirty="0"/>
          </a:p>
          <a:p>
            <a:r>
              <a:rPr lang="en-US" dirty="0">
                <a:solidFill>
                  <a:srgbClr val="7030A0"/>
                </a:solidFill>
              </a:rPr>
              <a:t>-------------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MEND</a:t>
            </a:r>
            <a:r>
              <a:rPr lang="en-US" dirty="0" smtClean="0"/>
              <a:t>                                           End of Definition</a:t>
            </a: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142067" y="2032000"/>
            <a:ext cx="1498600" cy="8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6456412" y="2475552"/>
            <a:ext cx="1498599" cy="8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ight Brace 8"/>
          <p:cNvSpPr/>
          <p:nvPr/>
        </p:nvSpPr>
        <p:spPr>
          <a:xfrm>
            <a:off x="2142067" y="3561563"/>
            <a:ext cx="220134" cy="1066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362201" y="4080327"/>
            <a:ext cx="1498599" cy="8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837539" y="4978943"/>
            <a:ext cx="18542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87B07-8919-47A6-88B8-0A2C4AFB0707}" type="datetime1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2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="" xmlns:a16="http://schemas.microsoft.com/office/drawing/2014/main" id="{AB05C8B5-3C87-459C-927E-E4E8241CD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b="1" dirty="0"/>
              <a:t>Macro Definition (cont..)</a:t>
            </a:r>
            <a:endParaRPr lang="en-US" altLang="en-US" b="1" dirty="0"/>
          </a:p>
        </p:txBody>
      </p:sp>
      <p:sp>
        <p:nvSpPr>
          <p:cNvPr id="6147" name="Rectangle 3">
            <a:extLst>
              <a:ext uri="{FF2B5EF4-FFF2-40B4-BE49-F238E27FC236}">
                <a16:creationId xmlns="" xmlns:a16="http://schemas.microsoft.com/office/drawing/2014/main" id="{C131BB7F-0007-4C58-AB4D-7880F6913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b="1" dirty="0" smtClean="0"/>
              <a:t>Example:</a:t>
            </a:r>
            <a:endParaRPr lang="en-US" altLang="en-US" b="1" dirty="0">
              <a:sym typeface="Wingdings" panose="05000000000000000000" pitchFamily="2" charset="2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MACRO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ADDS	&amp;arg1</a:t>
            </a:r>
            <a:r>
              <a:rPr lang="en-US" altLang="en-US" dirty="0" smtClean="0"/>
              <a:t>, &amp;</a:t>
            </a:r>
            <a:r>
              <a:rPr lang="en-US" altLang="en-US" dirty="0"/>
              <a:t>arg2</a:t>
            </a:r>
            <a:r>
              <a:rPr lang="en-US" altLang="en-US" dirty="0" smtClean="0"/>
              <a:t>, &amp;</a:t>
            </a:r>
            <a:r>
              <a:rPr lang="en-US" altLang="en-US" dirty="0"/>
              <a:t>arg3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L	1, &amp;arg1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A	1, &amp;arg2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ST </a:t>
            </a:r>
            <a:r>
              <a:rPr lang="en-US" altLang="en-US" dirty="0" smtClean="0"/>
              <a:t>	1, &amp;</a:t>
            </a:r>
            <a:r>
              <a:rPr lang="en-US" altLang="en-US" dirty="0"/>
              <a:t>arg3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MEND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87AB-30F9-4391-AF1F-1951B3C38510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6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="" xmlns:a16="http://schemas.microsoft.com/office/drawing/2014/main" id="{57BF4BDC-EE5E-4E8A-8AB0-86850191B0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b="1"/>
              <a:t>Macro Call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="" xmlns:a16="http://schemas.microsoft.com/office/drawing/2014/main" id="{068989FF-2469-40E3-92DD-A278DBE81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57400"/>
            <a:ext cx="8458200" cy="41148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/>
              <a:t>&lt;Macro Name&gt;  &lt;List of Actual parameters[ a1, a2, …an]&gt;</a:t>
            </a:r>
          </a:p>
          <a:p>
            <a:pPr>
              <a:buFont typeface="Monotype Sorts" pitchFamily="2" charset="2"/>
              <a:buNone/>
            </a:pPr>
            <a:endParaRPr lang="en-US" altLang="en-US"/>
          </a:p>
          <a:p>
            <a:pPr>
              <a:buFont typeface="Monotype Sorts" pitchFamily="2" charset="2"/>
              <a:buNone/>
            </a:pPr>
            <a:r>
              <a:rPr lang="en-US" altLang="en-US"/>
              <a:t>For Ex.</a:t>
            </a:r>
            <a:r>
              <a:rPr lang="en-US" altLang="en-US">
                <a:sym typeface="Wingdings" panose="05000000000000000000" pitchFamily="2" charset="2"/>
              </a:rPr>
              <a:t> </a:t>
            </a:r>
          </a:p>
          <a:p>
            <a:pPr>
              <a:buFont typeface="Monotype Sorts" pitchFamily="2" charset="2"/>
              <a:buNone/>
            </a:pPr>
            <a:endParaRPr lang="en-US" altLang="en-US">
              <a:sym typeface="Wingdings" panose="05000000000000000000" pitchFamily="2" charset="2"/>
            </a:endParaRPr>
          </a:p>
          <a:p>
            <a:pPr>
              <a:buFont typeface="Monotype Sorts" pitchFamily="2" charset="2"/>
              <a:buNone/>
            </a:pPr>
            <a:r>
              <a:rPr lang="en-US" altLang="en-US">
                <a:sym typeface="Wingdings" panose="05000000000000000000" pitchFamily="2" charset="2"/>
              </a:rPr>
              <a:t> ADDS DATA1, DATA2, DATA3</a:t>
            </a:r>
          </a:p>
          <a:p>
            <a:pPr>
              <a:buFont typeface="Monotype Sorts" pitchFamily="2" charset="2"/>
              <a:buNone/>
            </a:pPr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27E0-320E-48CD-AAB6-1748F41638C4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9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="" xmlns:a16="http://schemas.microsoft.com/office/drawing/2014/main" id="{549C36F8-CB62-44A7-93CE-1C3ED671C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4"/>
            <a:ext cx="7543800" cy="1228297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b="1" dirty="0"/>
              <a:t>Macro Expansion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="" xmlns:a16="http://schemas.microsoft.com/office/drawing/2014/main" id="{8CD09422-BFA6-4C1C-8E9B-8395B4FBA2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752600"/>
            <a:ext cx="4038600" cy="47244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b="1" dirty="0" smtClean="0"/>
              <a:t>//</a:t>
            </a:r>
            <a:r>
              <a:rPr lang="en-US" altLang="en-US" sz="1800" b="1" dirty="0"/>
              <a:t>Source Code with Macro definition &amp; </a:t>
            </a:r>
            <a:r>
              <a:rPr lang="en-US" altLang="en-US" sz="1800" b="1" dirty="0" smtClean="0"/>
              <a:t>macro call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 smtClean="0">
                <a:solidFill>
                  <a:srgbClr val="7030A0"/>
                </a:solidFill>
              </a:rPr>
              <a:t>MACRO</a:t>
            </a:r>
            <a:endParaRPr lang="en-US" altLang="en-US" sz="1800" dirty="0">
              <a:solidFill>
                <a:srgbClr val="7030A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>
                <a:solidFill>
                  <a:srgbClr val="7030A0"/>
                </a:solidFill>
              </a:rPr>
              <a:t>ADDS	&amp;arg1,&amp;arg2,&amp;arg3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>
                <a:solidFill>
                  <a:srgbClr val="7030A0"/>
                </a:solidFill>
              </a:rPr>
              <a:t>L		1, &amp;arg1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>
                <a:solidFill>
                  <a:srgbClr val="7030A0"/>
                </a:solidFill>
              </a:rPr>
              <a:t>A		1, &amp;arg2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>
                <a:solidFill>
                  <a:srgbClr val="7030A0"/>
                </a:solidFill>
              </a:rPr>
              <a:t>ST 		1</a:t>
            </a:r>
            <a:r>
              <a:rPr lang="en-US" altLang="en-US" sz="1800" dirty="0" smtClean="0">
                <a:solidFill>
                  <a:srgbClr val="7030A0"/>
                </a:solidFill>
              </a:rPr>
              <a:t>, &amp;</a:t>
            </a:r>
            <a:r>
              <a:rPr lang="en-US" altLang="en-US" sz="1800" dirty="0">
                <a:solidFill>
                  <a:srgbClr val="7030A0"/>
                </a:solidFill>
              </a:rPr>
              <a:t>arg3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>
                <a:solidFill>
                  <a:srgbClr val="7030A0"/>
                </a:solidFill>
              </a:rPr>
              <a:t>MEND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/>
              <a:t>PROG	START	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/>
              <a:t>		BALR	15,0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/>
              <a:t>		USING	*,15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/>
              <a:t>		ADDS	DATA1, DATA2, DATA3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/>
              <a:t>		SR	4,4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/>
              <a:t>DATA1	DC	F’3’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/>
              <a:t>DATA2	DC	F’4’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/>
              <a:t>DATA3	DS	1F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800" dirty="0"/>
              <a:t>		END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="" xmlns:a16="http://schemas.microsoft.com/office/drawing/2014/main" id="{F4E9506C-4BBA-4D15-9B7D-5824FC6E6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981200"/>
            <a:ext cx="40386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kumimoji="0" lang="en-US" altLang="en-US" sz="1600" b="1" dirty="0"/>
              <a:t>// Processed code after macro Expansion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600" dirty="0"/>
              <a:t>PROG	START	0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600" dirty="0"/>
              <a:t>		BALR	15,0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600" dirty="0"/>
              <a:t>		USING	*,15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600" dirty="0"/>
              <a:t>		L	1, DATA1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600" dirty="0"/>
              <a:t>		A	1, DATA2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600" dirty="0"/>
              <a:t>		ST	1,DATA3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600" dirty="0"/>
              <a:t>		SR	4,4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600" dirty="0"/>
              <a:t>DATA1	DC	F’3’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600" dirty="0"/>
              <a:t>DATA2	DC	F’4’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600" dirty="0"/>
              <a:t>DATA3	DS	1F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600" dirty="0"/>
              <a:t>		END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C83F092F-1D09-4DC5-9960-46A4DC8A5AAE}"/>
              </a:ext>
            </a:extLst>
          </p:cNvPr>
          <p:cNvGrpSpPr>
            <a:grpSpLocks/>
          </p:cNvGrpSpPr>
          <p:nvPr/>
        </p:nvGrpSpPr>
        <p:grpSpPr bwMode="auto">
          <a:xfrm>
            <a:off x="7528560" y="3413125"/>
            <a:ext cx="1676400" cy="701675"/>
            <a:chOff x="7467600" y="3108325"/>
            <a:chExt cx="1676400" cy="701675"/>
          </a:xfrm>
        </p:grpSpPr>
        <p:sp>
          <p:nvSpPr>
            <p:cNvPr id="8198" name="AutoShape 5">
              <a:extLst>
                <a:ext uri="{FF2B5EF4-FFF2-40B4-BE49-F238E27FC236}">
                  <a16:creationId xmlns="" xmlns:a16="http://schemas.microsoft.com/office/drawing/2014/main" id="{E6F3E8E4-903C-41B7-8450-D594A9D59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600" y="3124200"/>
              <a:ext cx="152400" cy="685800"/>
            </a:xfrm>
            <a:prstGeom prst="rightBrace">
              <a:avLst>
                <a:gd name="adj1" fmla="val 37500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8199" name="Text Box 6">
              <a:extLst>
                <a:ext uri="{FF2B5EF4-FFF2-40B4-BE49-F238E27FC236}">
                  <a16:creationId xmlns="" xmlns:a16="http://schemas.microsoft.com/office/drawing/2014/main" id="{14BEDE62-6999-46DC-B00F-18164E75F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08325"/>
              <a:ext cx="1371600" cy="701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Macro Expansion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AAE4B-5AAD-44E9-96A5-4AFA3AC14F49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4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" dur="500" fill="hold"/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400D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400D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48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fill="hold"/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400D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400D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8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6" dur="500" fill="hold"/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400D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400D4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48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="" xmlns:a16="http://schemas.microsoft.com/office/drawing/2014/main" id="{F590C8C2-E894-4290-AB3B-E615EE34CE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95468"/>
            <a:ext cx="7543800" cy="1103155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b="1"/>
              <a:t>Macro Expansion (cont..)</a:t>
            </a:r>
          </a:p>
        </p:txBody>
      </p:sp>
      <p:sp>
        <p:nvSpPr>
          <p:cNvPr id="49156" name="Rectangle 4">
            <a:extLst>
              <a:ext uri="{FF2B5EF4-FFF2-40B4-BE49-F238E27FC236}">
                <a16:creationId xmlns="" xmlns:a16="http://schemas.microsoft.com/office/drawing/2014/main" id="{A21ADF0A-E621-4406-A5C2-CE3AACC34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39850"/>
            <a:ext cx="4038600" cy="4724400"/>
          </a:xfrm>
          <a:noFill/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b="1" dirty="0" smtClean="0"/>
              <a:t>Source program </a:t>
            </a:r>
            <a:r>
              <a:rPr lang="en-US" altLang="en-US" sz="1400" b="1" dirty="0"/>
              <a:t>with Macro </a:t>
            </a:r>
            <a:r>
              <a:rPr lang="en-US" altLang="en-US" sz="1400" b="1" dirty="0" smtClean="0"/>
              <a:t>Definition </a:t>
            </a:r>
            <a:r>
              <a:rPr lang="en-US" altLang="en-US" sz="1400" b="1" dirty="0"/>
              <a:t>&amp; </a:t>
            </a:r>
            <a:r>
              <a:rPr lang="en-US" altLang="en-US" sz="1400" b="1" dirty="0" smtClean="0"/>
              <a:t>Macro call</a:t>
            </a:r>
            <a:endParaRPr lang="en-US" altLang="en-US" sz="14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MACRO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ADDS	&amp;arg1,&amp;arg2,&amp;arg3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L		1, &amp;arg1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A		1, &amp;arg2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ST 		1</a:t>
            </a:r>
            <a:r>
              <a:rPr lang="en-US" altLang="en-US" sz="1400" dirty="0" smtClean="0">
                <a:solidFill>
                  <a:srgbClr val="7030A0"/>
                </a:solidFill>
              </a:rPr>
              <a:t>, &amp;</a:t>
            </a:r>
            <a:r>
              <a:rPr lang="en-US" altLang="en-US" sz="1400" dirty="0">
                <a:solidFill>
                  <a:srgbClr val="7030A0"/>
                </a:solidFill>
              </a:rPr>
              <a:t>arg3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MEND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/>
              <a:t>PROG	START	0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/>
              <a:t>		BALR	15,0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/>
              <a:t>		USING	*,15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/>
              <a:t>		</a:t>
            </a:r>
            <a:r>
              <a:rPr lang="en-US" altLang="en-US" sz="1400" dirty="0" smtClean="0">
                <a:solidFill>
                  <a:srgbClr val="FF0066"/>
                </a:solidFill>
              </a:rPr>
              <a:t>ADDS	DATA1, DATA2, DATA3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 smtClean="0"/>
              <a:t>		SR	4,4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/>
              <a:t>		</a:t>
            </a:r>
            <a:r>
              <a:rPr lang="en-US" altLang="en-US" sz="1400" dirty="0">
                <a:solidFill>
                  <a:srgbClr val="FF0066"/>
                </a:solidFill>
              </a:rPr>
              <a:t>ADDS	D4, D5, D6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/>
              <a:t>DATA1	DC	F’3’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/>
              <a:t>DATA2	DC	F’4’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/>
              <a:t>DATA3	DS	1F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/>
              <a:t>D4	</a:t>
            </a:r>
            <a:r>
              <a:rPr lang="en-US" altLang="en-US" sz="1400" dirty="0" smtClean="0"/>
              <a:t>DC</a:t>
            </a:r>
            <a:r>
              <a:rPr lang="en-US" altLang="en-US" sz="1400" dirty="0"/>
              <a:t>	F’1’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/>
              <a:t>D5	</a:t>
            </a:r>
            <a:r>
              <a:rPr lang="en-US" altLang="en-US" sz="1400" dirty="0" smtClean="0"/>
              <a:t>DC</a:t>
            </a:r>
            <a:r>
              <a:rPr lang="en-US" altLang="en-US" sz="1400" dirty="0"/>
              <a:t>	F’2’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/>
              <a:t>D6	</a:t>
            </a:r>
            <a:r>
              <a:rPr lang="en-US" altLang="en-US" sz="1400" dirty="0" smtClean="0"/>
              <a:t>DS</a:t>
            </a:r>
            <a:r>
              <a:rPr lang="en-US" altLang="en-US" sz="1400" dirty="0"/>
              <a:t>	1F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/>
              <a:t>		END</a:t>
            </a:r>
          </a:p>
        </p:txBody>
      </p:sp>
      <p:sp>
        <p:nvSpPr>
          <p:cNvPr id="49157" name="Rectangle 5">
            <a:extLst>
              <a:ext uri="{FF2B5EF4-FFF2-40B4-BE49-F238E27FC236}">
                <a16:creationId xmlns="" xmlns:a16="http://schemas.microsoft.com/office/drawing/2014/main" id="{51E08D25-E70E-4CD3-B425-0BF5F2EF6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752600"/>
            <a:ext cx="41910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400" b="1" dirty="0" smtClean="0"/>
              <a:t>Source program</a:t>
            </a:r>
            <a:r>
              <a:rPr kumimoji="0" lang="en-US" altLang="en-US" sz="1400" b="1" dirty="0" smtClean="0"/>
              <a:t> </a:t>
            </a:r>
            <a:r>
              <a:rPr kumimoji="0" lang="en-US" altLang="en-US" sz="1400" b="1" dirty="0"/>
              <a:t>after macro </a:t>
            </a:r>
            <a:r>
              <a:rPr kumimoji="0" lang="en-US" altLang="en-US" sz="1400" b="1" dirty="0" smtClean="0"/>
              <a:t>expansion</a:t>
            </a:r>
            <a:endParaRPr kumimoji="0" lang="en-US" altLang="en-US" sz="1400" b="1" dirty="0"/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PROG	START	0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		BALR	15,0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		USING	*,15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		</a:t>
            </a:r>
            <a:r>
              <a:rPr kumimoji="0" lang="en-US" altLang="en-US" sz="1400" dirty="0">
                <a:solidFill>
                  <a:srgbClr val="FF0066"/>
                </a:solidFill>
              </a:rPr>
              <a:t>L	1, DATA1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>
                <a:solidFill>
                  <a:srgbClr val="FF0066"/>
                </a:solidFill>
              </a:rPr>
              <a:t>		A	1, DATA2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>
                <a:solidFill>
                  <a:srgbClr val="FF0066"/>
                </a:solidFill>
              </a:rPr>
              <a:t>		ST	1</a:t>
            </a:r>
            <a:r>
              <a:rPr kumimoji="0" lang="en-US" altLang="en-US" sz="1400" dirty="0" smtClean="0">
                <a:solidFill>
                  <a:srgbClr val="FF0066"/>
                </a:solidFill>
              </a:rPr>
              <a:t>, DATA3</a:t>
            </a:r>
            <a:endParaRPr kumimoji="0" lang="en-US" altLang="en-US" sz="1400" dirty="0">
              <a:solidFill>
                <a:srgbClr val="FF0066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		SR	4</a:t>
            </a:r>
            <a:r>
              <a:rPr kumimoji="0" lang="en-US" altLang="en-US" sz="1400" dirty="0" smtClean="0"/>
              <a:t>, 4</a:t>
            </a:r>
            <a:endParaRPr kumimoji="0" lang="en-US" altLang="en-US" sz="1400" dirty="0"/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		</a:t>
            </a:r>
            <a:r>
              <a:rPr kumimoji="0" lang="en-US" altLang="en-US" sz="1400" dirty="0">
                <a:solidFill>
                  <a:srgbClr val="FF0066"/>
                </a:solidFill>
              </a:rPr>
              <a:t>L	1, D4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>
                <a:solidFill>
                  <a:srgbClr val="FF0066"/>
                </a:solidFill>
              </a:rPr>
              <a:t>		A	1, D5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>
                <a:solidFill>
                  <a:srgbClr val="FF0066"/>
                </a:solidFill>
              </a:rPr>
              <a:t>		ST	1</a:t>
            </a:r>
            <a:r>
              <a:rPr kumimoji="0" lang="en-US" altLang="en-US" sz="1400" dirty="0" smtClean="0">
                <a:solidFill>
                  <a:srgbClr val="FF0066"/>
                </a:solidFill>
              </a:rPr>
              <a:t>, D6</a:t>
            </a:r>
            <a:endParaRPr kumimoji="0" lang="en-US" altLang="en-US" sz="1400" dirty="0">
              <a:solidFill>
                <a:srgbClr val="FF0066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DATA1	DC	F’3’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DATA2	DC	F’4’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DATA3	DS	1F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D4		DC	F’1’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D5		DC	F’2’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D6		DS	1F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1400" dirty="0"/>
              <a:t>		END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8310E66E-68E3-4429-A920-7477623DEC7D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831082"/>
            <a:ext cx="1219200" cy="762000"/>
            <a:chOff x="7543800" y="3048000"/>
            <a:chExt cx="1219200" cy="762000"/>
          </a:xfrm>
        </p:grpSpPr>
        <p:sp>
          <p:nvSpPr>
            <p:cNvPr id="9225" name="AutoShape 6">
              <a:extLst>
                <a:ext uri="{FF2B5EF4-FFF2-40B4-BE49-F238E27FC236}">
                  <a16:creationId xmlns="" xmlns:a16="http://schemas.microsoft.com/office/drawing/2014/main" id="{B735E96F-DBDF-4E4E-A4CF-072A5C2D5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3800" y="3048000"/>
              <a:ext cx="152400" cy="762000"/>
            </a:xfrm>
            <a:prstGeom prst="rightBrace">
              <a:avLst>
                <a:gd name="adj1" fmla="val 4166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9226" name="Text Box 8">
              <a:extLst>
                <a:ext uri="{FF2B5EF4-FFF2-40B4-BE49-F238E27FC236}">
                  <a16:creationId xmlns="" xmlns:a16="http://schemas.microsoft.com/office/drawing/2014/main" id="{438EE3DF-2CBA-48AE-941E-73B8FA0761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600" y="3276600"/>
              <a:ext cx="9144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 dirty="0" smtClean="0">
                  <a:latin typeface="Times New Roman" panose="02020603050405020304" pitchFamily="18" charset="0"/>
                </a:rPr>
                <a:t>1</a:t>
              </a:r>
              <a:r>
                <a:rPr lang="en-US" altLang="en-US" sz="1400" b="1" baseline="30000" dirty="0" smtClean="0">
                  <a:latin typeface="Times New Roman" panose="02020603050405020304" pitchFamily="18" charset="0"/>
                </a:rPr>
                <a:t>st</a:t>
              </a:r>
              <a:r>
                <a:rPr lang="en-US" altLang="en-US" sz="1400" b="1" dirty="0" smtClean="0">
                  <a:latin typeface="Times New Roman" panose="02020603050405020304" pitchFamily="18" charset="0"/>
                </a:rPr>
                <a:t> Macro </a:t>
              </a:r>
              <a:r>
                <a:rPr lang="en-US" altLang="en-US" sz="1400" b="1" dirty="0">
                  <a:latin typeface="Times New Roman" panose="02020603050405020304" pitchFamily="18" charset="0"/>
                </a:rPr>
                <a:t>call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4AAF0CC1-439F-47E2-AD69-7EE41683C2CC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3853941"/>
            <a:ext cx="1295400" cy="685800"/>
            <a:chOff x="7543800" y="4114800"/>
            <a:chExt cx="1295400" cy="685800"/>
          </a:xfrm>
        </p:grpSpPr>
        <p:sp>
          <p:nvSpPr>
            <p:cNvPr id="9223" name="AutoShape 7">
              <a:extLst>
                <a:ext uri="{FF2B5EF4-FFF2-40B4-BE49-F238E27FC236}">
                  <a16:creationId xmlns="" xmlns:a16="http://schemas.microsoft.com/office/drawing/2014/main" id="{FD1C3200-2806-4AEB-8A0B-534323398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3800" y="4114800"/>
              <a:ext cx="152400" cy="685800"/>
            </a:xfrm>
            <a:prstGeom prst="rightBrace">
              <a:avLst>
                <a:gd name="adj1" fmla="val 37500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9224" name="Text Box 9">
              <a:extLst>
                <a:ext uri="{FF2B5EF4-FFF2-40B4-BE49-F238E27FC236}">
                  <a16:creationId xmlns="" xmlns:a16="http://schemas.microsoft.com/office/drawing/2014/main" id="{0DE8D40E-9B29-457B-A5C2-550536ADC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4206875"/>
              <a:ext cx="106680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l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 dirty="0" smtClean="0">
                  <a:latin typeface="Times New Roman" panose="02020603050405020304" pitchFamily="18" charset="0"/>
                </a:rPr>
                <a:t>2</a:t>
              </a:r>
              <a:r>
                <a:rPr lang="en-US" altLang="en-US" sz="1400" b="1" baseline="30000" dirty="0" smtClean="0">
                  <a:latin typeface="Times New Roman" panose="02020603050405020304" pitchFamily="18" charset="0"/>
                </a:rPr>
                <a:t>nd</a:t>
              </a:r>
              <a:r>
                <a:rPr lang="en-US" altLang="en-US" sz="1400" b="1" dirty="0" smtClean="0">
                  <a:latin typeface="Times New Roman" panose="02020603050405020304" pitchFamily="18" charset="0"/>
                </a:rPr>
                <a:t> Macro call</a:t>
              </a:r>
              <a:endParaRPr lang="en-US" altLang="en-US" sz="1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70678" y="1933019"/>
            <a:ext cx="3098041" cy="15285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MACRO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ADDS	&amp;arg1,&amp;arg2,&amp;arg3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L		1, &amp;arg1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A		1, &amp;arg2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ST 		1, &amp;arg3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MEND</a:t>
            </a:r>
          </a:p>
        </p:txBody>
      </p:sp>
    </p:spTree>
    <p:extLst>
      <p:ext uri="{BB962C8B-B14F-4D97-AF65-F5344CB8AC3E}">
        <p14:creationId xmlns:p14="http://schemas.microsoft.com/office/powerpoint/2010/main" val="250105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" dur="500" fill="hold"/>
                                        <p:tgtEl>
                                          <p:spTgt spid="491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91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91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2" dur="500" fill="hold"/>
                                        <p:tgtEl>
                                          <p:spTgt spid="49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49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9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0" dur="500" fill="hold"/>
                                        <p:tgtEl>
                                          <p:spTgt spid="49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49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49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8" dur="500" fill="hold"/>
                                        <p:tgtEl>
                                          <p:spTgt spid="49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49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49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2" dur="500" fill="hold"/>
                                        <p:tgtEl>
                                          <p:spTgt spid="491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491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491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2" dur="500" fill="hold"/>
                                        <p:tgtEl>
                                          <p:spTgt spid="491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491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491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0" dur="500" fill="hold"/>
                                        <p:tgtEl>
                                          <p:spTgt spid="49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49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49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8" dur="500" fill="hold"/>
                                        <p:tgtEl>
                                          <p:spTgt spid="491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491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4915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="" xmlns:a16="http://schemas.microsoft.com/office/drawing/2014/main" id="{34E9DF06-9644-4DC9-9055-6018D3E60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5"/>
            <a:ext cx="7543800" cy="1091820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b="1"/>
              <a:t>Parameter Substitution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="" xmlns:a16="http://schemas.microsoft.com/office/drawing/2014/main" id="{FD34AF07-D23B-44C5-8E94-61481E602C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15240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zh-TW" sz="2800" dirty="0">
                <a:solidFill>
                  <a:schemeClr val="tx1"/>
                </a:solidFill>
              </a:rPr>
              <a:t>Positional Formal Argument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zh-TW" sz="2800" dirty="0">
                <a:solidFill>
                  <a:schemeClr val="tx1"/>
                </a:solidFill>
              </a:rPr>
              <a:t>Keyword Argument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zh-TW" sz="2800" dirty="0">
                <a:solidFill>
                  <a:schemeClr val="tx1"/>
                </a:solidFill>
              </a:rPr>
              <a:t>Default Argument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zh-TW" sz="2400" dirty="0"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CA035-3F20-4316-8370-B7552BFCDC2C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1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="" xmlns:a16="http://schemas.microsoft.com/office/drawing/2014/main" id="{6C23CC47-6BCD-4F37-9403-DF8F822FC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5"/>
            <a:ext cx="7543800" cy="856396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en-US" altLang="zh-TW" b="1" dirty="0" smtClean="0"/>
              <a:t>Positional </a:t>
            </a:r>
            <a:r>
              <a:rPr lang="en-US" altLang="zh-TW" b="1" dirty="0"/>
              <a:t>Formal Argument</a:t>
            </a:r>
            <a:br>
              <a:rPr lang="en-US" altLang="zh-TW" b="1" dirty="0"/>
            </a:br>
            <a:endParaRPr lang="en-US" altLang="en-US" b="1" dirty="0"/>
          </a:p>
        </p:txBody>
      </p:sp>
      <p:sp>
        <p:nvSpPr>
          <p:cNvPr id="11267" name="Rectangle 5">
            <a:extLst>
              <a:ext uri="{FF2B5EF4-FFF2-40B4-BE49-F238E27FC236}">
                <a16:creationId xmlns="" xmlns:a16="http://schemas.microsoft.com/office/drawing/2014/main" id="{21DB96D7-1D9A-49A3-BBDD-FAE0C7C0B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81200"/>
            <a:ext cx="4876800" cy="3422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 smtClean="0">
                <a:latin typeface="Times New Roman" panose="02020603050405020304" pitchFamily="18" charset="0"/>
              </a:rPr>
              <a:t>// </a:t>
            </a:r>
            <a:r>
              <a:rPr kumimoji="0" lang="en-US" altLang="en-US" sz="1400" b="1" dirty="0" smtClean="0">
                <a:latin typeface="Times New Roman" panose="02020603050405020304" pitchFamily="18" charset="0"/>
              </a:rPr>
              <a:t>MACRO </a:t>
            </a:r>
            <a:r>
              <a:rPr kumimoji="0" lang="en-US" altLang="en-US" sz="1400" b="1" dirty="0">
                <a:latin typeface="Times New Roman" panose="02020603050405020304" pitchFamily="18" charset="0"/>
              </a:rPr>
              <a:t>DEFINITION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MACRO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ADDS	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&amp;arg1</a:t>
            </a:r>
            <a:r>
              <a:rPr kumimoji="0" lang="en-US" altLang="en-US" sz="1600" dirty="0" smtClean="0">
                <a:latin typeface="Times New Roman" panose="02020603050405020304" pitchFamily="18" charset="0"/>
              </a:rPr>
              <a:t>, &amp;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arg2</a:t>
            </a:r>
            <a:r>
              <a:rPr kumimoji="0" lang="en-US" altLang="en-US" sz="1600" dirty="0" smtClean="0">
                <a:latin typeface="Times New Roman" panose="02020603050405020304" pitchFamily="18" charset="0"/>
              </a:rPr>
              <a:t>, &amp;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arg3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L		1, 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		1, 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ST 		1</a:t>
            </a:r>
            <a:r>
              <a:rPr kumimoji="0" lang="en-US" altLang="en-US" sz="1600" dirty="0" smtClean="0">
                <a:latin typeface="Times New Roman" panose="02020603050405020304" pitchFamily="18" charset="0"/>
              </a:rPr>
              <a:t>, &amp;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arg3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MEND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 dirty="0">
                <a:latin typeface="Times New Roman" panose="02020603050405020304" pitchFamily="18" charset="0"/>
              </a:rPr>
              <a:t>/MACRO CALL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ADDS	DATA1, DATA2, DATA3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		</a:t>
            </a:r>
          </a:p>
        </p:txBody>
      </p:sp>
      <p:sp>
        <p:nvSpPr>
          <p:cNvPr id="11268" name="Text Box 6">
            <a:extLst>
              <a:ext uri="{FF2B5EF4-FFF2-40B4-BE49-F238E27FC236}">
                <a16:creationId xmlns="" xmlns:a16="http://schemas.microsoft.com/office/drawing/2014/main" id="{114B3723-7F91-4AEF-9A4D-F987338B4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259" y="2317775"/>
            <a:ext cx="3716741" cy="1308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u="sng" dirty="0">
                <a:latin typeface="Times New Roman" panose="02020603050405020304" pitchFamily="18" charset="0"/>
              </a:rPr>
              <a:t>Formal Parameter</a:t>
            </a:r>
            <a:r>
              <a:rPr lang="en-US" altLang="en-US" sz="1600" b="1" dirty="0">
                <a:latin typeface="Times New Roman" panose="02020603050405020304" pitchFamily="18" charset="0"/>
              </a:rPr>
              <a:t>	</a:t>
            </a:r>
            <a:r>
              <a:rPr lang="en-US" altLang="en-US" sz="1600" b="1" u="sng" dirty="0" smtClean="0">
                <a:latin typeface="Times New Roman" panose="02020603050405020304" pitchFamily="18" charset="0"/>
              </a:rPr>
              <a:t>Actual Parameter</a:t>
            </a:r>
            <a:endParaRPr lang="en-US" altLang="en-US" sz="1600" b="1" u="sng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&amp;arg1		</a:t>
            </a:r>
            <a:r>
              <a:rPr lang="en-US" altLang="en-US" sz="1400" dirty="0" smtClean="0">
                <a:latin typeface="Times New Roman" panose="02020603050405020304" pitchFamily="18" charset="0"/>
              </a:rPr>
              <a:t>	DATA1</a:t>
            </a:r>
            <a:endParaRPr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&amp;arg2		</a:t>
            </a:r>
            <a:r>
              <a:rPr lang="en-US" altLang="en-US" sz="1400" dirty="0" smtClean="0">
                <a:latin typeface="Times New Roman" panose="02020603050405020304" pitchFamily="18" charset="0"/>
              </a:rPr>
              <a:t>	DATA2</a:t>
            </a:r>
            <a:endParaRPr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&amp;arg3</a:t>
            </a:r>
            <a:r>
              <a:rPr lang="en-US" altLang="en-US" sz="1400" dirty="0">
                <a:latin typeface="Times New Roman" panose="02020603050405020304" pitchFamily="18" charset="0"/>
              </a:rPr>
              <a:t>		</a:t>
            </a:r>
            <a:r>
              <a:rPr lang="en-US" altLang="en-US" sz="1400" dirty="0" smtClean="0">
                <a:latin typeface="Times New Roman" panose="02020603050405020304" pitchFamily="18" charset="0"/>
              </a:rPr>
              <a:t>	DATA3</a:t>
            </a:r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="" xmlns:a16="http://schemas.microsoft.com/office/drawing/2014/main" id="{5BEBE1A5-99A2-4F49-873A-874C9386D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743200"/>
            <a:ext cx="20574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E08F4EFF-4234-423E-AEC4-8A4A9E4C1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4800600"/>
            <a:ext cx="20574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CA5D6-05CF-4EE5-BF63-E9DE12FDFD01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8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 bldLvl="4" animBg="1"/>
      <p:bldP spid="11268" grpId="0" build="p" bldLvl="2" animBg="1"/>
      <p:bldP spid="2" grpId="0" uiExpand="1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="" xmlns:a16="http://schemas.microsoft.com/office/drawing/2014/main" id="{1B1C0203-A4DD-439E-97AF-E924948D5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4"/>
            <a:ext cx="7543800" cy="878621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en-US" altLang="zh-TW" b="1" dirty="0" smtClean="0"/>
              <a:t>Keyword </a:t>
            </a:r>
            <a:r>
              <a:rPr lang="en-US" altLang="zh-TW" b="1" dirty="0"/>
              <a:t>Argument</a:t>
            </a:r>
            <a:br>
              <a:rPr lang="en-US" altLang="zh-TW" b="1" dirty="0"/>
            </a:br>
            <a:endParaRPr lang="en-US" altLang="en-US" b="1" dirty="0"/>
          </a:p>
        </p:txBody>
      </p:sp>
      <p:sp>
        <p:nvSpPr>
          <p:cNvPr id="12291" name="Rectangle 4">
            <a:extLst>
              <a:ext uri="{FF2B5EF4-FFF2-40B4-BE49-F238E27FC236}">
                <a16:creationId xmlns="" xmlns:a16="http://schemas.microsoft.com/office/drawing/2014/main" id="{52D10062-B4FA-4411-9571-CEF7C67DD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981200"/>
            <a:ext cx="5105400" cy="4092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 dirty="0">
                <a:latin typeface="Times New Roman" panose="02020603050405020304" pitchFamily="18" charset="0"/>
              </a:rPr>
              <a:t>//MACRO DEFINITION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MACRO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ADDS	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&amp;arg1</a:t>
            </a:r>
            <a:r>
              <a:rPr kumimoji="0" lang="en-US" altLang="en-US" sz="1600" dirty="0" smtClean="0">
                <a:latin typeface="Times New Roman" panose="02020603050405020304" pitchFamily="18" charset="0"/>
              </a:rPr>
              <a:t>=, &amp;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arg2</a:t>
            </a:r>
            <a:r>
              <a:rPr kumimoji="0" lang="en-US" altLang="en-US" sz="1600" dirty="0" smtClean="0">
                <a:latin typeface="Times New Roman" panose="02020603050405020304" pitchFamily="18" charset="0"/>
              </a:rPr>
              <a:t>=, &amp;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arg3=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L		1, 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		1, 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ST 		1</a:t>
            </a:r>
            <a:r>
              <a:rPr kumimoji="0" lang="en-US" altLang="en-US" sz="1600" dirty="0" smtClean="0">
                <a:latin typeface="Times New Roman" panose="02020603050405020304" pitchFamily="18" charset="0"/>
              </a:rPr>
              <a:t>, &amp;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arg3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MEND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 dirty="0" smtClean="0">
                <a:latin typeface="Times New Roman" panose="02020603050405020304" pitchFamily="18" charset="0"/>
              </a:rPr>
              <a:t>//MACRO </a:t>
            </a:r>
            <a:r>
              <a:rPr kumimoji="0" lang="en-US" altLang="en-US" sz="1400" b="1" dirty="0">
                <a:latin typeface="Times New Roman" panose="02020603050405020304" pitchFamily="18" charset="0"/>
              </a:rPr>
              <a:t>CALL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ADDS	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&amp;arg1=</a:t>
            </a:r>
            <a:r>
              <a:rPr kumimoji="0" lang="en-US" altLang="en-US" sz="1400" dirty="0">
                <a:latin typeface="Times New Roman" panose="02020603050405020304" pitchFamily="18" charset="0"/>
              </a:rPr>
              <a:t>DATA1</a:t>
            </a:r>
            <a:r>
              <a:rPr kumimoji="0" lang="en-US" altLang="en-US" sz="1600" dirty="0" smtClean="0">
                <a:latin typeface="Times New Roman" panose="02020603050405020304" pitchFamily="18" charset="0"/>
              </a:rPr>
              <a:t>, &amp;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arg2=</a:t>
            </a:r>
            <a:r>
              <a:rPr kumimoji="0" lang="en-US" altLang="en-US" sz="1400" dirty="0">
                <a:latin typeface="Times New Roman" panose="02020603050405020304" pitchFamily="18" charset="0"/>
              </a:rPr>
              <a:t> DATA2</a:t>
            </a:r>
            <a:r>
              <a:rPr kumimoji="0" lang="en-US" altLang="en-US" sz="1400" dirty="0" smtClean="0">
                <a:latin typeface="Times New Roman" panose="02020603050405020304" pitchFamily="18" charset="0"/>
              </a:rPr>
              <a:t>, </a:t>
            </a:r>
            <a:r>
              <a:rPr kumimoji="0" lang="en-US" altLang="en-US" sz="1600" dirty="0" smtClean="0">
                <a:latin typeface="Times New Roman" panose="02020603050405020304" pitchFamily="18" charset="0"/>
              </a:rPr>
              <a:t>&amp;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arg3=</a:t>
            </a:r>
            <a:r>
              <a:rPr kumimoji="0" lang="en-US" altLang="en-US" sz="1400" dirty="0">
                <a:latin typeface="Times New Roman" panose="02020603050405020304" pitchFamily="18" charset="0"/>
              </a:rPr>
              <a:t> DATA3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……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ADDS	&amp;arg2= DATA2, &amp;arg3= DATA3, &amp;arg1=DATA1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		</a:t>
            </a:r>
          </a:p>
        </p:txBody>
      </p:sp>
      <p:sp>
        <p:nvSpPr>
          <p:cNvPr id="12292" name="Text Box 5">
            <a:extLst>
              <a:ext uri="{FF2B5EF4-FFF2-40B4-BE49-F238E27FC236}">
                <a16:creationId xmlns="" xmlns:a16="http://schemas.microsoft.com/office/drawing/2014/main" id="{D94B5CF5-28B5-4898-B3A8-57B34E187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048" y="2438400"/>
            <a:ext cx="3643952" cy="1308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lang="en-US" altLang="en-US" sz="1600" b="1" u="sng" dirty="0">
                <a:latin typeface="Times New Roman" panose="02020603050405020304" pitchFamily="18" charset="0"/>
              </a:rPr>
              <a:t>Formal Parameter</a:t>
            </a:r>
            <a:r>
              <a:rPr lang="en-US" altLang="en-US" sz="1600" b="1" dirty="0">
                <a:latin typeface="Times New Roman" panose="02020603050405020304" pitchFamily="18" charset="0"/>
              </a:rPr>
              <a:t>	</a:t>
            </a:r>
            <a:r>
              <a:rPr lang="en-US" altLang="en-US" sz="1600" b="1" u="sng" dirty="0">
                <a:latin typeface="Times New Roman" panose="02020603050405020304" pitchFamily="18" charset="0"/>
              </a:rPr>
              <a:t> Actual Parameter </a:t>
            </a:r>
            <a:endParaRPr lang="en-US" altLang="en-US" sz="1600" b="1" u="sng" dirty="0" smtClean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None/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&amp;</a:t>
            </a:r>
            <a:r>
              <a:rPr lang="en-US" altLang="en-US" sz="1400" dirty="0">
                <a:latin typeface="Times New Roman" panose="02020603050405020304" pitchFamily="18" charset="0"/>
              </a:rPr>
              <a:t>arg1		DATA1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&amp;arg2		DATA2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&amp;Arg3		DATA3</a:t>
            </a: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C5602F64-CC00-4DA3-8B22-CCFE16881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609" y="2730836"/>
            <a:ext cx="2411104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CA9D0C9C-5EBF-4895-AC82-588FB9A89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800600"/>
            <a:ext cx="41148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C886BCFC-CB44-4A13-9EA6-F0350DE77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437187"/>
            <a:ext cx="41148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B226C-AD07-4A39-B46C-C6209D1B72D8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0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bldLvl="4" animBg="1"/>
      <p:bldP spid="12292" grpId="0" build="p" bldLvl="3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="" xmlns:a16="http://schemas.microsoft.com/office/drawing/2014/main" id="{A74CE94D-675D-4599-829B-8A7C5B44CD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4"/>
            <a:ext cx="7543800" cy="1062771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b="1"/>
              <a:t>Default Argument</a:t>
            </a:r>
            <a:endParaRPr lang="en-US" altLang="en-US" b="1"/>
          </a:p>
        </p:txBody>
      </p:sp>
      <p:sp>
        <p:nvSpPr>
          <p:cNvPr id="13315" name="Rectangle 4">
            <a:extLst>
              <a:ext uri="{FF2B5EF4-FFF2-40B4-BE49-F238E27FC236}">
                <a16:creationId xmlns="" xmlns:a16="http://schemas.microsoft.com/office/drawing/2014/main" id="{95449037-6A60-4ADB-871B-219D874A5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981200"/>
            <a:ext cx="5105400" cy="45180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 dirty="0">
                <a:latin typeface="Times New Roman" panose="02020603050405020304" pitchFamily="18" charset="0"/>
              </a:rPr>
              <a:t>//MACRO DEFINITION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MACRO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ADDS	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&amp;arg1</a:t>
            </a:r>
            <a:r>
              <a:rPr kumimoji="0" lang="en-US" altLang="en-US" sz="1600" dirty="0" smtClean="0">
                <a:latin typeface="Times New Roman" panose="02020603050405020304" pitchFamily="18" charset="0"/>
              </a:rPr>
              <a:t>=, &amp;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arg2</a:t>
            </a:r>
            <a:r>
              <a:rPr kumimoji="0" lang="en-US" altLang="en-US" sz="1600" dirty="0" smtClean="0">
                <a:latin typeface="Times New Roman" panose="02020603050405020304" pitchFamily="18" charset="0"/>
              </a:rPr>
              <a:t>=, &amp;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arg3=4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L		1, 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		1, 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ST 		1</a:t>
            </a:r>
            <a:r>
              <a:rPr kumimoji="0" lang="en-US" altLang="en-US" sz="1600" dirty="0" smtClean="0">
                <a:latin typeface="Times New Roman" panose="02020603050405020304" pitchFamily="18" charset="0"/>
              </a:rPr>
              <a:t>, &amp;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arg3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MEND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 dirty="0">
                <a:latin typeface="Times New Roman" panose="02020603050405020304" pitchFamily="18" charset="0"/>
              </a:rPr>
              <a:t>/MACRO CALL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ADDS	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&amp;arg1=</a:t>
            </a:r>
            <a:r>
              <a:rPr kumimoji="0" lang="en-US" altLang="en-US" sz="1400" dirty="0">
                <a:latin typeface="Times New Roman" panose="02020603050405020304" pitchFamily="18" charset="0"/>
              </a:rPr>
              <a:t>D1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, &amp;arg2=</a:t>
            </a:r>
            <a:r>
              <a:rPr kumimoji="0" lang="en-US" altLang="en-US" sz="1400" dirty="0">
                <a:latin typeface="Times New Roman" panose="02020603050405020304" pitchFamily="18" charset="0"/>
              </a:rPr>
              <a:t> D2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……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ADDS	&amp;arg2= D2, &amp;arg1=D1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ADDS	&amp;arg2= D2, &amp;arg1=D1, &amp;arg3=100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		</a:t>
            </a:r>
          </a:p>
        </p:txBody>
      </p:sp>
      <p:sp>
        <p:nvSpPr>
          <p:cNvPr id="13316" name="Text Box 5">
            <a:extLst>
              <a:ext uri="{FF2B5EF4-FFF2-40B4-BE49-F238E27FC236}">
                <a16:creationId xmlns="" xmlns:a16="http://schemas.microsoft.com/office/drawing/2014/main" id="{7F6DDB45-B756-4743-A7C0-DA2F1E824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438400"/>
            <a:ext cx="3200400" cy="13065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u="sng" dirty="0">
                <a:latin typeface="Times New Roman" panose="02020603050405020304" pitchFamily="18" charset="0"/>
              </a:rPr>
              <a:t>Formal Parameter</a:t>
            </a:r>
            <a:r>
              <a:rPr lang="en-US" altLang="en-US" sz="1600" b="1" dirty="0">
                <a:latin typeface="Times New Roman" panose="02020603050405020304" pitchFamily="18" charset="0"/>
              </a:rPr>
              <a:t>	</a:t>
            </a:r>
            <a:r>
              <a:rPr lang="en-US" altLang="en-US" sz="1600" b="1" u="sng" dirty="0">
                <a:latin typeface="Times New Roman" panose="02020603050405020304" pitchFamily="18" charset="0"/>
              </a:rPr>
              <a:t>Value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&amp;arg1		</a:t>
            </a:r>
            <a:r>
              <a:rPr lang="en-US" altLang="en-US" sz="1400" dirty="0" smtClean="0">
                <a:latin typeface="Times New Roman" panose="02020603050405020304" pitchFamily="18" charset="0"/>
              </a:rPr>
              <a:t>D1</a:t>
            </a:r>
            <a:endParaRPr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&amp;arg2		</a:t>
            </a:r>
            <a:r>
              <a:rPr lang="en-US" altLang="en-US" sz="1400" dirty="0" smtClean="0">
                <a:latin typeface="Times New Roman" panose="02020603050405020304" pitchFamily="18" charset="0"/>
              </a:rPr>
              <a:t>D2</a:t>
            </a:r>
            <a:endParaRPr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&amp;arg3		</a:t>
            </a:r>
            <a:r>
              <a:rPr lang="en-US" altLang="en-US" sz="1400" dirty="0" smtClean="0">
                <a:latin typeface="Times New Roman" panose="02020603050405020304" pitchFamily="18" charset="0"/>
              </a:rPr>
              <a:t>100</a:t>
            </a:r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3317" name="Text Box 6">
            <a:extLst>
              <a:ext uri="{FF2B5EF4-FFF2-40B4-BE49-F238E27FC236}">
                <a16:creationId xmlns="" xmlns:a16="http://schemas.microsoft.com/office/drawing/2014/main" id="{10EE0E11-857E-4401-A80D-3588EB499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6018311"/>
            <a:ext cx="41148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 smtClean="0">
                <a:latin typeface="Times New Roman" panose="02020603050405020304" pitchFamily="18" charset="0"/>
              </a:rPr>
              <a:t>//it overrides  </a:t>
            </a:r>
            <a:r>
              <a:rPr kumimoji="0" lang="en-US" altLang="en-US" sz="1400" dirty="0">
                <a:latin typeface="Times New Roman" panose="02020603050405020304" pitchFamily="18" charset="0"/>
              </a:rPr>
              <a:t>default </a:t>
            </a:r>
            <a:r>
              <a:rPr kumimoji="0" lang="en-US" altLang="en-US" sz="1400" dirty="0" smtClean="0">
                <a:latin typeface="Times New Roman" panose="02020603050405020304" pitchFamily="18" charset="0"/>
              </a:rPr>
              <a:t>value</a:t>
            </a:r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A8E960A2-1BA9-46B6-A943-CB1B5C21E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2732088"/>
            <a:ext cx="41148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CE8CA00E-2D97-4825-9F2C-0BD1C19D7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854575"/>
            <a:ext cx="41148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05E6EAC1-5894-4C30-9CED-FE419BEB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13" y="5432425"/>
            <a:ext cx="41148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D7BD53E1-3109-4B88-ABE7-2132EB55A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943600"/>
            <a:ext cx="41148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BC95-B0DC-4EB7-9327-7156B149D04A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9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 bldLvl="4" animBg="1"/>
      <p:bldP spid="13316" grpId="0" build="p" bldLvl="2" animBg="1"/>
      <p:bldP spid="13317" grpId="0"/>
      <p:bldP spid="6" grpId="0" uiExpand="1" animBg="1"/>
      <p:bldP spid="7" grpId="0" uiExpand="1" animBg="1"/>
      <p:bldP spid="8" grpId="0" uiExpand="1" animBg="1"/>
      <p:bldP spid="9" grpId="0" uiExpan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="" xmlns:a16="http://schemas.microsoft.com/office/drawing/2014/main" id="{D3F7E0C1-7F1C-4566-BF1B-D283B2ADA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5"/>
            <a:ext cx="7543800" cy="1016630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4400" b="1" dirty="0"/>
              <a:t>Macro with Mixed Parameter </a:t>
            </a:r>
            <a:r>
              <a:rPr lang="en-US" altLang="en-US" sz="4400" b="1" dirty="0" smtClean="0"/>
              <a:t>Lists</a:t>
            </a:r>
            <a:endParaRPr lang="en-US" altLang="en-US" sz="4400" b="1" dirty="0"/>
          </a:p>
        </p:txBody>
      </p:sp>
      <p:sp>
        <p:nvSpPr>
          <p:cNvPr id="14339" name="Rectangle 3">
            <a:extLst>
              <a:ext uri="{FF2B5EF4-FFF2-40B4-BE49-F238E27FC236}">
                <a16:creationId xmlns="" xmlns:a16="http://schemas.microsoft.com/office/drawing/2014/main" id="{EA491B49-594B-409E-8104-354FA1C840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Macro can use all three types of </a:t>
            </a:r>
            <a:r>
              <a:rPr lang="en-US" altLang="en-US" dirty="0" smtClean="0"/>
              <a:t>parameters </a:t>
            </a:r>
            <a:r>
              <a:rPr lang="en-US" altLang="en-US" dirty="0"/>
              <a:t>together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 smtClean="0"/>
              <a:t>Example:-</a:t>
            </a:r>
            <a:endParaRPr lang="en-US" altLang="en-US" dirty="0">
              <a:sym typeface="Wingdings" panose="05000000000000000000" pitchFamily="2" charset="2"/>
            </a:endParaRPr>
          </a:p>
          <a:p>
            <a:pPr>
              <a:buFont typeface="Monotype Sorts" pitchFamily="2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	</a:t>
            </a:r>
            <a:endParaRPr lang="en-US" alt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="" xmlns:a16="http://schemas.microsoft.com/office/drawing/2014/main" id="{F0BD557D-D9E1-49D1-B40A-F236A3265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733675"/>
            <a:ext cx="5105400" cy="36671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 dirty="0">
                <a:latin typeface="Times New Roman" panose="02020603050405020304" pitchFamily="18" charset="0"/>
              </a:rPr>
              <a:t>//MACRO DEFINITION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MACRO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ADDS	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&amp;arg1, &amp;arg2=45, &amp;arg3=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L		1, 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		1, 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&amp;arg2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ST 		1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,&amp;arg3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MEND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b="1" dirty="0" smtClean="0">
                <a:latin typeface="Times New Roman" panose="02020603050405020304" pitchFamily="18" charset="0"/>
              </a:rPr>
              <a:t>//MACRO </a:t>
            </a:r>
            <a:r>
              <a:rPr kumimoji="0" lang="en-US" altLang="en-US" sz="1400" b="1" dirty="0">
                <a:latin typeface="Times New Roman" panose="02020603050405020304" pitchFamily="18" charset="0"/>
              </a:rPr>
              <a:t>CALL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ADDS	D1</a:t>
            </a:r>
            <a:r>
              <a:rPr kumimoji="0" lang="en-US" altLang="en-US" sz="1600" dirty="0">
                <a:latin typeface="Times New Roman" panose="02020603050405020304" pitchFamily="18" charset="0"/>
              </a:rPr>
              <a:t>, &amp;arg3=</a:t>
            </a:r>
            <a:r>
              <a:rPr kumimoji="0" lang="en-US" altLang="en-US" sz="1400" dirty="0">
                <a:latin typeface="Times New Roman" panose="02020603050405020304" pitchFamily="18" charset="0"/>
              </a:rPr>
              <a:t> D3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……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ADDS	D1, &amp;arg3=D6, &amp;arg2=400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4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400" dirty="0">
                <a:latin typeface="Times New Roman" panose="02020603050405020304" pitchFamily="18" charset="0"/>
              </a:rPr>
              <a:t>		</a:t>
            </a: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DBC60892-CCF2-448E-8248-D92159814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0025" y="3255859"/>
            <a:ext cx="41148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51D61AE8-8BBD-4683-8854-40EBA3963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143500"/>
            <a:ext cx="41148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855D6AFC-1D24-422A-A522-E3599BDDF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600700"/>
            <a:ext cx="41148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FFFAA-A471-4E5C-BAA4-6FD4EF66D6E5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4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 bldLvl="4" animBg="1"/>
      <p:bldP spid="5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="" xmlns:a16="http://schemas.microsoft.com/office/drawing/2014/main" id="{D5DE61E7-D3C9-4AE6-861A-E162D96D3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4"/>
            <a:ext cx="7543800" cy="914399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4400" b="1" dirty="0"/>
              <a:t>Macro vs. Subroutine</a:t>
            </a:r>
          </a:p>
        </p:txBody>
      </p:sp>
      <p:sp>
        <p:nvSpPr>
          <p:cNvPr id="16387" name="Rectangle 4">
            <a:extLst>
              <a:ext uri="{FF2B5EF4-FFF2-40B4-BE49-F238E27FC236}">
                <a16:creationId xmlns="" xmlns:a16="http://schemas.microsoft.com/office/drawing/2014/main" id="{31A88385-AE0F-4D33-B768-F430EAFD4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831075"/>
            <a:ext cx="4038600" cy="4515134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normAutofit lnSpcReduction="10000"/>
          </a:bodyPr>
          <a:lstStyle/>
          <a:p>
            <a:pPr marL="0" indent="0" algn="just">
              <a:spcBef>
                <a:spcPct val="20000"/>
              </a:spcBef>
              <a:buSzPct val="75000"/>
              <a:buFont typeface="Monotype Sorts" pitchFamily="2" charset="2"/>
              <a:buNone/>
            </a:pP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	</a:t>
            </a:r>
            <a:r>
              <a:rPr lang="en-US" altLang="en-US" sz="2400" u="sng" dirty="0" smtClean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Macro:</a:t>
            </a:r>
          </a:p>
          <a:p>
            <a:pPr marL="742950" lvl="1" indent="-285750" algn="just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Every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macro call 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is replaced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by its 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definition.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742950" lvl="1" indent="-285750" algn="just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742950" lvl="1" indent="-285750" algn="just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After 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expansion of program,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length 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increases. So,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more memory is required.</a:t>
            </a:r>
          </a:p>
          <a:p>
            <a:pPr marL="742950" lvl="1" indent="-285750" algn="just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marL="742950" lvl="1" indent="-285750" algn="just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Processing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time is less 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as compared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to subroutine 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processing,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because there is no context switching during macro 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processing.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6388" name="Rectangle 5">
            <a:extLst>
              <a:ext uri="{FF2B5EF4-FFF2-40B4-BE49-F238E27FC236}">
                <a16:creationId xmlns="" xmlns:a16="http://schemas.microsoft.com/office/drawing/2014/main" id="{B5A1882D-F5C6-440A-8A8E-1A66B751E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860" y="1749187"/>
            <a:ext cx="426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indent="0" algn="just">
              <a:buNone/>
            </a:pPr>
            <a:r>
              <a:rPr kumimoji="0" lang="en-US" altLang="en-US" dirty="0" smtClean="0"/>
              <a:t>	</a:t>
            </a:r>
            <a:r>
              <a:rPr kumimoji="0" lang="en-US" altLang="en-US" u="sng" dirty="0" smtClean="0"/>
              <a:t>Subroutine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kumimoji="0" lang="en-US" altLang="en-US" dirty="0" smtClean="0"/>
              <a:t>Every Subroutine (function) call transfers control to the first instruction of </a:t>
            </a:r>
            <a:r>
              <a:rPr lang="en-US" altLang="en-US" dirty="0" smtClean="0"/>
              <a:t>subroutine which is called.</a:t>
            </a:r>
            <a:endParaRPr kumimoji="0" lang="en-US" altLang="en-US" dirty="0" smtClean="0"/>
          </a:p>
          <a:p>
            <a:pPr lvl="1" algn="just">
              <a:buFont typeface="Wingdings" panose="05000000000000000000" pitchFamily="2" charset="2"/>
              <a:buChar char="§"/>
            </a:pPr>
            <a:endParaRPr kumimoji="0" lang="en-US" altLang="en-US" dirty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kumimoji="0" lang="en-US" altLang="en-US" dirty="0"/>
              <a:t>After </a:t>
            </a:r>
            <a:r>
              <a:rPr kumimoji="0" lang="en-US" altLang="en-US" dirty="0" smtClean="0"/>
              <a:t>processing </a:t>
            </a:r>
            <a:r>
              <a:rPr kumimoji="0" lang="en-US" altLang="en-US" dirty="0"/>
              <a:t>subroutine </a:t>
            </a:r>
            <a:r>
              <a:rPr kumimoji="0" lang="en-US" altLang="en-US" dirty="0" smtClean="0"/>
              <a:t>call, the program </a:t>
            </a:r>
            <a:r>
              <a:rPr kumimoji="0" lang="en-US" altLang="en-US" dirty="0"/>
              <a:t>size </a:t>
            </a:r>
            <a:r>
              <a:rPr kumimoji="0" lang="en-US" altLang="en-US" dirty="0" smtClean="0"/>
              <a:t>remains same.</a:t>
            </a:r>
            <a:endParaRPr kumimoji="0" lang="en-US" altLang="en-US" dirty="0"/>
          </a:p>
          <a:p>
            <a:pPr lvl="1" algn="just">
              <a:buFont typeface="Wingdings" panose="05000000000000000000" pitchFamily="2" charset="2"/>
              <a:buChar char="§"/>
            </a:pPr>
            <a:endParaRPr kumimoji="0" lang="en-US" altLang="en-US" dirty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kumimoji="0" lang="en-US" altLang="en-US" dirty="0"/>
              <a:t>Processing time is increased due to context </a:t>
            </a:r>
            <a:r>
              <a:rPr kumimoji="0" lang="en-US" altLang="en-US" dirty="0" smtClean="0"/>
              <a:t>switching.</a:t>
            </a:r>
            <a:endParaRPr kumimoji="0"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A74DD-565A-40EB-B934-DECDCFF181F2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1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="" xmlns:a16="http://schemas.microsoft.com/office/drawing/2014/main" id="{20261D97-EE09-4F63-A47D-35FBB28B1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4"/>
            <a:ext cx="7543800" cy="928047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4400" b="1" dirty="0" smtClean="0"/>
              <a:t>Advanced </a:t>
            </a:r>
            <a:r>
              <a:rPr lang="en-US" altLang="en-US" sz="4400" b="1" dirty="0"/>
              <a:t>Macro Facilities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="" xmlns:a16="http://schemas.microsoft.com/office/drawing/2014/main" id="{E43BB4BF-46C1-4999-967E-F9F396771E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Macro Calls within Macros </a:t>
            </a:r>
            <a:br>
              <a:rPr lang="en-US" altLang="en-US" sz="2400" dirty="0">
                <a:solidFill>
                  <a:schemeClr val="tx1"/>
                </a:solidFill>
              </a:rPr>
            </a:br>
            <a:r>
              <a:rPr lang="en-US" altLang="en-US" sz="2400" dirty="0">
                <a:solidFill>
                  <a:schemeClr val="tx1"/>
                </a:solidFill>
              </a:rPr>
              <a:t>(Nested Macro Calls)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Macro instruction defining Macros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Conditional Macro Expansion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Expansion time variables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Expansion time Loops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E0EC-2A8D-47F0-9C35-D8230148762F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6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="" xmlns:a16="http://schemas.microsoft.com/office/drawing/2014/main" id="{7ECA49A0-9178-4B3A-B981-E7E11AA83D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5"/>
            <a:ext cx="7543800" cy="1237396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altLang="en-US" sz="3200" b="1" dirty="0"/>
              <a:t>Macro Calls within Macros </a:t>
            </a:r>
            <a:br>
              <a:rPr lang="en-US" altLang="en-US" sz="3200" b="1" dirty="0"/>
            </a:br>
            <a:r>
              <a:rPr lang="en-US" altLang="en-US" sz="3200" b="1" dirty="0"/>
              <a:t>(Nested Macro Calls)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="" xmlns:a16="http://schemas.microsoft.com/office/drawing/2014/main" id="{ABFF2317-5EC3-4351-A851-EFEB453116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altLang="en-US" dirty="0"/>
              <a:t>Macro definition of one macro may generate call to another macro is called as nested macro calls.</a:t>
            </a:r>
          </a:p>
          <a:p>
            <a:pPr algn="just"/>
            <a:r>
              <a:rPr lang="en-US" altLang="en-US" dirty="0" smtClean="0"/>
              <a:t>Example.</a:t>
            </a:r>
            <a:endParaRPr lang="en-US" altLang="en-US" dirty="0"/>
          </a:p>
          <a:p>
            <a:pPr algn="just">
              <a:buFont typeface="Monotype Sorts" pitchFamily="2" charset="2"/>
              <a:buNone/>
            </a:pPr>
            <a:r>
              <a:rPr lang="en-US" altLang="en-US" sz="1400" dirty="0"/>
              <a:t>	</a:t>
            </a:r>
            <a:r>
              <a:rPr lang="en-US" altLang="en-US" sz="1400" dirty="0">
                <a:solidFill>
                  <a:srgbClr val="FF0066"/>
                </a:solidFill>
              </a:rPr>
              <a:t>MACRO </a:t>
            </a:r>
          </a:p>
          <a:p>
            <a:pPr algn="just"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FF0066"/>
                </a:solidFill>
              </a:rPr>
              <a:t>	</a:t>
            </a:r>
            <a:r>
              <a:rPr lang="en-US" altLang="en-US" sz="1400" dirty="0" smtClean="0">
                <a:solidFill>
                  <a:srgbClr val="FF0066"/>
                </a:solidFill>
              </a:rPr>
              <a:t>ADD1</a:t>
            </a:r>
            <a:r>
              <a:rPr lang="en-US" altLang="en-US" sz="1400" dirty="0">
                <a:solidFill>
                  <a:srgbClr val="FF0066"/>
                </a:solidFill>
              </a:rPr>
              <a:t>		</a:t>
            </a:r>
            <a:r>
              <a:rPr lang="en-US" altLang="en-US" sz="1400" dirty="0" smtClean="0">
                <a:solidFill>
                  <a:srgbClr val="FF0066"/>
                </a:solidFill>
              </a:rPr>
              <a:t>&amp;</a:t>
            </a:r>
            <a:r>
              <a:rPr lang="en-US" altLang="en-US" sz="1400" dirty="0" err="1">
                <a:solidFill>
                  <a:srgbClr val="FF0066"/>
                </a:solidFill>
              </a:rPr>
              <a:t>arg</a:t>
            </a:r>
            <a:endParaRPr lang="en-US" altLang="en-US" sz="1400" dirty="0">
              <a:solidFill>
                <a:srgbClr val="FF0066"/>
              </a:solidFill>
            </a:endParaRPr>
          </a:p>
          <a:p>
            <a:pPr algn="just"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FF0066"/>
                </a:solidFill>
              </a:rPr>
              <a:t>	L		</a:t>
            </a:r>
            <a:r>
              <a:rPr lang="en-US" altLang="en-US" sz="1400" dirty="0" smtClean="0">
                <a:solidFill>
                  <a:srgbClr val="FF0066"/>
                </a:solidFill>
              </a:rPr>
              <a:t>1</a:t>
            </a:r>
            <a:r>
              <a:rPr lang="en-US" altLang="en-US" sz="1400" dirty="0">
                <a:solidFill>
                  <a:srgbClr val="FF0066"/>
                </a:solidFill>
              </a:rPr>
              <a:t>, &amp;</a:t>
            </a:r>
            <a:r>
              <a:rPr lang="en-US" altLang="en-US" sz="1400" dirty="0" err="1">
                <a:solidFill>
                  <a:srgbClr val="FF0066"/>
                </a:solidFill>
              </a:rPr>
              <a:t>arg</a:t>
            </a:r>
            <a:endParaRPr lang="en-US" altLang="en-US" sz="1400" dirty="0">
              <a:solidFill>
                <a:srgbClr val="FF0066"/>
              </a:solidFill>
            </a:endParaRPr>
          </a:p>
          <a:p>
            <a:pPr algn="just"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FF0066"/>
                </a:solidFill>
              </a:rPr>
              <a:t>	A		</a:t>
            </a:r>
            <a:r>
              <a:rPr lang="en-US" altLang="en-US" sz="1400" dirty="0" smtClean="0">
                <a:solidFill>
                  <a:srgbClr val="FF0066"/>
                </a:solidFill>
              </a:rPr>
              <a:t>1, =</a:t>
            </a:r>
            <a:r>
              <a:rPr lang="en-US" altLang="en-US" sz="1400" dirty="0">
                <a:solidFill>
                  <a:srgbClr val="FF0066"/>
                </a:solidFill>
              </a:rPr>
              <a:t>F’1’</a:t>
            </a:r>
          </a:p>
          <a:p>
            <a:pPr algn="just"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FF0066"/>
                </a:solidFill>
              </a:rPr>
              <a:t>	ST		</a:t>
            </a:r>
            <a:r>
              <a:rPr lang="en-US" altLang="en-US" sz="1400" dirty="0" smtClean="0">
                <a:solidFill>
                  <a:srgbClr val="FF0066"/>
                </a:solidFill>
              </a:rPr>
              <a:t>1, &amp;</a:t>
            </a:r>
            <a:r>
              <a:rPr lang="en-US" altLang="en-US" sz="1400" dirty="0">
                <a:solidFill>
                  <a:srgbClr val="FF0066"/>
                </a:solidFill>
              </a:rPr>
              <a:t>arg</a:t>
            </a:r>
          </a:p>
          <a:p>
            <a:pPr algn="just"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FF0066"/>
                </a:solidFill>
              </a:rPr>
              <a:t>	MEND</a:t>
            </a:r>
          </a:p>
          <a:p>
            <a:pPr algn="just">
              <a:buFont typeface="Monotype Sorts" pitchFamily="2" charset="2"/>
              <a:buNone/>
            </a:pPr>
            <a:r>
              <a:rPr lang="en-US" altLang="en-US" sz="1400" dirty="0"/>
              <a:t>	</a:t>
            </a:r>
            <a:r>
              <a:rPr lang="en-US" altLang="en-US" sz="1400" dirty="0">
                <a:solidFill>
                  <a:srgbClr val="7030A0"/>
                </a:solidFill>
              </a:rPr>
              <a:t>MACRO</a:t>
            </a:r>
          </a:p>
          <a:p>
            <a:pPr algn="just"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	ADDS		&amp;</a:t>
            </a:r>
            <a:r>
              <a:rPr lang="en-US" altLang="en-US" sz="1400" dirty="0" smtClean="0">
                <a:solidFill>
                  <a:srgbClr val="7030A0"/>
                </a:solidFill>
              </a:rPr>
              <a:t>arg1, &amp;arg2 ,&amp;arg3</a:t>
            </a:r>
            <a:endParaRPr lang="en-US" altLang="en-US" sz="1400" dirty="0">
              <a:solidFill>
                <a:srgbClr val="7030A0"/>
              </a:solidFill>
            </a:endParaRPr>
          </a:p>
          <a:p>
            <a:pPr algn="just"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	</a:t>
            </a:r>
            <a:r>
              <a:rPr lang="en-US" altLang="en-US" sz="1400" dirty="0" smtClean="0">
                <a:solidFill>
                  <a:srgbClr val="7030A0"/>
                </a:solidFill>
              </a:rPr>
              <a:t>ADD1</a:t>
            </a:r>
            <a:r>
              <a:rPr lang="en-US" altLang="en-US" sz="1400" dirty="0">
                <a:solidFill>
                  <a:srgbClr val="7030A0"/>
                </a:solidFill>
              </a:rPr>
              <a:t>		&amp;</a:t>
            </a:r>
            <a:r>
              <a:rPr lang="en-US" altLang="en-US" sz="1400" dirty="0" smtClean="0">
                <a:solidFill>
                  <a:srgbClr val="7030A0"/>
                </a:solidFill>
              </a:rPr>
              <a:t>arg1</a:t>
            </a:r>
            <a:endParaRPr lang="en-US" altLang="en-US" sz="1400" dirty="0">
              <a:solidFill>
                <a:srgbClr val="7030A0"/>
              </a:solidFill>
            </a:endParaRPr>
          </a:p>
          <a:p>
            <a:pPr algn="just"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	</a:t>
            </a:r>
            <a:r>
              <a:rPr lang="en-US" altLang="en-US" sz="1400" dirty="0" smtClean="0">
                <a:solidFill>
                  <a:srgbClr val="7030A0"/>
                </a:solidFill>
              </a:rPr>
              <a:t>ADD1</a:t>
            </a:r>
            <a:r>
              <a:rPr lang="en-US" altLang="en-US" sz="1400" dirty="0">
                <a:solidFill>
                  <a:srgbClr val="7030A0"/>
                </a:solidFill>
              </a:rPr>
              <a:t>		&amp;</a:t>
            </a:r>
            <a:r>
              <a:rPr lang="en-US" altLang="en-US" sz="1400" dirty="0" smtClean="0">
                <a:solidFill>
                  <a:srgbClr val="7030A0"/>
                </a:solidFill>
              </a:rPr>
              <a:t>arg2</a:t>
            </a:r>
            <a:endParaRPr lang="en-US" altLang="en-US" sz="1400" dirty="0">
              <a:solidFill>
                <a:srgbClr val="7030A0"/>
              </a:solidFill>
            </a:endParaRPr>
          </a:p>
          <a:p>
            <a:pPr algn="just">
              <a:buFont typeface="Monotype Sorts" pitchFamily="2" charset="2"/>
              <a:buNone/>
            </a:pPr>
            <a:r>
              <a:rPr lang="en-US" altLang="en-US" sz="1400" dirty="0">
                <a:solidFill>
                  <a:srgbClr val="7030A0"/>
                </a:solidFill>
              </a:rPr>
              <a:t>	MEND</a:t>
            </a:r>
          </a:p>
          <a:p>
            <a:pPr algn="just">
              <a:buFont typeface="Monotype Sorts" pitchFamily="2" charset="2"/>
              <a:buNone/>
            </a:pPr>
            <a:endParaRPr lang="en-US" altLang="en-US" sz="1400" dirty="0"/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34094BE6-9281-46D3-93B3-237A3F953C09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03049" y="3029936"/>
            <a:ext cx="457200" cy="2102759"/>
            <a:chOff x="685800" y="3352800"/>
            <a:chExt cx="457200" cy="1752600"/>
          </a:xfrm>
        </p:grpSpPr>
        <p:cxnSp>
          <p:nvCxnSpPr>
            <p:cNvPr id="7" name="Straight Connector 6">
              <a:extLst>
                <a:ext uri="{FF2B5EF4-FFF2-40B4-BE49-F238E27FC236}">
                  <a16:creationId xmlns="" xmlns:a16="http://schemas.microsoft.com/office/drawing/2014/main" id="{3A83AEC5-6EF7-471E-B256-61D775C0103E}"/>
                </a:ext>
              </a:extLst>
            </p:cNvPr>
            <p:cNvCxnSpPr/>
            <p:nvPr/>
          </p:nvCxnSpPr>
          <p:spPr bwMode="auto">
            <a:xfrm flipH="1">
              <a:off x="685800" y="3352800"/>
              <a:ext cx="4572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Straight Connector 8">
              <a:extLst>
                <a:ext uri="{FF2B5EF4-FFF2-40B4-BE49-F238E27FC236}">
                  <a16:creationId xmlns="" xmlns:a16="http://schemas.microsoft.com/office/drawing/2014/main" id="{52F07F66-84B6-4DA2-80C6-56182EC812CF}"/>
                </a:ext>
              </a:extLst>
            </p:cNvPr>
            <p:cNvCxnSpPr/>
            <p:nvPr/>
          </p:nvCxnSpPr>
          <p:spPr bwMode="auto">
            <a:xfrm>
              <a:off x="685800" y="3352800"/>
              <a:ext cx="0" cy="1752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="" xmlns:a16="http://schemas.microsoft.com/office/drawing/2014/main" id="{424CFAB2-D4C8-4BB0-B1BB-7DB738B537FC}"/>
                </a:ext>
              </a:extLst>
            </p:cNvPr>
            <p:cNvCxnSpPr/>
            <p:nvPr/>
          </p:nvCxnSpPr>
          <p:spPr bwMode="auto">
            <a:xfrm>
              <a:off x="685800" y="5105400"/>
              <a:ext cx="457200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28BD55C6-349D-4DC3-9C90-18B2AC99F5FA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04717" y="2964757"/>
            <a:ext cx="555532" cy="2576367"/>
            <a:chOff x="685800" y="3352800"/>
            <a:chExt cx="457200" cy="17526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="" xmlns:a16="http://schemas.microsoft.com/office/drawing/2014/main" id="{AEE2A6C2-6828-4E2B-B9AE-9C94B2C7F994}"/>
                </a:ext>
              </a:extLst>
            </p:cNvPr>
            <p:cNvCxnSpPr/>
            <p:nvPr/>
          </p:nvCxnSpPr>
          <p:spPr bwMode="auto">
            <a:xfrm flipH="1">
              <a:off x="685800" y="3352800"/>
              <a:ext cx="4572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Straight Connector 16">
              <a:extLst>
                <a:ext uri="{FF2B5EF4-FFF2-40B4-BE49-F238E27FC236}">
                  <a16:creationId xmlns="" xmlns:a16="http://schemas.microsoft.com/office/drawing/2014/main" id="{7AA61FFE-F701-4D18-A905-B4D9C094C9C2}"/>
                </a:ext>
              </a:extLst>
            </p:cNvPr>
            <p:cNvCxnSpPr/>
            <p:nvPr/>
          </p:nvCxnSpPr>
          <p:spPr bwMode="auto">
            <a:xfrm>
              <a:off x="685800" y="3352800"/>
              <a:ext cx="0" cy="1752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="" xmlns:a16="http://schemas.microsoft.com/office/drawing/2014/main" id="{8875335A-FA46-4ACE-A3D4-D5E538672AAA}"/>
                </a:ext>
              </a:extLst>
            </p:cNvPr>
            <p:cNvCxnSpPr/>
            <p:nvPr/>
          </p:nvCxnSpPr>
          <p:spPr bwMode="auto">
            <a:xfrm>
              <a:off x="685800" y="5105400"/>
              <a:ext cx="457200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Right Brace 1"/>
          <p:cNvSpPr/>
          <p:nvPr/>
        </p:nvSpPr>
        <p:spPr>
          <a:xfrm>
            <a:off x="3100319" y="5080730"/>
            <a:ext cx="477672" cy="613012"/>
          </a:xfrm>
          <a:prstGeom prst="rightBrac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21905" y="5233348"/>
            <a:ext cx="2269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smtClean="0"/>
              <a:t>Call to macro</a:t>
            </a:r>
            <a:endParaRPr lang="en-IN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E581-B8A8-4ADB-B756-48CD7DD01060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7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="" xmlns:a16="http://schemas.microsoft.com/office/drawing/2014/main" id="{DED77541-79E8-4464-B9E9-219143B0A4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5"/>
            <a:ext cx="7543800" cy="1008796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altLang="en-US" sz="3200" b="1"/>
              <a:t>Macro Calls within Macros </a:t>
            </a:r>
            <a:br>
              <a:rPr lang="en-US" altLang="en-US" sz="3200" b="1"/>
            </a:br>
            <a:r>
              <a:rPr lang="en-US" altLang="en-US" sz="3200" b="1"/>
              <a:t>(Nested Macro Calls) (cont..)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="" xmlns:a16="http://schemas.microsoft.com/office/drawing/2014/main" id="{F271017A-DD57-401A-B190-722C45E36C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1" y="1295401"/>
            <a:ext cx="2209800" cy="51816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Monotype Sorts" pitchFamily="2" charset="2"/>
              <a:buNone/>
              <a:defRPr/>
            </a:pPr>
            <a:r>
              <a:rPr lang="en-US" sz="1400" b="1" dirty="0"/>
              <a:t>//Source Code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b="1" dirty="0" smtClean="0"/>
              <a:t>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b="1" dirty="0" smtClean="0"/>
              <a:t>:</a:t>
            </a:r>
            <a:endParaRPr lang="en-US" sz="1200" b="1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>
                <a:solidFill>
                  <a:srgbClr val="C00000"/>
                </a:solidFill>
              </a:rPr>
              <a:t>MACRO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 smtClean="0">
                <a:solidFill>
                  <a:srgbClr val="C00000"/>
                </a:solidFill>
              </a:rPr>
              <a:t>ADD1</a:t>
            </a:r>
            <a:r>
              <a:rPr lang="en-US" sz="1200" dirty="0">
                <a:solidFill>
                  <a:srgbClr val="C00000"/>
                </a:solidFill>
              </a:rPr>
              <a:t>	&amp;</a:t>
            </a:r>
            <a:r>
              <a:rPr lang="en-US" sz="1200" dirty="0" err="1">
                <a:solidFill>
                  <a:srgbClr val="C00000"/>
                </a:solidFill>
              </a:rPr>
              <a:t>arg</a:t>
            </a:r>
            <a:endParaRPr lang="en-US" sz="1200" dirty="0">
              <a:solidFill>
                <a:srgbClr val="C0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>
                <a:solidFill>
                  <a:srgbClr val="C00000"/>
                </a:solidFill>
              </a:rPr>
              <a:t>L		1, &amp;</a:t>
            </a:r>
            <a:r>
              <a:rPr lang="en-US" sz="1200" dirty="0" err="1">
                <a:solidFill>
                  <a:srgbClr val="C00000"/>
                </a:solidFill>
              </a:rPr>
              <a:t>arg</a:t>
            </a:r>
            <a:endParaRPr lang="en-US" sz="1200" dirty="0">
              <a:solidFill>
                <a:srgbClr val="C00000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>
                <a:solidFill>
                  <a:srgbClr val="C00000"/>
                </a:solidFill>
              </a:rPr>
              <a:t>A		1,=F’1’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>
                <a:solidFill>
                  <a:srgbClr val="C00000"/>
                </a:solidFill>
              </a:rPr>
              <a:t>ST	</a:t>
            </a:r>
            <a:r>
              <a:rPr lang="en-US" sz="1200" dirty="0" smtClean="0">
                <a:solidFill>
                  <a:srgbClr val="C00000"/>
                </a:solidFill>
              </a:rPr>
              <a:t>1</a:t>
            </a:r>
            <a:r>
              <a:rPr lang="en-US" sz="1200" dirty="0">
                <a:solidFill>
                  <a:srgbClr val="C00000"/>
                </a:solidFill>
              </a:rPr>
              <a:t>,&amp;arg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>
                <a:solidFill>
                  <a:srgbClr val="C00000"/>
                </a:solidFill>
              </a:rPr>
              <a:t>MEND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>
                <a:solidFill>
                  <a:srgbClr val="0070C0"/>
                </a:solidFill>
              </a:rPr>
              <a:t>MACRO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>
                <a:solidFill>
                  <a:srgbClr val="0070C0"/>
                </a:solidFill>
              </a:rPr>
              <a:t>ADDS	&amp;a1,&amp;a2,&amp;a3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 smtClean="0">
                <a:solidFill>
                  <a:srgbClr val="0070C0"/>
                </a:solidFill>
              </a:rPr>
              <a:t>ADD1</a:t>
            </a:r>
            <a:r>
              <a:rPr lang="en-US" sz="1200" dirty="0">
                <a:solidFill>
                  <a:srgbClr val="0070C0"/>
                </a:solidFill>
              </a:rPr>
              <a:t>	&amp;a1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 smtClean="0">
                <a:solidFill>
                  <a:srgbClr val="0070C0"/>
                </a:solidFill>
              </a:rPr>
              <a:t>ADD1</a:t>
            </a:r>
            <a:r>
              <a:rPr lang="en-US" sz="1200" dirty="0">
                <a:solidFill>
                  <a:srgbClr val="0070C0"/>
                </a:solidFill>
              </a:rPr>
              <a:t>	&amp;a2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>
                <a:solidFill>
                  <a:srgbClr val="0070C0"/>
                </a:solidFill>
              </a:rPr>
              <a:t>CMP	</a:t>
            </a:r>
            <a:r>
              <a:rPr lang="en-US" sz="1200" dirty="0" smtClean="0">
                <a:solidFill>
                  <a:srgbClr val="0070C0"/>
                </a:solidFill>
              </a:rPr>
              <a:t>1</a:t>
            </a:r>
            <a:r>
              <a:rPr lang="en-US" sz="1200" dirty="0">
                <a:solidFill>
                  <a:srgbClr val="0070C0"/>
                </a:solidFill>
              </a:rPr>
              <a:t>,&amp;a3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>
                <a:solidFill>
                  <a:srgbClr val="0070C0"/>
                </a:solidFill>
              </a:rPr>
              <a:t>MEND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b="1" dirty="0"/>
              <a:t>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b="1" dirty="0"/>
              <a:t>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b="1" dirty="0">
                <a:solidFill>
                  <a:srgbClr val="FF0066"/>
                </a:solidFill>
              </a:rPr>
              <a:t>ADDS	A</a:t>
            </a:r>
            <a:r>
              <a:rPr lang="en-US" sz="1200" b="1" dirty="0" smtClean="0">
                <a:solidFill>
                  <a:srgbClr val="FF0066"/>
                </a:solidFill>
              </a:rPr>
              <a:t>, B, C</a:t>
            </a:r>
            <a:endParaRPr lang="en-US" sz="1200" b="1" dirty="0">
              <a:solidFill>
                <a:srgbClr val="FF0066"/>
              </a:solidFill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b="1" dirty="0"/>
              <a:t>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b="1" dirty="0"/>
              <a:t>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 smtClean="0"/>
              <a:t>A	         DC</a:t>
            </a:r>
            <a:r>
              <a:rPr lang="en-US" sz="1200" dirty="0"/>
              <a:t>	F’3’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 smtClean="0"/>
              <a:t>B         DC</a:t>
            </a:r>
            <a:r>
              <a:rPr lang="en-US" sz="1200" dirty="0"/>
              <a:t>	F’13’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dirty="0" smtClean="0"/>
              <a:t>C         DC</a:t>
            </a:r>
            <a:r>
              <a:rPr lang="en-US" sz="1200" dirty="0"/>
              <a:t>	F’6’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b="1" dirty="0"/>
              <a:t>: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200" b="1" dirty="0"/>
              <a:t>:</a:t>
            </a:r>
          </a:p>
        </p:txBody>
      </p:sp>
      <p:sp>
        <p:nvSpPr>
          <p:cNvPr id="18436" name="Line 4">
            <a:extLst>
              <a:ext uri="{FF2B5EF4-FFF2-40B4-BE49-F238E27FC236}">
                <a16:creationId xmlns="" xmlns:a16="http://schemas.microsoft.com/office/drawing/2014/main" id="{961697B0-FF5A-4AB9-B931-7900EDD83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524000"/>
            <a:ext cx="0" cy="53340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7" name="Rectangle 5">
            <a:extLst>
              <a:ext uri="{FF2B5EF4-FFF2-40B4-BE49-F238E27FC236}">
                <a16:creationId xmlns="" xmlns:a16="http://schemas.microsoft.com/office/drawing/2014/main" id="{842C1308-8F01-4EF3-9BF7-5BF3FC1A1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1604963"/>
            <a:ext cx="2133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// </a:t>
            </a:r>
            <a:r>
              <a:rPr kumimoji="0" lang="en-US" altLang="en-US" sz="1400" b="1" u="sng" dirty="0" smtClean="0"/>
              <a:t>Level-1</a:t>
            </a:r>
            <a:r>
              <a:rPr kumimoji="0" lang="en-US" altLang="en-US" sz="1400" b="1" dirty="0" smtClean="0"/>
              <a:t> Expansion </a:t>
            </a:r>
            <a:r>
              <a:rPr kumimoji="0" lang="en-US" altLang="en-US" sz="1400" b="1" dirty="0"/>
              <a:t>of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Source </a:t>
            </a:r>
            <a:r>
              <a:rPr kumimoji="0" lang="en-US" altLang="en-US" sz="1400" b="1" dirty="0" smtClean="0"/>
              <a:t>Code</a:t>
            </a:r>
            <a:endParaRPr kumimoji="0" lang="en-US" altLang="en-US" sz="1400" b="1" dirty="0"/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200" b="1" dirty="0" smtClean="0">
                <a:solidFill>
                  <a:srgbClr val="0070C0"/>
                </a:solidFill>
              </a:rPr>
              <a:t>ADD1</a:t>
            </a:r>
            <a:r>
              <a:rPr kumimoji="0" lang="en-US" altLang="en-US" sz="1200" b="1" dirty="0">
                <a:solidFill>
                  <a:srgbClr val="0070C0"/>
                </a:solidFill>
              </a:rPr>
              <a:t>	A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200" b="1" dirty="0" smtClean="0">
                <a:solidFill>
                  <a:srgbClr val="0070C0"/>
                </a:solidFill>
              </a:rPr>
              <a:t>ADD1</a:t>
            </a:r>
            <a:r>
              <a:rPr kumimoji="0" lang="en-US" altLang="en-US" sz="1200" b="1" dirty="0">
                <a:solidFill>
                  <a:srgbClr val="0070C0"/>
                </a:solidFill>
              </a:rPr>
              <a:t>	B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200" b="1" dirty="0">
                <a:solidFill>
                  <a:srgbClr val="0070C0"/>
                </a:solidFill>
              </a:rPr>
              <a:t>CMP		1, C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</p:txBody>
      </p:sp>
      <p:sp>
        <p:nvSpPr>
          <p:cNvPr id="18438" name="AutoShape 6">
            <a:extLst>
              <a:ext uri="{FF2B5EF4-FFF2-40B4-BE49-F238E27FC236}">
                <a16:creationId xmlns="" xmlns:a16="http://schemas.microsoft.com/office/drawing/2014/main" id="{6FADD569-4631-42AC-BEB1-9568F825B1A3}"/>
              </a:ext>
            </a:extLst>
          </p:cNvPr>
          <p:cNvSpPr>
            <a:spLocks/>
          </p:cNvSpPr>
          <p:nvPr/>
        </p:nvSpPr>
        <p:spPr bwMode="auto">
          <a:xfrm>
            <a:off x="2895600" y="4724400"/>
            <a:ext cx="304800" cy="838200"/>
          </a:xfrm>
          <a:prstGeom prst="leftBrace">
            <a:avLst>
              <a:gd name="adj1" fmla="val 2291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39" name="Line 7">
            <a:extLst>
              <a:ext uri="{FF2B5EF4-FFF2-40B4-BE49-F238E27FC236}">
                <a16:creationId xmlns="" xmlns:a16="http://schemas.microsoft.com/office/drawing/2014/main" id="{3B542775-8B41-4AB6-B484-D9D0B34CFB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51054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0" name="Text Box 8">
            <a:extLst>
              <a:ext uri="{FF2B5EF4-FFF2-40B4-BE49-F238E27FC236}">
                <a16:creationId xmlns="" xmlns:a16="http://schemas.microsoft.com/office/drawing/2014/main" id="{89FD408C-4AC2-4ED0-9468-0A90C9A40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7216" y="4828401"/>
            <a:ext cx="9906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rgbClr val="FF0066"/>
                </a:solidFill>
                <a:latin typeface="Times New Roman" panose="02020603050405020304" pitchFamily="18" charset="0"/>
              </a:rPr>
              <a:t>Expansion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rgbClr val="FF0066"/>
                </a:solidFill>
                <a:latin typeface="Times New Roman" panose="02020603050405020304" pitchFamily="18" charset="0"/>
              </a:rPr>
              <a:t>Of ADDS</a:t>
            </a:r>
          </a:p>
        </p:txBody>
      </p:sp>
      <p:sp>
        <p:nvSpPr>
          <p:cNvPr id="18441" name="Line 9">
            <a:extLst>
              <a:ext uri="{FF2B5EF4-FFF2-40B4-BE49-F238E27FC236}">
                <a16:creationId xmlns="" xmlns:a16="http://schemas.microsoft.com/office/drawing/2014/main" id="{86197CAD-BA89-4E26-81DF-CA750B18C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1600200"/>
            <a:ext cx="0" cy="53340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Rectangle 10">
            <a:extLst>
              <a:ext uri="{FF2B5EF4-FFF2-40B4-BE49-F238E27FC236}">
                <a16:creationId xmlns="" xmlns:a16="http://schemas.microsoft.com/office/drawing/2014/main" id="{8345B5CE-F6DE-4E6F-BFB7-B83BD4F78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676400"/>
            <a:ext cx="2133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// </a:t>
            </a:r>
            <a:r>
              <a:rPr kumimoji="0" lang="en-US" altLang="en-US" sz="1400" b="1" u="sng" dirty="0"/>
              <a:t>Level-2</a:t>
            </a:r>
            <a:r>
              <a:rPr kumimoji="0" lang="en-US" altLang="en-US" sz="1400" b="1" dirty="0"/>
              <a:t> Expansion of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Source Code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dirty="0">
                <a:solidFill>
                  <a:srgbClr val="C00000"/>
                </a:solidFill>
              </a:rPr>
              <a:t>L	</a:t>
            </a:r>
            <a:r>
              <a:rPr kumimoji="0" lang="en-US" altLang="en-US" sz="1400" dirty="0" smtClean="0">
                <a:solidFill>
                  <a:srgbClr val="C00000"/>
                </a:solidFill>
              </a:rPr>
              <a:t>  1, </a:t>
            </a:r>
            <a:r>
              <a:rPr kumimoji="0" lang="en-US" altLang="en-US" sz="1200" dirty="0" smtClean="0">
                <a:solidFill>
                  <a:srgbClr val="C00000"/>
                </a:solidFill>
              </a:rPr>
              <a:t>A</a:t>
            </a:r>
            <a:endParaRPr kumimoji="0" lang="en-US" altLang="en-US" sz="1200" dirty="0">
              <a:solidFill>
                <a:srgbClr val="C00000"/>
              </a:solidFill>
            </a:endParaRP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200" dirty="0">
                <a:solidFill>
                  <a:srgbClr val="C00000"/>
                </a:solidFill>
              </a:rPr>
              <a:t>A	</a:t>
            </a:r>
            <a:r>
              <a:rPr kumimoji="0" lang="en-US" altLang="en-US" sz="1200" dirty="0" smtClean="0">
                <a:solidFill>
                  <a:srgbClr val="C00000"/>
                </a:solidFill>
              </a:rPr>
              <a:t>  1, =</a:t>
            </a:r>
            <a:r>
              <a:rPr kumimoji="0" lang="en-US" altLang="en-US" sz="1200" dirty="0">
                <a:solidFill>
                  <a:srgbClr val="C00000"/>
                </a:solidFill>
              </a:rPr>
              <a:t>F’1’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200" dirty="0">
                <a:solidFill>
                  <a:srgbClr val="C00000"/>
                </a:solidFill>
              </a:rPr>
              <a:t>ST	</a:t>
            </a:r>
            <a:r>
              <a:rPr kumimoji="0" lang="en-US" altLang="en-US" sz="1200" dirty="0" smtClean="0">
                <a:solidFill>
                  <a:srgbClr val="C00000"/>
                </a:solidFill>
              </a:rPr>
              <a:t>  1, A</a:t>
            </a:r>
            <a:endParaRPr kumimoji="0" lang="en-US" altLang="en-US" sz="1200" dirty="0">
              <a:solidFill>
                <a:srgbClr val="C00000"/>
              </a:solidFill>
            </a:endParaRP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dirty="0">
                <a:solidFill>
                  <a:srgbClr val="C00000"/>
                </a:solidFill>
              </a:rPr>
              <a:t>L	</a:t>
            </a:r>
            <a:r>
              <a:rPr kumimoji="0" lang="en-US" altLang="en-US" sz="1400" dirty="0" smtClean="0">
                <a:solidFill>
                  <a:srgbClr val="C00000"/>
                </a:solidFill>
              </a:rPr>
              <a:t>  1, B</a:t>
            </a:r>
            <a:endParaRPr kumimoji="0" lang="en-US" altLang="en-US" sz="1200" dirty="0">
              <a:solidFill>
                <a:srgbClr val="C00000"/>
              </a:solidFill>
            </a:endParaRP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200" dirty="0">
                <a:solidFill>
                  <a:srgbClr val="C00000"/>
                </a:solidFill>
              </a:rPr>
              <a:t>A	</a:t>
            </a:r>
            <a:r>
              <a:rPr kumimoji="0" lang="en-US" altLang="en-US" sz="1200" dirty="0" smtClean="0">
                <a:solidFill>
                  <a:srgbClr val="C00000"/>
                </a:solidFill>
              </a:rPr>
              <a:t>  1, =</a:t>
            </a:r>
            <a:r>
              <a:rPr kumimoji="0" lang="en-US" altLang="en-US" sz="1200" dirty="0">
                <a:solidFill>
                  <a:srgbClr val="C00000"/>
                </a:solidFill>
              </a:rPr>
              <a:t>F’1’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200" dirty="0">
                <a:solidFill>
                  <a:srgbClr val="C00000"/>
                </a:solidFill>
              </a:rPr>
              <a:t>ST	</a:t>
            </a:r>
            <a:r>
              <a:rPr kumimoji="0" lang="en-US" altLang="en-US" sz="1200" dirty="0" smtClean="0">
                <a:solidFill>
                  <a:srgbClr val="C00000"/>
                </a:solidFill>
              </a:rPr>
              <a:t>  1, B</a:t>
            </a:r>
            <a:endParaRPr kumimoji="0" lang="en-US" altLang="en-US" sz="1200" dirty="0">
              <a:solidFill>
                <a:srgbClr val="C00000"/>
              </a:solidFill>
            </a:endParaRP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200" dirty="0">
                <a:solidFill>
                  <a:srgbClr val="C00000"/>
                </a:solidFill>
              </a:rPr>
              <a:t>CMP	</a:t>
            </a:r>
            <a:r>
              <a:rPr kumimoji="0" lang="en-US" altLang="en-US" sz="1200" dirty="0" smtClean="0">
                <a:solidFill>
                  <a:srgbClr val="C00000"/>
                </a:solidFill>
              </a:rPr>
              <a:t>  1, </a:t>
            </a:r>
            <a:r>
              <a:rPr kumimoji="0" lang="en-US" altLang="en-US" sz="1200" dirty="0">
                <a:solidFill>
                  <a:srgbClr val="C00000"/>
                </a:solidFill>
              </a:rPr>
              <a:t>C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kumimoji="0" lang="en-US" altLang="en-US" sz="1400" b="1" dirty="0"/>
              <a:t>:</a:t>
            </a:r>
          </a:p>
        </p:txBody>
      </p:sp>
      <p:sp>
        <p:nvSpPr>
          <p:cNvPr id="18443" name="AutoShape 11">
            <a:extLst>
              <a:ext uri="{FF2B5EF4-FFF2-40B4-BE49-F238E27FC236}">
                <a16:creationId xmlns="" xmlns:a16="http://schemas.microsoft.com/office/drawing/2014/main" id="{519BD204-8E05-416B-A261-392A1CBFC8C0}"/>
              </a:ext>
            </a:extLst>
          </p:cNvPr>
          <p:cNvSpPr>
            <a:spLocks/>
          </p:cNvSpPr>
          <p:nvPr/>
        </p:nvSpPr>
        <p:spPr bwMode="auto">
          <a:xfrm>
            <a:off x="6019800" y="4267200"/>
            <a:ext cx="152400" cy="609600"/>
          </a:xfrm>
          <a:prstGeom prst="leftBrace">
            <a:avLst>
              <a:gd name="adj1" fmla="val 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44" name="AutoShape 12">
            <a:extLst>
              <a:ext uri="{FF2B5EF4-FFF2-40B4-BE49-F238E27FC236}">
                <a16:creationId xmlns="" xmlns:a16="http://schemas.microsoft.com/office/drawing/2014/main" id="{78427179-7D10-4370-A20C-80D1091A9B0A}"/>
              </a:ext>
            </a:extLst>
          </p:cNvPr>
          <p:cNvSpPr>
            <a:spLocks/>
          </p:cNvSpPr>
          <p:nvPr/>
        </p:nvSpPr>
        <p:spPr bwMode="auto">
          <a:xfrm>
            <a:off x="5981700" y="4953000"/>
            <a:ext cx="228600" cy="714153"/>
          </a:xfrm>
          <a:prstGeom prst="leftBrace">
            <a:avLst>
              <a:gd name="adj1" fmla="val 19444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8445" name="Line 13">
            <a:extLst>
              <a:ext uri="{FF2B5EF4-FFF2-40B4-BE49-F238E27FC236}">
                <a16:creationId xmlns="" xmlns:a16="http://schemas.microsoft.com/office/drawing/2014/main" id="{272F0F55-CD3A-4DF6-A504-75670F89DD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4572000"/>
            <a:ext cx="16002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Line 14">
            <a:extLst>
              <a:ext uri="{FF2B5EF4-FFF2-40B4-BE49-F238E27FC236}">
                <a16:creationId xmlns="" xmlns:a16="http://schemas.microsoft.com/office/drawing/2014/main" id="{1E980C19-CB67-4B3F-B5C9-B649FEB965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5181600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7" name="Text Box 15">
            <a:extLst>
              <a:ext uri="{FF2B5EF4-FFF2-40B4-BE49-F238E27FC236}">
                <a16:creationId xmlns="" xmlns:a16="http://schemas.microsoft.com/office/drawing/2014/main" id="{621DC0D0-BC6E-46C3-BF45-E0BF6B4CA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0" y="4723182"/>
            <a:ext cx="99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FF0066"/>
                </a:solidFill>
                <a:latin typeface="Times New Roman" panose="02020603050405020304" pitchFamily="18" charset="0"/>
              </a:rPr>
              <a:t>Expansion </a:t>
            </a:r>
            <a:r>
              <a:rPr lang="en-US" altLang="en-US" sz="1400" dirty="0" smtClean="0">
                <a:solidFill>
                  <a:srgbClr val="FF0066"/>
                </a:solidFill>
                <a:latin typeface="Times New Roman" panose="02020603050405020304" pitchFamily="18" charset="0"/>
              </a:rPr>
              <a:t>of ADD1</a:t>
            </a:r>
            <a:endParaRPr lang="en-US" altLang="en-US" sz="1400" dirty="0">
              <a:solidFill>
                <a:srgbClr val="FF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="" xmlns:a16="http://schemas.microsoft.com/office/drawing/2014/main" id="{174AB930-8C24-451A-B7E7-21A49CD91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" y="3145021"/>
            <a:ext cx="2495550" cy="914400"/>
          </a:xfrm>
          <a:prstGeom prst="ellipse">
            <a:avLst/>
          </a:prstGeom>
          <a:noFill/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endParaRPr lang="en-US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34E352F3-FE12-4266-B04D-AEE987B3634D}"/>
              </a:ext>
            </a:extLst>
          </p:cNvPr>
          <p:cNvSpPr/>
          <p:nvPr/>
        </p:nvSpPr>
        <p:spPr bwMode="auto">
          <a:xfrm>
            <a:off x="38100" y="2286000"/>
            <a:ext cx="2514600" cy="630421"/>
          </a:xfrm>
          <a:prstGeom prst="ellipse">
            <a:avLst/>
          </a:prstGeom>
          <a:noFill/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671A-83AD-4DB3-BF88-1EEEE350402C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3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18437" grpId="0"/>
      <p:bldP spid="18438" grpId="0" animBg="1"/>
      <p:bldP spid="18440" grpId="0"/>
      <p:bldP spid="18442" grpId="0"/>
      <p:bldP spid="18443" grpId="0" animBg="1"/>
      <p:bldP spid="18444" grpId="0" animBg="1"/>
      <p:bldP spid="18447" grpId="0"/>
      <p:bldP spid="2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="" xmlns:a16="http://schemas.microsoft.com/office/drawing/2014/main" id="{A1FAEA68-205C-4370-A6DB-FBC141AF3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4"/>
            <a:ext cx="7543800" cy="1067427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altLang="en-US" sz="3200" b="1" dirty="0"/>
              <a:t>Macro </a:t>
            </a:r>
            <a:r>
              <a:rPr lang="en-US" altLang="en-US" sz="3200" b="1" dirty="0" smtClean="0"/>
              <a:t>Instruction </a:t>
            </a:r>
            <a:r>
              <a:rPr lang="en-US" altLang="en-US" sz="3200" b="1" dirty="0"/>
              <a:t>D</a:t>
            </a:r>
            <a:r>
              <a:rPr lang="en-US" altLang="en-US" sz="3200" b="1" dirty="0" smtClean="0"/>
              <a:t>efining </a:t>
            </a:r>
            <a:r>
              <a:rPr lang="en-US" altLang="en-US" sz="3200" b="1" dirty="0"/>
              <a:t>Macros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="" xmlns:a16="http://schemas.microsoft.com/office/drawing/2014/main" id="{468E237C-BDBE-4196-9F3B-B7BAAAE51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959" y="1845733"/>
            <a:ext cx="7543801" cy="4342415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3400" b="1" dirty="0"/>
              <a:t>Macro definition may defines </a:t>
            </a:r>
            <a:r>
              <a:rPr lang="en-US" altLang="en-US" sz="3400" b="1" dirty="0" smtClean="0"/>
              <a:t>another </a:t>
            </a:r>
            <a:r>
              <a:rPr lang="en-US" altLang="en-US" sz="3400" b="1" dirty="0"/>
              <a:t>macro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3400" b="1" dirty="0"/>
              <a:t>Ex.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3400" dirty="0"/>
              <a:t>	</a:t>
            </a:r>
            <a:r>
              <a:rPr lang="en-US" altLang="en-US" sz="3400" dirty="0">
                <a:solidFill>
                  <a:srgbClr val="FF0000"/>
                </a:solidFill>
              </a:rPr>
              <a:t>MACRO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3400" dirty="0">
                <a:solidFill>
                  <a:srgbClr val="FF0000"/>
                </a:solidFill>
              </a:rPr>
              <a:t>	DEFINE	&amp;SUB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3400" dirty="0">
                <a:solidFill>
                  <a:srgbClr val="FF0000"/>
                </a:solidFill>
              </a:rPr>
              <a:t>	</a:t>
            </a:r>
            <a:r>
              <a:rPr lang="en-US" altLang="en-US" sz="3400" dirty="0">
                <a:solidFill>
                  <a:srgbClr val="0000FF"/>
                </a:solidFill>
              </a:rPr>
              <a:t>MACRO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3400" dirty="0">
                <a:solidFill>
                  <a:srgbClr val="0000FF"/>
                </a:solidFill>
              </a:rPr>
              <a:t>	&amp;SUB	&amp;Y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3400" dirty="0">
                <a:solidFill>
                  <a:srgbClr val="0000FF"/>
                </a:solidFill>
              </a:rPr>
              <a:t>	CNOP	0,4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3400" dirty="0">
                <a:solidFill>
                  <a:srgbClr val="0000FF"/>
                </a:solidFill>
              </a:rPr>
              <a:t>	BAL		1,*+8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3400" dirty="0">
                <a:solidFill>
                  <a:srgbClr val="0000FF"/>
                </a:solidFill>
              </a:rPr>
              <a:t>	DC		A(&amp;Y)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3400" dirty="0">
                <a:solidFill>
                  <a:srgbClr val="0000FF"/>
                </a:solidFill>
              </a:rPr>
              <a:t>	L		15,V(&amp;SUB)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3400" dirty="0">
                <a:solidFill>
                  <a:srgbClr val="0000FF"/>
                </a:solidFill>
              </a:rPr>
              <a:t>	BALR	14,15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3400" dirty="0">
                <a:solidFill>
                  <a:srgbClr val="0000FF"/>
                </a:solidFill>
              </a:rPr>
              <a:t>	MEND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r>
              <a:rPr lang="en-US" altLang="en-US" sz="3400" dirty="0">
                <a:solidFill>
                  <a:srgbClr val="FF0000"/>
                </a:solidFill>
              </a:rPr>
              <a:t>	MEND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endParaRPr lang="en-US" altLang="en-US" sz="34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3400" b="1" dirty="0"/>
              <a:t>Macro calls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</a:pPr>
            <a:endParaRPr lang="en-US" altLang="en-US" sz="3400" b="1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000" dirty="0"/>
              <a:t>DEFINE	COS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000" dirty="0"/>
              <a:t>COS	</a:t>
            </a:r>
            <a:r>
              <a:rPr lang="en-US" altLang="en-US" sz="4000" dirty="0" smtClean="0"/>
              <a:t>	AR</a:t>
            </a:r>
            <a:endParaRPr lang="en-US" altLang="en-US" sz="4000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altLang="en-US" sz="1400" dirty="0"/>
          </a:p>
        </p:txBody>
      </p:sp>
      <p:sp>
        <p:nvSpPr>
          <p:cNvPr id="19460" name="AutoShape 5">
            <a:extLst>
              <a:ext uri="{FF2B5EF4-FFF2-40B4-BE49-F238E27FC236}">
                <a16:creationId xmlns="" xmlns:a16="http://schemas.microsoft.com/office/drawing/2014/main" id="{018A1118-235A-4E0D-AFE1-356BB67BB787}"/>
              </a:ext>
            </a:extLst>
          </p:cNvPr>
          <p:cNvSpPr>
            <a:spLocks/>
          </p:cNvSpPr>
          <p:nvPr/>
        </p:nvSpPr>
        <p:spPr bwMode="auto">
          <a:xfrm>
            <a:off x="3429000" y="2826544"/>
            <a:ext cx="304800" cy="1524000"/>
          </a:xfrm>
          <a:prstGeom prst="rightBrace">
            <a:avLst>
              <a:gd name="adj1" fmla="val 61111"/>
              <a:gd name="adj2" fmla="val 50000"/>
            </a:avLst>
          </a:prstGeom>
          <a:noFill/>
          <a:ln w="127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9461" name="AutoShape 6">
            <a:extLst>
              <a:ext uri="{FF2B5EF4-FFF2-40B4-BE49-F238E27FC236}">
                <a16:creationId xmlns="" xmlns:a16="http://schemas.microsoft.com/office/drawing/2014/main" id="{EFBCCECA-06E9-493D-B3E0-3EE8FB9BA560}"/>
              </a:ext>
            </a:extLst>
          </p:cNvPr>
          <p:cNvSpPr>
            <a:spLocks/>
          </p:cNvSpPr>
          <p:nvPr/>
        </p:nvSpPr>
        <p:spPr bwMode="auto">
          <a:xfrm>
            <a:off x="4594859" y="2278912"/>
            <a:ext cx="304800" cy="2362200"/>
          </a:xfrm>
          <a:prstGeom prst="rightBrace">
            <a:avLst>
              <a:gd name="adj1" fmla="val 64583"/>
              <a:gd name="adj2" fmla="val 50000"/>
            </a:avLst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9462" name="Text Box 7">
            <a:extLst>
              <a:ext uri="{FF2B5EF4-FFF2-40B4-BE49-F238E27FC236}">
                <a16:creationId xmlns="" xmlns:a16="http://schemas.microsoft.com/office/drawing/2014/main" id="{596CC056-9C38-4CC5-B129-496594F63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352800"/>
            <a:ext cx="7620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Inner Macro</a:t>
            </a:r>
          </a:p>
        </p:txBody>
      </p:sp>
      <p:sp>
        <p:nvSpPr>
          <p:cNvPr id="19463" name="Text Box 8">
            <a:extLst>
              <a:ext uri="{FF2B5EF4-FFF2-40B4-BE49-F238E27FC236}">
                <a16:creationId xmlns="" xmlns:a16="http://schemas.microsoft.com/office/drawing/2014/main" id="{7372F4BF-9557-40C6-8938-F3F518558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276600"/>
            <a:ext cx="762000" cy="62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Outer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Macro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119A8-A5CE-4EDF-A971-D7FA7A45F7AF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  <p:bldP spid="19460" grpId="0" animBg="1"/>
      <p:bldP spid="19461" grpId="0" animBg="1"/>
      <p:bldP spid="19462" grpId="0"/>
      <p:bldP spid="1946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="" xmlns:a16="http://schemas.microsoft.com/office/drawing/2014/main" id="{B3392C8A-A1F8-43AB-B9FE-787258D69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4"/>
            <a:ext cx="7543800" cy="989303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altLang="en-US" sz="3200" b="1" dirty="0"/>
              <a:t>Conditional Macro Expansion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="" xmlns:a16="http://schemas.microsoft.com/office/drawing/2014/main" id="{0EC821D4-68A1-4F34-8148-9AE3355B8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959" y="2923953"/>
            <a:ext cx="7543801" cy="1371522"/>
          </a:xfrm>
        </p:spPr>
        <p:txBody>
          <a:bodyPr>
            <a:noAutofit/>
          </a:bodyPr>
          <a:lstStyle/>
          <a:p>
            <a:endParaRPr lang="en-US" altLang="en-US" sz="2400" dirty="0" smtClean="0">
              <a:solidFill>
                <a:schemeClr val="tx1"/>
              </a:solidFill>
            </a:endParaRPr>
          </a:p>
          <a:p>
            <a:r>
              <a:rPr lang="en-US" altLang="en-US" sz="2400" dirty="0" smtClean="0">
                <a:solidFill>
                  <a:schemeClr val="tx1"/>
                </a:solidFill>
              </a:rPr>
              <a:t>AIF </a:t>
            </a:r>
            <a:r>
              <a:rPr lang="en-US" altLang="en-US" sz="2400" dirty="0">
                <a:solidFill>
                  <a:schemeClr val="tx1"/>
                </a:solidFill>
              </a:rPr>
              <a:t>&amp; AGO are used for conditional macro expansion</a:t>
            </a:r>
          </a:p>
          <a:p>
            <a:pPr>
              <a:buFont typeface="Monotype Sorts" pitchFamily="2" charset="2"/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1DCA8-CEB9-46A8-B7CB-5F46AC5EAF65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7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="" xmlns:a16="http://schemas.microsoft.com/office/drawing/2014/main" id="{A5886FE1-DA1E-4F1A-95A0-3D7711833E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5"/>
            <a:ext cx="7543800" cy="968038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altLang="en-US" sz="3200" b="1"/>
              <a:t>Need of Conditional Macro Expansion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="" xmlns:a16="http://schemas.microsoft.com/office/drawing/2014/main" id="{EBD18F44-6FA3-4B27-AD07-44DCC026A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959" y="1431064"/>
            <a:ext cx="7543801" cy="4023360"/>
          </a:xfrm>
        </p:spPr>
        <p:txBody>
          <a:bodyPr/>
          <a:lstStyle/>
          <a:p>
            <a:r>
              <a:rPr lang="en-US" altLang="en-US" dirty="0"/>
              <a:t>Lets consider example:</a:t>
            </a:r>
          </a:p>
          <a:p>
            <a:pPr>
              <a:buFont typeface="Monotype Sorts" pitchFamily="2" charset="2"/>
              <a:buNone/>
            </a:pPr>
            <a:r>
              <a:rPr lang="en-US" altLang="en-US" dirty="0"/>
              <a:t>		</a:t>
            </a:r>
          </a:p>
          <a:p>
            <a:pPr>
              <a:buFont typeface="Monotype Sorts" pitchFamily="2" charset="2"/>
              <a:buNone/>
            </a:pPr>
            <a:endParaRPr lang="en-US" altLang="en-US" dirty="0"/>
          </a:p>
        </p:txBody>
      </p:sp>
      <p:sp>
        <p:nvSpPr>
          <p:cNvPr id="21508" name="Text Box 4">
            <a:extLst>
              <a:ext uri="{FF2B5EF4-FFF2-40B4-BE49-F238E27FC236}">
                <a16:creationId xmlns="" xmlns:a16="http://schemas.microsoft.com/office/drawing/2014/main" id="{A130D939-9F8B-493F-A592-908CD9A32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199" y="1961043"/>
            <a:ext cx="4054475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LOOP1	A	1</a:t>
            </a:r>
            <a:r>
              <a:rPr lang="en-US" altLang="en-US" sz="1600" dirty="0" smtClean="0">
                <a:latin typeface="Times New Roman" panose="02020603050405020304" pitchFamily="18" charset="0"/>
              </a:rPr>
              <a:t>, A1</a:t>
            </a:r>
            <a:endParaRPr lang="en-US" altLang="en-US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A	2</a:t>
            </a:r>
            <a:r>
              <a:rPr lang="en-US" altLang="en-US" sz="1600" dirty="0" smtClean="0">
                <a:latin typeface="Times New Roman" panose="02020603050405020304" pitchFamily="18" charset="0"/>
              </a:rPr>
              <a:t>, A2</a:t>
            </a:r>
            <a:endParaRPr lang="en-US" altLang="en-US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A	3</a:t>
            </a:r>
            <a:r>
              <a:rPr lang="en-US" altLang="en-US" sz="1600" dirty="0" smtClean="0">
                <a:latin typeface="Times New Roman" panose="02020603050405020304" pitchFamily="18" charset="0"/>
              </a:rPr>
              <a:t>, A3</a:t>
            </a:r>
            <a:endParaRPr lang="en-US" altLang="en-US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LOOP2	A	1</a:t>
            </a:r>
            <a:r>
              <a:rPr lang="en-US" altLang="en-US" sz="1600" dirty="0" smtClean="0">
                <a:latin typeface="Times New Roman" panose="02020603050405020304" pitchFamily="18" charset="0"/>
              </a:rPr>
              <a:t>, A3</a:t>
            </a:r>
            <a:endParaRPr lang="en-US" altLang="en-US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A	2</a:t>
            </a:r>
            <a:r>
              <a:rPr lang="en-US" altLang="en-US" sz="1600" dirty="0" smtClean="0">
                <a:latin typeface="Times New Roman" panose="02020603050405020304" pitchFamily="18" charset="0"/>
              </a:rPr>
              <a:t>, A2</a:t>
            </a:r>
            <a:endParaRPr lang="en-US" altLang="en-US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LOOP3	A	1</a:t>
            </a:r>
            <a:r>
              <a:rPr lang="en-US" altLang="en-US" sz="1600" dirty="0" smtClean="0">
                <a:latin typeface="Times New Roman" panose="02020603050405020304" pitchFamily="18" charset="0"/>
              </a:rPr>
              <a:t>, A1</a:t>
            </a:r>
            <a:endParaRPr lang="en-US" altLang="en-US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A1	DC	F’5’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A2	DC	F’15’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A3	DC	F’10’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 dirty="0">
              <a:latin typeface="Times New Roman" panose="02020603050405020304" pitchFamily="18" charset="0"/>
            </a:endParaRPr>
          </a:p>
        </p:txBody>
      </p:sp>
      <p:sp>
        <p:nvSpPr>
          <p:cNvPr id="21509" name="Text Box 5">
            <a:extLst>
              <a:ext uri="{FF2B5EF4-FFF2-40B4-BE49-F238E27FC236}">
                <a16:creationId xmlns="" xmlns:a16="http://schemas.microsoft.com/office/drawing/2014/main" id="{E7ACA01B-BF6F-49A1-B944-6BBBE4794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5391" y="2464981"/>
            <a:ext cx="35972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356CB-9D6A-4A0C-AB15-FC6D430613DF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4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 bldLvl="3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="" xmlns:a16="http://schemas.microsoft.com/office/drawing/2014/main" id="{951779A5-E2A2-4697-95F6-53B4646B65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7576" y="1737361"/>
            <a:ext cx="3886200" cy="5257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 smtClean="0">
                <a:solidFill>
                  <a:srgbClr val="0000FF"/>
                </a:solidFill>
              </a:rPr>
              <a:t>                         MACRO</a:t>
            </a:r>
            <a:endParaRPr lang="en-US" sz="1400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 smtClean="0">
                <a:solidFill>
                  <a:srgbClr val="0000FF"/>
                </a:solidFill>
              </a:rPr>
              <a:t>&amp;a0</a:t>
            </a:r>
            <a:r>
              <a:rPr lang="en-US" sz="1400" dirty="0">
                <a:solidFill>
                  <a:srgbClr val="0000FF"/>
                </a:solidFill>
              </a:rPr>
              <a:t>	   VARY	&amp;CNT</a:t>
            </a:r>
            <a:r>
              <a:rPr lang="en-US" sz="1400" dirty="0" smtClean="0">
                <a:solidFill>
                  <a:srgbClr val="0000FF"/>
                </a:solidFill>
              </a:rPr>
              <a:t>, &amp;a1, &amp;a2, &amp;a3</a:t>
            </a:r>
            <a:endParaRPr lang="en-US" sz="1400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 smtClean="0">
                <a:solidFill>
                  <a:srgbClr val="0000FF"/>
                </a:solidFill>
              </a:rPr>
              <a:t>&amp;a0</a:t>
            </a:r>
            <a:r>
              <a:rPr lang="en-US" sz="1400" dirty="0">
                <a:solidFill>
                  <a:srgbClr val="0000FF"/>
                </a:solidFill>
              </a:rPr>
              <a:t>	   A	1</a:t>
            </a:r>
            <a:r>
              <a:rPr lang="en-US" sz="1400" dirty="0" smtClean="0">
                <a:solidFill>
                  <a:srgbClr val="0000FF"/>
                </a:solidFill>
              </a:rPr>
              <a:t>, &amp;a1</a:t>
            </a:r>
            <a:endParaRPr lang="en-US" sz="1400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>
                <a:solidFill>
                  <a:srgbClr val="0000FF"/>
                </a:solidFill>
              </a:rPr>
              <a:t>		   AIF	(&amp;CNT EQ 1) </a:t>
            </a:r>
            <a:r>
              <a:rPr lang="en-US" sz="1400" dirty="0" smtClean="0">
                <a:solidFill>
                  <a:srgbClr val="0000FF"/>
                </a:solidFill>
              </a:rPr>
              <a:t>.FINI</a:t>
            </a:r>
            <a:endParaRPr lang="en-US" sz="1400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>
                <a:solidFill>
                  <a:srgbClr val="0000FF"/>
                </a:solidFill>
              </a:rPr>
              <a:t>		   A	2</a:t>
            </a:r>
            <a:r>
              <a:rPr lang="en-US" sz="1400" dirty="0" smtClean="0">
                <a:solidFill>
                  <a:srgbClr val="0000FF"/>
                </a:solidFill>
              </a:rPr>
              <a:t>,&amp; a2</a:t>
            </a:r>
            <a:endParaRPr lang="en-US" sz="1400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>
                <a:solidFill>
                  <a:srgbClr val="0000FF"/>
                </a:solidFill>
              </a:rPr>
              <a:t>		   AIF	(&amp;CNT EQ 2) </a:t>
            </a:r>
            <a:r>
              <a:rPr lang="en-US" sz="1400" dirty="0" smtClean="0">
                <a:solidFill>
                  <a:srgbClr val="0000FF"/>
                </a:solidFill>
              </a:rPr>
              <a:t>.FINI</a:t>
            </a:r>
            <a:endParaRPr lang="en-US" sz="1400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>
                <a:solidFill>
                  <a:srgbClr val="0000FF"/>
                </a:solidFill>
              </a:rPr>
              <a:t>		   A	</a:t>
            </a:r>
            <a:r>
              <a:rPr lang="en-US" sz="1400" dirty="0" smtClean="0">
                <a:solidFill>
                  <a:srgbClr val="0000FF"/>
                </a:solidFill>
              </a:rPr>
              <a:t>3, &amp;a3</a:t>
            </a:r>
            <a:endParaRPr lang="en-US" sz="1400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 smtClean="0">
                <a:solidFill>
                  <a:srgbClr val="0000FF"/>
                </a:solidFill>
              </a:rPr>
              <a:t>.FINI                MEND</a:t>
            </a:r>
            <a:endParaRPr lang="en-US" sz="1400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/>
              <a:t>		   :	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/>
              <a:t>		   :	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b="1" dirty="0">
                <a:solidFill>
                  <a:srgbClr val="FF0000"/>
                </a:solidFill>
              </a:rPr>
              <a:t>LOOP1	   VARY	3, A1, A2, A3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/>
              <a:t>		   :	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/>
              <a:t>		   :	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b="1" dirty="0">
                <a:solidFill>
                  <a:srgbClr val="336600"/>
                </a:solidFill>
              </a:rPr>
              <a:t>LOOP2	   VARY      </a:t>
            </a:r>
            <a:r>
              <a:rPr lang="en-US" sz="1400" b="1" dirty="0" smtClean="0">
                <a:solidFill>
                  <a:srgbClr val="336600"/>
                </a:solidFill>
              </a:rPr>
              <a:t>	2, A3, A2</a:t>
            </a:r>
            <a:endParaRPr lang="en-US" sz="1400" b="1" dirty="0">
              <a:solidFill>
                <a:srgbClr val="3366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/>
              <a:t>		   :	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>
                <a:solidFill>
                  <a:schemeClr val="accent5">
                    <a:lumMod val="50000"/>
                  </a:schemeClr>
                </a:solidFill>
              </a:rPr>
              <a:t>		   :	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b="1" dirty="0">
                <a:solidFill>
                  <a:srgbClr val="CC6600"/>
                </a:solidFill>
              </a:rPr>
              <a:t>LOOP3	   VARY	1</a:t>
            </a:r>
            <a:r>
              <a:rPr lang="en-US" sz="1400" b="1" dirty="0" smtClean="0">
                <a:solidFill>
                  <a:srgbClr val="CC6600"/>
                </a:solidFill>
              </a:rPr>
              <a:t>, A1</a:t>
            </a:r>
            <a:r>
              <a:rPr lang="en-US" sz="1400" b="1" dirty="0">
                <a:solidFill>
                  <a:srgbClr val="CC6600"/>
                </a:solidFill>
              </a:rPr>
              <a:t>	</a:t>
            </a:r>
            <a:r>
              <a:rPr lang="en-US" sz="1400" dirty="0"/>
              <a:t>	   </a:t>
            </a:r>
            <a:endParaRPr lang="en-US" sz="1400" dirty="0" smtClean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/>
              <a:t>	</a:t>
            </a:r>
            <a:r>
              <a:rPr lang="en-US" sz="1400" dirty="0" smtClean="0"/>
              <a:t>	   :</a:t>
            </a:r>
            <a:r>
              <a:rPr lang="en-US" sz="1400" dirty="0"/>
              <a:t>	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/>
              <a:t>		   :	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/>
              <a:t>A1	</a:t>
            </a:r>
            <a:r>
              <a:rPr lang="en-US" sz="1400" dirty="0" smtClean="0"/>
              <a:t>DC</a:t>
            </a:r>
            <a:r>
              <a:rPr lang="en-US" sz="1400" dirty="0"/>
              <a:t>	F’5’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/>
              <a:t>A2	</a:t>
            </a:r>
            <a:r>
              <a:rPr lang="en-US" sz="1400" dirty="0" smtClean="0"/>
              <a:t>DC</a:t>
            </a:r>
            <a:r>
              <a:rPr lang="en-US" sz="1400" dirty="0"/>
              <a:t>	F’15’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sz="1400" dirty="0"/>
              <a:t>A3	</a:t>
            </a:r>
            <a:r>
              <a:rPr lang="en-US" sz="1400" dirty="0" smtClean="0"/>
              <a:t>DC</a:t>
            </a:r>
            <a:r>
              <a:rPr lang="en-US" sz="1400" dirty="0"/>
              <a:t>	F’10’</a:t>
            </a:r>
          </a:p>
        </p:txBody>
      </p:sp>
      <p:sp>
        <p:nvSpPr>
          <p:cNvPr id="22531" name="Rectangle 4">
            <a:extLst>
              <a:ext uri="{FF2B5EF4-FFF2-40B4-BE49-F238E27FC236}">
                <a16:creationId xmlns="" xmlns:a16="http://schemas.microsoft.com/office/drawing/2014/main" id="{68D141C3-3203-4193-9312-A0A769F4E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5"/>
            <a:ext cx="7543800" cy="929762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4000" b="1"/>
              <a:t>Conditional Macro Expansion</a:t>
            </a:r>
          </a:p>
        </p:txBody>
      </p:sp>
      <p:sp>
        <p:nvSpPr>
          <p:cNvPr id="22532" name="Text Box 6">
            <a:extLst>
              <a:ext uri="{FF2B5EF4-FFF2-40B4-BE49-F238E27FC236}">
                <a16:creationId xmlns="" xmlns:a16="http://schemas.microsoft.com/office/drawing/2014/main" id="{D33654C1-359E-43B7-ADE7-92724214C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9160" y="1737361"/>
            <a:ext cx="4054475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Times New Roman" panose="02020603050405020304" pitchFamily="18" charset="0"/>
              </a:rPr>
              <a:t>// Expanded Source code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LOOP1	A	1</a:t>
            </a:r>
            <a:r>
              <a:rPr lang="en-US" altLang="en-US" sz="1600" dirty="0" smtClean="0">
                <a:latin typeface="Times New Roman" panose="02020603050405020304" pitchFamily="18" charset="0"/>
              </a:rPr>
              <a:t>, A1</a:t>
            </a:r>
            <a:endParaRPr lang="en-US" altLang="en-US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A	2</a:t>
            </a:r>
            <a:r>
              <a:rPr lang="en-US" altLang="en-US" sz="1600" dirty="0" smtClean="0">
                <a:latin typeface="Times New Roman" panose="02020603050405020304" pitchFamily="18" charset="0"/>
              </a:rPr>
              <a:t>, A2</a:t>
            </a:r>
            <a:endParaRPr lang="en-US" altLang="en-US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A	3</a:t>
            </a:r>
            <a:r>
              <a:rPr lang="en-US" altLang="en-US" sz="1600" dirty="0" smtClean="0">
                <a:latin typeface="Times New Roman" panose="02020603050405020304" pitchFamily="18" charset="0"/>
              </a:rPr>
              <a:t>, A3</a:t>
            </a:r>
            <a:endParaRPr lang="en-US" altLang="en-US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LOOP2	A	1</a:t>
            </a:r>
            <a:r>
              <a:rPr lang="en-US" altLang="en-US" sz="1600" dirty="0" smtClean="0">
                <a:latin typeface="Times New Roman" panose="02020603050405020304" pitchFamily="18" charset="0"/>
              </a:rPr>
              <a:t>, A3</a:t>
            </a:r>
            <a:endParaRPr lang="en-US" altLang="en-US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A	2</a:t>
            </a:r>
            <a:r>
              <a:rPr lang="en-US" altLang="en-US" sz="1600" dirty="0" smtClean="0">
                <a:latin typeface="Times New Roman" panose="02020603050405020304" pitchFamily="18" charset="0"/>
              </a:rPr>
              <a:t>, A2</a:t>
            </a:r>
            <a:endParaRPr lang="en-US" altLang="en-US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LOOP3	A	1</a:t>
            </a:r>
            <a:r>
              <a:rPr lang="en-US" altLang="en-US" sz="1600" dirty="0" smtClean="0">
                <a:latin typeface="Times New Roman" panose="02020603050405020304" pitchFamily="18" charset="0"/>
              </a:rPr>
              <a:t>, A1</a:t>
            </a:r>
            <a:endParaRPr lang="en-US" altLang="en-US" sz="16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	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A1	DC	F’5’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A2	DC	F’15’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A3	DC	F’10’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 dirty="0">
              <a:latin typeface="Times New Roman" panose="02020603050405020304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3476847" y="2902688"/>
            <a:ext cx="1105786" cy="11802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eft Brace 5"/>
          <p:cNvSpPr/>
          <p:nvPr/>
        </p:nvSpPr>
        <p:spPr>
          <a:xfrm>
            <a:off x="4512990" y="2381693"/>
            <a:ext cx="265814" cy="520995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253563" y="4082902"/>
            <a:ext cx="1329070" cy="6592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Left Brace 8"/>
          <p:cNvSpPr/>
          <p:nvPr/>
        </p:nvSpPr>
        <p:spPr>
          <a:xfrm>
            <a:off x="4467536" y="3561908"/>
            <a:ext cx="287079" cy="285151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945219" y="4603897"/>
            <a:ext cx="1763941" cy="7868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60A5D-1976-45AF-914E-539CC47C5C92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3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19682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dirty="0"/>
              <a:t> AIF , .FINI, AGO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.FINI </a:t>
            </a:r>
            <a:r>
              <a:rPr lang="en-US" dirty="0" smtClean="0"/>
              <a:t>:- it is macro label and don’t appear in output of macro processor.</a:t>
            </a:r>
          </a:p>
          <a:p>
            <a:pPr algn="just"/>
            <a:r>
              <a:rPr lang="en-US" b="1" dirty="0" smtClean="0"/>
              <a:t>AIF(&amp;count EQ 1).FINI</a:t>
            </a:r>
            <a:r>
              <a:rPr lang="en-US" dirty="0" smtClean="0"/>
              <a:t>:- The </a:t>
            </a:r>
            <a:r>
              <a:rPr lang="en-US" dirty="0" err="1" smtClean="0"/>
              <a:t>pseuodo</a:t>
            </a:r>
            <a:r>
              <a:rPr lang="en-US" dirty="0" smtClean="0"/>
              <a:t> op directs the macro processor to skip the statement labeled .FINI, if “&amp;count” value is 1; otherwise , the macro processor is to continue with the statement following AIF </a:t>
            </a:r>
            <a:r>
              <a:rPr lang="en-US" dirty="0" err="1" smtClean="0"/>
              <a:t>pseuodo</a:t>
            </a:r>
            <a:r>
              <a:rPr lang="en-US" dirty="0" smtClean="0"/>
              <a:t> op.</a:t>
            </a:r>
          </a:p>
          <a:p>
            <a:pPr algn="just"/>
            <a:r>
              <a:rPr lang="en-US" b="1" dirty="0" smtClean="0"/>
              <a:t>AGO:- </a:t>
            </a:r>
            <a:r>
              <a:rPr lang="en-US" dirty="0" smtClean="0"/>
              <a:t>it is unconditional branch pseudo op like “go to”.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BD92-A03B-42C7-8EB5-601AE2D5A648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="" xmlns:a16="http://schemas.microsoft.com/office/drawing/2014/main" id="{D8ACD641-0C85-4076-B0AF-B94656722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5"/>
            <a:ext cx="7543800" cy="851080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4000" b="1"/>
              <a:t>Design of Two pass macro Processor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="" xmlns:a16="http://schemas.microsoft.com/office/drawing/2014/main" id="{F799C2E1-8ED0-4CFF-ABAB-71C3EA0A4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Pass-1 </a:t>
            </a:r>
            <a:r>
              <a:rPr lang="en-US" altLang="en-US" dirty="0" smtClean="0">
                <a:solidFill>
                  <a:schemeClr val="tx1"/>
                </a:solidFill>
              </a:rPr>
              <a:t>:</a:t>
            </a:r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 smtClean="0">
                <a:solidFill>
                  <a:schemeClr val="tx1"/>
                </a:solidFill>
              </a:rPr>
              <a:t>Recognizes </a:t>
            </a:r>
            <a:r>
              <a:rPr lang="en-US" altLang="en-US" dirty="0">
                <a:solidFill>
                  <a:schemeClr val="tx1"/>
                </a:solidFill>
              </a:rPr>
              <a:t>Macro Definition</a:t>
            </a:r>
          </a:p>
          <a:p>
            <a:pPr lvl="1"/>
            <a:r>
              <a:rPr lang="en-US" altLang="en-US" dirty="0" smtClean="0">
                <a:solidFill>
                  <a:schemeClr val="tx1"/>
                </a:solidFill>
              </a:rPr>
              <a:t>Stores </a:t>
            </a:r>
            <a:r>
              <a:rPr lang="en-US" altLang="en-US" dirty="0">
                <a:solidFill>
                  <a:schemeClr val="tx1"/>
                </a:solidFill>
              </a:rPr>
              <a:t>Macro Instruction Definitions</a:t>
            </a:r>
          </a:p>
          <a:p>
            <a:pPr lvl="1">
              <a:buFont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Pass-2 </a:t>
            </a:r>
            <a:r>
              <a:rPr lang="en-US" altLang="en-US" dirty="0" smtClean="0">
                <a:solidFill>
                  <a:schemeClr val="tx1"/>
                </a:solidFill>
              </a:rPr>
              <a:t>:</a:t>
            </a:r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altLang="en-US" dirty="0" smtClean="0">
                <a:solidFill>
                  <a:schemeClr val="tx1"/>
                </a:solidFill>
              </a:rPr>
              <a:t>Recognizes </a:t>
            </a:r>
            <a:r>
              <a:rPr lang="en-US" altLang="en-US" dirty="0">
                <a:solidFill>
                  <a:schemeClr val="tx1"/>
                </a:solidFill>
              </a:rPr>
              <a:t>Macro Calls</a:t>
            </a:r>
          </a:p>
          <a:p>
            <a:pPr lvl="1"/>
            <a:r>
              <a:rPr lang="en-US" altLang="en-US" dirty="0" smtClean="0">
                <a:solidFill>
                  <a:schemeClr val="tx1"/>
                </a:solidFill>
              </a:rPr>
              <a:t>Expands </a:t>
            </a:r>
            <a:r>
              <a:rPr lang="en-US" altLang="en-US" dirty="0">
                <a:solidFill>
                  <a:schemeClr val="tx1"/>
                </a:solidFill>
              </a:rPr>
              <a:t>calls and substitute actual arguments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4AC1-7645-46CE-9370-FF0216F18911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7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 bldLvl="4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="" xmlns:a16="http://schemas.microsoft.com/office/drawing/2014/main" id="{7DCD2845-35D0-4926-8279-AF3441CBB9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5"/>
            <a:ext cx="7543800" cy="861712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4000" b="1" dirty="0" smtClean="0"/>
              <a:t>Specifications </a:t>
            </a:r>
            <a:r>
              <a:rPr lang="en-US" altLang="en-US" sz="4000" b="1" dirty="0"/>
              <a:t>of Data Structures 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="" xmlns:a16="http://schemas.microsoft.com/office/drawing/2014/main" id="{4F1309A0-9B54-4364-A2B8-6F7D49090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651" y="1768549"/>
            <a:ext cx="7602279" cy="450466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1800" b="1" dirty="0"/>
              <a:t>Pass-1 </a:t>
            </a:r>
            <a:r>
              <a:rPr lang="en-US" altLang="en-US" sz="1800" b="1" dirty="0" smtClean="0"/>
              <a:t>Data structures/ programs </a:t>
            </a:r>
            <a:r>
              <a:rPr lang="en-US" altLang="en-US" sz="1800" b="1" dirty="0"/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Source program with macro definitions and macro calls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Output file without macro definitions &amp; with macro calls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Macro Definition Table (MDT)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Macro Name Table (MNT)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Argument List Array (ALA) 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Macro Definition Table Counter (MDTC</a:t>
            </a:r>
            <a:r>
              <a:rPr lang="en-US" altLang="en-US" sz="1600" dirty="0" smtClean="0"/>
              <a:t>) :</a:t>
            </a:r>
            <a:r>
              <a:rPr lang="en-US" altLang="en-US" sz="1600" dirty="0" smtClean="0">
                <a:sym typeface="Wingdings" panose="05000000000000000000" pitchFamily="2" charset="2"/>
              </a:rPr>
              <a:t> </a:t>
            </a:r>
            <a:r>
              <a:rPr lang="en-US" altLang="en-US" sz="1600" dirty="0">
                <a:sym typeface="Wingdings" panose="05000000000000000000" pitchFamily="2" charset="2"/>
              </a:rPr>
              <a:t>Integer Variable</a:t>
            </a:r>
            <a:endParaRPr lang="en-US" altLang="en-US" sz="1600" dirty="0"/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Macro Name Table Counter (MNTC</a:t>
            </a:r>
            <a:r>
              <a:rPr lang="en-US" altLang="en-US" sz="1600" dirty="0" smtClean="0"/>
              <a:t>):</a:t>
            </a:r>
            <a:r>
              <a:rPr lang="en-US" altLang="en-US" sz="1600" dirty="0" smtClean="0">
                <a:sym typeface="Wingdings" panose="05000000000000000000" pitchFamily="2" charset="2"/>
              </a:rPr>
              <a:t> </a:t>
            </a:r>
            <a:r>
              <a:rPr lang="en-US" altLang="en-US" sz="1600" dirty="0">
                <a:sym typeface="Wingdings" panose="05000000000000000000" pitchFamily="2" charset="2"/>
              </a:rPr>
              <a:t>Integer Variable</a:t>
            </a:r>
            <a:endParaRPr lang="en-US" altLang="en-US" sz="1600" dirty="0"/>
          </a:p>
          <a:p>
            <a:pPr lvl="1">
              <a:lnSpc>
                <a:spcPct val="80000"/>
              </a:lnSpc>
            </a:pPr>
            <a:endParaRPr lang="en-US" altLang="en-US" sz="1600" dirty="0"/>
          </a:p>
          <a:p>
            <a:pPr>
              <a:lnSpc>
                <a:spcPct val="80000"/>
              </a:lnSpc>
            </a:pPr>
            <a:r>
              <a:rPr lang="en-US" altLang="en-US" sz="1800" b="1" dirty="0"/>
              <a:t>Pass-2 </a:t>
            </a:r>
            <a:r>
              <a:rPr lang="en-US" altLang="en-US" sz="1800" b="1" dirty="0" smtClean="0"/>
              <a:t>Data structures/programs </a:t>
            </a:r>
            <a:r>
              <a:rPr lang="en-US" altLang="en-US" sz="1800" b="1" dirty="0"/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Input file without macro definitions &amp; with macro calls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Expanded output file without macro definitions &amp; macro calls (Free from Macro)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 smtClean="0"/>
              <a:t>Refers Macro </a:t>
            </a:r>
            <a:r>
              <a:rPr lang="en-US" altLang="en-US" sz="1600" dirty="0"/>
              <a:t>Definition Table (MDT) created by Pass-1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 smtClean="0"/>
              <a:t>Refers Macro </a:t>
            </a:r>
            <a:r>
              <a:rPr lang="en-US" altLang="en-US" sz="1600" dirty="0"/>
              <a:t>Name Table (MNT) created by Pass-1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Argument List Array (ALA) </a:t>
            </a:r>
            <a:r>
              <a:rPr lang="en-US" altLang="en-US" sz="1600" dirty="0" smtClean="0"/>
              <a:t>to map formal parameters with actual</a:t>
            </a:r>
            <a:endParaRPr lang="en-US" altLang="en-US" sz="1600" dirty="0"/>
          </a:p>
          <a:p>
            <a:pPr lvl="1">
              <a:lnSpc>
                <a:spcPct val="80000"/>
              </a:lnSpc>
            </a:pPr>
            <a:r>
              <a:rPr lang="en-US" altLang="en-US" sz="1600" dirty="0"/>
              <a:t>Macro Definition Table Pointer (MDTP</a:t>
            </a:r>
            <a:r>
              <a:rPr lang="en-US" altLang="en-US" sz="1600" dirty="0" smtClean="0"/>
              <a:t>):</a:t>
            </a:r>
            <a:r>
              <a:rPr lang="en-US" altLang="en-US" sz="1600" dirty="0" smtClean="0">
                <a:sym typeface="Wingdings" panose="05000000000000000000" pitchFamily="2" charset="2"/>
              </a:rPr>
              <a:t> </a:t>
            </a:r>
            <a:r>
              <a:rPr lang="en-US" altLang="en-US" sz="1600" dirty="0">
                <a:sym typeface="Wingdings" panose="05000000000000000000" pitchFamily="2" charset="2"/>
              </a:rPr>
              <a:t>Integer Variable</a:t>
            </a:r>
            <a:endParaRPr lang="en-US" altLang="en-US" sz="1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97048-DC03-488F-9D92-822C627A1054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8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bldLvl="4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="" xmlns:a16="http://schemas.microsoft.com/office/drawing/2014/main" id="{3A7B37CC-9C47-4329-A10D-400BF180FF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5"/>
            <a:ext cx="7543800" cy="787284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4000" b="1" dirty="0"/>
              <a:t>Formats of Data Structures</a:t>
            </a:r>
          </a:p>
        </p:txBody>
      </p:sp>
      <p:graphicFrame>
        <p:nvGraphicFramePr>
          <p:cNvPr id="69683" name="Group 51">
            <a:extLst>
              <a:ext uri="{FF2B5EF4-FFF2-40B4-BE49-F238E27FC236}">
                <a16:creationId xmlns="" xmlns:a16="http://schemas.microsoft.com/office/drawing/2014/main" id="{66FB2565-79FF-4A75-81B4-861D42C08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335572"/>
              </p:ext>
            </p:extLst>
          </p:nvPr>
        </p:nvGraphicFramePr>
        <p:xfrm>
          <a:off x="1190495" y="1965324"/>
          <a:ext cx="4724400" cy="42672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MNTC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Macro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MDTC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SUB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   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761" name="Text Box 33">
            <a:extLst>
              <a:ext uri="{FF2B5EF4-FFF2-40B4-BE49-F238E27FC236}">
                <a16:creationId xmlns="" xmlns:a16="http://schemas.microsoft.com/office/drawing/2014/main" id="{D5BEF21E-6DE8-4B54-9080-9B4A29835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" y="1321169"/>
            <a:ext cx="441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 Macro Name Table (MNT)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72151" y="2537138"/>
            <a:ext cx="1255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ADDS</a:t>
            </a:r>
            <a:endParaRPr lang="en-IN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305622" y="2537138"/>
            <a:ext cx="1255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1</a:t>
            </a:r>
            <a:endParaRPr lang="en-IN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1238304" y="3101662"/>
            <a:ext cx="1255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304" y="3501772"/>
            <a:ext cx="1255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.</a:t>
            </a:r>
          </a:p>
          <a:p>
            <a:r>
              <a:rPr lang="en-IN" sz="20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5CAB5-776A-4844-B6BC-C61A9EF93491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="" xmlns:a16="http://schemas.microsoft.com/office/drawing/2014/main" id="{BB55AC36-BF65-4C13-BF11-D90D2CCFC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4000" b="1" dirty="0"/>
              <a:t>Formats of Data Structures (Cont..)</a:t>
            </a:r>
          </a:p>
        </p:txBody>
      </p:sp>
      <p:graphicFrame>
        <p:nvGraphicFramePr>
          <p:cNvPr id="68660" name="Group 52">
            <a:extLst>
              <a:ext uri="{FF2B5EF4-FFF2-40B4-BE49-F238E27FC236}">
                <a16:creationId xmlns="" xmlns:a16="http://schemas.microsoft.com/office/drawing/2014/main" id="{B1E38FEE-BE13-48FA-8D11-BFB6E62AB4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9777569"/>
              </p:ext>
            </p:extLst>
          </p:nvPr>
        </p:nvGraphicFramePr>
        <p:xfrm>
          <a:off x="685800" y="2137145"/>
          <a:ext cx="7772400" cy="4545414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050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MDTC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Macro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Definition Instruction Entry (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80 bytes per entry)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50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 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50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50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050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050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050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: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50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050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728" name="Text Box 32">
            <a:extLst>
              <a:ext uri="{FF2B5EF4-FFF2-40B4-BE49-F238E27FC236}">
                <a16:creationId xmlns="" xmlns:a16="http://schemas.microsoft.com/office/drawing/2014/main" id="{C49E61A5-309D-4728-8AD4-9CC8ACB5E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600200"/>
            <a:ext cx="441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 b="1">
                <a:latin typeface="Times New Roman" panose="02020603050405020304" pitchFamily="18" charset="0"/>
              </a:rPr>
              <a:t> Macro Definition Table (MDT)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6391" y="2679405"/>
            <a:ext cx="476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</a:pPr>
            <a:r>
              <a:rPr lang="en-US" dirty="0">
                <a:latin typeface="Arial" panose="020B0604020202020204" pitchFamily="34" charset="0"/>
                <a:ea typeface="新細明體" panose="02020500000000000000" pitchFamily="18" charset="-120"/>
              </a:rPr>
              <a:t>&amp; Lab        ADDS     &amp;A1, &amp;A2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594" y="3242930"/>
            <a:ext cx="69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1956391" y="3242930"/>
            <a:ext cx="476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</a:pPr>
            <a:r>
              <a:rPr lang="en-US" dirty="0">
                <a:latin typeface="Arial" panose="020B0604020202020204" pitchFamily="34" charset="0"/>
                <a:ea typeface="新細明體" panose="02020500000000000000" pitchFamily="18" charset="-120"/>
              </a:rPr>
              <a:t>#0              A             1, 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594" y="3713938"/>
            <a:ext cx="69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391" y="3754117"/>
            <a:ext cx="476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</a:pPr>
            <a:r>
              <a:rPr lang="en-US" dirty="0"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  <a:r>
              <a:rPr lang="en-US" dirty="0" smtClean="0">
                <a:latin typeface="Arial" panose="020B0604020202020204" pitchFamily="34" charset="0"/>
                <a:ea typeface="新細明體" panose="02020500000000000000" pitchFamily="18" charset="-120"/>
              </a:rPr>
              <a:t>	    A             </a:t>
            </a:r>
            <a:r>
              <a:rPr lang="en-US" dirty="0">
                <a:latin typeface="Arial" panose="020B0604020202020204" pitchFamily="34" charset="0"/>
                <a:ea typeface="新細明體" panose="02020500000000000000" pitchFamily="18" charset="-120"/>
              </a:rPr>
              <a:t>1</a:t>
            </a:r>
            <a:r>
              <a:rPr lang="en-US" dirty="0" smtClean="0">
                <a:latin typeface="Arial" panose="020B0604020202020204" pitchFamily="34" charset="0"/>
                <a:ea typeface="新細明體" panose="02020500000000000000" pitchFamily="18" charset="-120"/>
              </a:rPr>
              <a:t>, #</a:t>
            </a:r>
            <a:r>
              <a:rPr lang="en-US" dirty="0">
                <a:latin typeface="Arial" panose="020B0604020202020204" pitchFamily="34" charset="0"/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594" y="4192034"/>
            <a:ext cx="69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1842577" y="4211313"/>
            <a:ext cx="476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</a:pPr>
            <a:r>
              <a:rPr lang="en-US" dirty="0"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  <a:r>
              <a:rPr lang="en-US" dirty="0" smtClean="0">
                <a:latin typeface="Arial" panose="020B0604020202020204" pitchFamily="34" charset="0"/>
                <a:ea typeface="新細明體" panose="02020500000000000000" pitchFamily="18" charset="-120"/>
              </a:rPr>
              <a:t>	    MEND</a:t>
            </a:r>
            <a:endParaRPr 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3476" y="4719529"/>
            <a:ext cx="691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7887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2" grpId="0"/>
      <p:bldP spid="13" grpId="0"/>
      <p:bldP spid="14" grpId="0"/>
      <p:bldP spid="15" grpId="0"/>
      <p:bldP spid="11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="" xmlns:a16="http://schemas.microsoft.com/office/drawing/2014/main" id="{C336763A-0A43-4193-A64E-28AAC8977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5"/>
            <a:ext cx="7543800" cy="712856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en-US" sz="4000" b="1"/>
              <a:t>Formats of Data Structures (Cont..)</a:t>
            </a:r>
          </a:p>
        </p:txBody>
      </p:sp>
      <p:graphicFrame>
        <p:nvGraphicFramePr>
          <p:cNvPr id="70700" name="Group 44">
            <a:extLst>
              <a:ext uri="{FF2B5EF4-FFF2-40B4-BE49-F238E27FC236}">
                <a16:creationId xmlns="" xmlns:a16="http://schemas.microsoft.com/office/drawing/2014/main" id="{617F88D1-8F48-48A0-8909-2E55502EF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708839"/>
              </p:ext>
            </p:extLst>
          </p:nvPr>
        </p:nvGraphicFramePr>
        <p:xfrm>
          <a:off x="1031543" y="2557710"/>
          <a:ext cx="4724400" cy="3902076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7011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Index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Formal Arguments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Actual Arguments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334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334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334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334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334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      :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334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      :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10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Monotype Sorts" pitchFamily="2" charset="2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709" name="Text Box 42">
            <a:extLst>
              <a:ext uri="{FF2B5EF4-FFF2-40B4-BE49-F238E27FC236}">
                <a16:creationId xmlns="" xmlns:a16="http://schemas.microsoft.com/office/drawing/2014/main" id="{DADBEEAA-63CD-4B8E-A4A5-16A13756F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724696"/>
            <a:ext cx="441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2000" b="1">
                <a:latin typeface="Times New Roman" panose="02020603050405020304" pitchFamily="18" charset="0"/>
              </a:rPr>
              <a:t> Arguments List Array (ALA)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AAA79-BEA7-4E30-B988-57CF89BD7F97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392072" y="3321800"/>
            <a:ext cx="49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2087541" y="3360291"/>
            <a:ext cx="84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&amp;Lab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1392072" y="3894528"/>
            <a:ext cx="49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0667" y="3894528"/>
            <a:ext cx="84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&amp;A1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1392072" y="4419763"/>
            <a:ext cx="49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2150666" y="4461997"/>
            <a:ext cx="84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&amp;A2</a:t>
            </a: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1392071" y="4991075"/>
            <a:ext cx="49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4359" y="3360291"/>
            <a:ext cx="84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1572" y="3875547"/>
            <a:ext cx="84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1690" y="4416302"/>
            <a:ext cx="84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88094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67183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b="1" dirty="0"/>
              <a:t>Two Pass Macro 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Data structures used in two pass macro processor:-</a:t>
            </a:r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749808" lvl="1" indent="-457200">
              <a:buFont typeface="+mj-lt"/>
              <a:buAutoNum type="arabicPeriod"/>
            </a:pPr>
            <a:r>
              <a:rPr lang="en-US" dirty="0" smtClean="0"/>
              <a:t>Macro Definition Table(MDT) – Store definition of macro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/>
              <a:t>Macro </a:t>
            </a:r>
            <a:r>
              <a:rPr lang="en-US" dirty="0" smtClean="0"/>
              <a:t>Name Table (MNT)– Store name of macro along with address of macro definition.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 smtClean="0"/>
              <a:t>Argument List Array (ALA) – used to substitute index markers for dummy arguments before storing a macro definition.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 smtClean="0"/>
              <a:t>Macro definition table counter (MDTC) – used to indicate the next available entry in the MDT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 smtClean="0"/>
              <a:t>Macro </a:t>
            </a:r>
            <a:r>
              <a:rPr lang="en-US" dirty="0"/>
              <a:t>n</a:t>
            </a:r>
            <a:r>
              <a:rPr lang="en-US" dirty="0" smtClean="0"/>
              <a:t>ame table counter (MNTC) – used to indicate the next available entry in MNT.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dirty="0" smtClean="0"/>
              <a:t>Macro definition table pointer (MDTP) – used to indicate the next line of text to be used during macro expansion.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0CF-A269-431F-AB91-A39760023B01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/>
          <p:cNvGrpSpPr/>
          <p:nvPr/>
        </p:nvGrpSpPr>
        <p:grpSpPr>
          <a:xfrm>
            <a:off x="228600" y="228600"/>
            <a:ext cx="8382000" cy="6477794"/>
            <a:chOff x="228600" y="228600"/>
            <a:chExt cx="8382000" cy="6477794"/>
          </a:xfrm>
        </p:grpSpPr>
        <p:sp>
          <p:nvSpPr>
            <p:cNvPr id="2" name="Rectangle 1"/>
            <p:cNvSpPr/>
            <p:nvPr/>
          </p:nvSpPr>
          <p:spPr>
            <a:xfrm>
              <a:off x="838200" y="228600"/>
              <a:ext cx="990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Pass1</a:t>
              </a:r>
              <a:endParaRPr lang="en-US" dirty="0"/>
            </a:p>
          </p:txBody>
        </p:sp>
        <p:sp>
          <p:nvSpPr>
            <p:cNvPr id="3" name="Rectangle 2"/>
            <p:cNvSpPr/>
            <p:nvPr/>
          </p:nvSpPr>
          <p:spPr>
            <a:xfrm>
              <a:off x="381000" y="838200"/>
              <a:ext cx="19050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MDTC </a:t>
              </a:r>
              <a:r>
                <a:rPr lang="en-US" sz="1400" dirty="0" smtClean="0">
                  <a:sym typeface="Wingdings" pitchFamily="2" charset="2"/>
                </a:rPr>
                <a:t> 1</a:t>
              </a:r>
            </a:p>
            <a:p>
              <a:pPr algn="ctr"/>
              <a:r>
                <a:rPr lang="en-US" sz="1400" dirty="0" smtClean="0">
                  <a:sym typeface="Wingdings" pitchFamily="2" charset="2"/>
                </a:rPr>
                <a:t>MNTC 1</a:t>
              </a:r>
              <a:endParaRPr lang="en-US" sz="1400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381000" y="1600200"/>
              <a:ext cx="19050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Read Next Source Card</a:t>
              </a:r>
              <a:endParaRPr lang="en-US" sz="1400" dirty="0"/>
            </a:p>
          </p:txBody>
        </p:sp>
        <p:sp>
          <p:nvSpPr>
            <p:cNvPr id="5" name="Diamond 4"/>
            <p:cNvSpPr/>
            <p:nvPr/>
          </p:nvSpPr>
          <p:spPr>
            <a:xfrm>
              <a:off x="457200" y="2286000"/>
              <a:ext cx="1752600" cy="7620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MACRO Pseudo op ?</a:t>
              </a:r>
              <a:endParaRPr lang="en-US" sz="12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57200" y="3276600"/>
              <a:ext cx="19050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Read Next Source Card</a:t>
              </a:r>
              <a:endParaRPr lang="en-US" sz="14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81000" y="3962400"/>
              <a:ext cx="2057400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Enter Macro Name &amp; Current value of MDTC in MNT</a:t>
              </a:r>
              <a:endParaRPr lang="en-US" sz="14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81000" y="5029200"/>
              <a:ext cx="20574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MNTC</a:t>
              </a:r>
              <a:r>
                <a:rPr lang="en-US" dirty="0" smtClean="0">
                  <a:sym typeface="Wingdings" pitchFamily="2" charset="2"/>
                </a:rPr>
                <a:t>MNTC+1</a:t>
              </a:r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200" y="5715000"/>
              <a:ext cx="1828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Prepare ALA</a:t>
              </a:r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71800" y="3200400"/>
              <a:ext cx="1828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Prepare macro name card and add into MDT</a:t>
              </a:r>
              <a:endParaRPr lang="en-US" sz="12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971800" y="3962400"/>
              <a:ext cx="1828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MDTC</a:t>
              </a:r>
              <a:r>
                <a:rPr lang="en-US" dirty="0" smtClean="0">
                  <a:sym typeface="Wingdings" pitchFamily="2" charset="2"/>
                </a:rPr>
                <a:t>MDTC+1</a:t>
              </a: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715000" y="2743200"/>
              <a:ext cx="1828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Read Next Source Card</a:t>
              </a:r>
              <a:endParaRPr lang="en-US" sz="12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715000" y="3429000"/>
              <a:ext cx="1828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Substitute index Notation for Arguments</a:t>
              </a:r>
              <a:endParaRPr lang="en-US" sz="12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15000" y="4419600"/>
              <a:ext cx="1828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/>
                <a:t>Enter Line into MDT</a:t>
              </a:r>
              <a:endParaRPr lang="en-US" sz="16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715000" y="5105400"/>
              <a:ext cx="1828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MDTC</a:t>
              </a:r>
              <a:r>
                <a:rPr lang="en-US" dirty="0" smtClean="0">
                  <a:sym typeface="Wingdings" pitchFamily="2" charset="2"/>
                </a:rPr>
                <a:t> MDTC+1</a:t>
              </a:r>
              <a:endParaRPr lang="en-US" dirty="0"/>
            </a:p>
          </p:txBody>
        </p:sp>
        <p:sp>
          <p:nvSpPr>
            <p:cNvPr id="16" name="Diamond 15"/>
            <p:cNvSpPr/>
            <p:nvPr/>
          </p:nvSpPr>
          <p:spPr>
            <a:xfrm>
              <a:off x="5791200" y="5867400"/>
              <a:ext cx="1752600" cy="7620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MEND Pseudo op ?</a:t>
              </a:r>
              <a:endParaRPr lang="en-US" sz="1200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895600" y="1676400"/>
              <a:ext cx="1828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Write copy of source card</a:t>
              </a:r>
              <a:endParaRPr lang="en-US" sz="1200" dirty="0"/>
            </a:p>
          </p:txBody>
        </p:sp>
        <p:sp>
          <p:nvSpPr>
            <p:cNvPr id="18" name="Diamond 17"/>
            <p:cNvSpPr/>
            <p:nvPr/>
          </p:nvSpPr>
          <p:spPr>
            <a:xfrm>
              <a:off x="5334000" y="685800"/>
              <a:ext cx="1752600" cy="7620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END</a:t>
              </a:r>
            </a:p>
            <a:p>
              <a:pPr algn="ctr"/>
              <a:r>
                <a:rPr lang="en-US" sz="1200" dirty="0" smtClean="0"/>
                <a:t>Pseudo op ?</a:t>
              </a:r>
              <a:endParaRPr lang="en-US" sz="120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696200" y="533400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GO TO PASS2</a:t>
              </a:r>
              <a:endParaRPr lang="en-US" dirty="0"/>
            </a:p>
          </p:txBody>
        </p:sp>
        <p:cxnSp>
          <p:nvCxnSpPr>
            <p:cNvPr id="21" name="Straight Arrow Connector 20"/>
            <p:cNvCxnSpPr>
              <a:stCxn id="2" idx="2"/>
              <a:endCxn id="3" idx="0"/>
            </p:cNvCxnSpPr>
            <p:nvPr/>
          </p:nvCxnSpPr>
          <p:spPr>
            <a:xfrm rot="5400000">
              <a:off x="1257300" y="76200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3" idx="2"/>
              <a:endCxn id="4" idx="0"/>
            </p:cNvCxnSpPr>
            <p:nvPr/>
          </p:nvCxnSpPr>
          <p:spPr>
            <a:xfrm rot="5400000">
              <a:off x="1219200" y="14859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4" idx="2"/>
              <a:endCxn id="5" idx="0"/>
            </p:cNvCxnSpPr>
            <p:nvPr/>
          </p:nvCxnSpPr>
          <p:spPr>
            <a:xfrm rot="5400000">
              <a:off x="1219200" y="21717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5" idx="2"/>
            </p:cNvCxnSpPr>
            <p:nvPr/>
          </p:nvCxnSpPr>
          <p:spPr>
            <a:xfrm rot="5400000">
              <a:off x="1200150" y="3143250"/>
              <a:ext cx="2286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rot="5400000">
              <a:off x="1104900" y="38481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rot="5400000">
              <a:off x="1104900" y="49149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rot="5400000">
              <a:off x="1104900" y="56007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837406" y="4648200"/>
              <a:ext cx="3658394" cy="7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219200" y="6477000"/>
              <a:ext cx="1447800" cy="1588"/>
            </a:xfrm>
            <a:prstGeom prst="straightConnector1">
              <a:avLst/>
            </a:prstGeom>
            <a:ln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1066800" y="6324600"/>
              <a:ext cx="3048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2667000" y="2819400"/>
              <a:ext cx="12192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endCxn id="10" idx="0"/>
            </p:cNvCxnSpPr>
            <p:nvPr/>
          </p:nvCxnSpPr>
          <p:spPr>
            <a:xfrm rot="5400000">
              <a:off x="3695700" y="3009900"/>
              <a:ext cx="381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0" idx="2"/>
              <a:endCxn id="11" idx="0"/>
            </p:cNvCxnSpPr>
            <p:nvPr/>
          </p:nvCxnSpPr>
          <p:spPr>
            <a:xfrm rot="5400000">
              <a:off x="3733800" y="3810000"/>
              <a:ext cx="304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11" idx="2"/>
            </p:cNvCxnSpPr>
            <p:nvPr/>
          </p:nvCxnSpPr>
          <p:spPr>
            <a:xfrm rot="5400000">
              <a:off x="3619500" y="4686300"/>
              <a:ext cx="533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3886200" y="4953000"/>
              <a:ext cx="1371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 flipH="1" flipV="1">
              <a:off x="3962400" y="3657600"/>
              <a:ext cx="25908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5257800" y="2362200"/>
              <a:ext cx="12192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rot="5400000">
              <a:off x="6286500" y="2552700"/>
              <a:ext cx="381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rot="5400000">
              <a:off x="6362700" y="33147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 rot="5400000">
              <a:off x="6324600" y="4267200"/>
              <a:ext cx="304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rot="5400000">
              <a:off x="6362700" y="49911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15" idx="2"/>
              <a:endCxn id="16" idx="0"/>
            </p:cNvCxnSpPr>
            <p:nvPr/>
          </p:nvCxnSpPr>
          <p:spPr>
            <a:xfrm rot="16200000" flipH="1">
              <a:off x="6496050" y="5695950"/>
              <a:ext cx="3048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>
              <a:stCxn id="16" idx="3"/>
            </p:cNvCxnSpPr>
            <p:nvPr/>
          </p:nvCxnSpPr>
          <p:spPr>
            <a:xfrm>
              <a:off x="7543800" y="6248400"/>
              <a:ext cx="914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 flipH="1" flipV="1">
              <a:off x="6781800" y="4572000"/>
              <a:ext cx="33528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rot="10800000">
              <a:off x="7543800" y="2819400"/>
              <a:ext cx="914400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16" idx="1"/>
              <a:endCxn id="67" idx="3"/>
            </p:cNvCxnSpPr>
            <p:nvPr/>
          </p:nvCxnSpPr>
          <p:spPr>
            <a:xfrm rot="10800000">
              <a:off x="5031380" y="6244046"/>
              <a:ext cx="759821" cy="43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5400000">
              <a:off x="2971800" y="6477000"/>
              <a:ext cx="4572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10800000">
              <a:off x="228600" y="6629400"/>
              <a:ext cx="2971800" cy="762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 flipH="1" flipV="1">
              <a:off x="-2209006" y="4191000"/>
              <a:ext cx="4876006" cy="7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endCxn id="4" idx="1"/>
            </p:cNvCxnSpPr>
            <p:nvPr/>
          </p:nvCxnSpPr>
          <p:spPr>
            <a:xfrm>
              <a:off x="228600" y="1752600"/>
              <a:ext cx="152400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endCxn id="17" idx="1"/>
            </p:cNvCxnSpPr>
            <p:nvPr/>
          </p:nvCxnSpPr>
          <p:spPr>
            <a:xfrm>
              <a:off x="2590800" y="1905000"/>
              <a:ext cx="304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17" idx="3"/>
            </p:cNvCxnSpPr>
            <p:nvPr/>
          </p:nvCxnSpPr>
          <p:spPr>
            <a:xfrm>
              <a:off x="4724400" y="1905000"/>
              <a:ext cx="15240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endCxn id="18" idx="2"/>
            </p:cNvCxnSpPr>
            <p:nvPr/>
          </p:nvCxnSpPr>
          <p:spPr>
            <a:xfrm rot="16200000" flipV="1">
              <a:off x="6000750" y="1657350"/>
              <a:ext cx="4572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18" idx="3"/>
              <a:endCxn id="19" idx="1"/>
            </p:cNvCxnSpPr>
            <p:nvPr/>
          </p:nvCxnSpPr>
          <p:spPr>
            <a:xfrm flipV="1">
              <a:off x="7086600" y="990600"/>
              <a:ext cx="609600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7657011" y="5967047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No</a:t>
              </a:r>
              <a:endParaRPr lang="en-US" sz="1200" dirty="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144589" y="5974768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Yes</a:t>
              </a:r>
              <a:endParaRPr lang="en-US" sz="1200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295400" y="297180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Yes</a:t>
              </a:r>
              <a:endParaRPr lang="en-US" sz="1200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2133600" y="243840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No</a:t>
              </a:r>
              <a:endParaRPr lang="en-US" sz="1200" dirty="0"/>
            </a:p>
          </p:txBody>
        </p:sp>
        <p:cxnSp>
          <p:nvCxnSpPr>
            <p:cNvPr id="96" name="Straight Connector 95"/>
            <p:cNvCxnSpPr/>
            <p:nvPr/>
          </p:nvCxnSpPr>
          <p:spPr>
            <a:xfrm rot="5400000">
              <a:off x="2209800" y="2286000"/>
              <a:ext cx="7620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5" idx="3"/>
            </p:cNvCxnSpPr>
            <p:nvPr/>
          </p:nvCxnSpPr>
          <p:spPr>
            <a:xfrm>
              <a:off x="2209800" y="2667000"/>
              <a:ext cx="3810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/>
          </p:nvSpPr>
          <p:spPr>
            <a:xfrm>
              <a:off x="5715000" y="38100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No</a:t>
              </a:r>
              <a:endParaRPr lang="en-US" sz="1200" dirty="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7086600" y="685800"/>
              <a:ext cx="533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Yes</a:t>
              </a:r>
              <a:endParaRPr lang="en-US" sz="1200" dirty="0"/>
            </a:p>
          </p:txBody>
        </p:sp>
        <p:cxnSp>
          <p:nvCxnSpPr>
            <p:cNvPr id="102" name="Straight Connector 101"/>
            <p:cNvCxnSpPr>
              <a:stCxn id="18" idx="0"/>
            </p:cNvCxnSpPr>
            <p:nvPr/>
          </p:nvCxnSpPr>
          <p:spPr>
            <a:xfrm rot="16200000" flipV="1">
              <a:off x="5962650" y="438150"/>
              <a:ext cx="457200" cy="38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rot="10800000">
              <a:off x="2590800" y="228600"/>
              <a:ext cx="3581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rot="5400000">
              <a:off x="1866900" y="952500"/>
              <a:ext cx="14478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/>
            <p:nvPr/>
          </p:nvCxnSpPr>
          <p:spPr>
            <a:xfrm rot="10800000">
              <a:off x="2286000" y="1676400"/>
              <a:ext cx="304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/>
          <p:cNvSpPr/>
          <p:nvPr/>
        </p:nvSpPr>
        <p:spPr>
          <a:xfrm>
            <a:off x="3202579" y="6015446"/>
            <a:ext cx="1828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Add MEND  in  MDT,</a:t>
            </a:r>
          </a:p>
          <a:p>
            <a:pPr algn="ctr"/>
            <a:r>
              <a:rPr lang="en-US" sz="1200" dirty="0" smtClean="0"/>
              <a:t>MDTC</a:t>
            </a:r>
            <a:r>
              <a:rPr lang="en-US" sz="1200" dirty="0" smtClean="0">
                <a:sym typeface="Wingdings" pitchFamily="2" charset="2"/>
              </a:rPr>
              <a:t> MDTC+1</a:t>
            </a:r>
            <a:endParaRPr lang="en-US" sz="1200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>
          <a:xfrm>
            <a:off x="7206392" y="6448958"/>
            <a:ext cx="984019" cy="365125"/>
          </a:xfrm>
        </p:spPr>
        <p:txBody>
          <a:bodyPr/>
          <a:lstStyle/>
          <a:p>
            <a:fld id="{428E721A-F7CA-4705-81EC-A2370FE3F56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194C2-CD5A-4945-A3F9-A2624C02AF6B}" type="datetime1">
              <a:rPr lang="en-US" smtClean="0"/>
              <a:t>9/27/2021</a:t>
            </a:fld>
            <a:endParaRPr lang="en-US"/>
          </a:p>
        </p:txBody>
      </p:sp>
      <p:sp>
        <p:nvSpPr>
          <p:cNvPr id="26" name="Right Arrow 25"/>
          <p:cNvSpPr/>
          <p:nvPr/>
        </p:nvSpPr>
        <p:spPr>
          <a:xfrm>
            <a:off x="8425591" y="6448958"/>
            <a:ext cx="610985" cy="3759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hlinkClick r:id="rId2" action="ppaction://hlinkpres?slideindex=21&amp;slidetitle=PowerPoint Presentation"/>
              </a:rPr>
              <a:t>21</a:t>
            </a:r>
            <a:endParaRPr lang="en-IN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4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"/>
            <a:ext cx="32004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Source Code :</a:t>
            </a:r>
          </a:p>
          <a:p>
            <a:endParaRPr lang="en-US" b="1" u="sng" dirty="0" smtClean="0"/>
          </a:p>
          <a:p>
            <a:r>
              <a:rPr lang="en-US" sz="1200" dirty="0" smtClean="0"/>
              <a:t>MAC 	START	100</a:t>
            </a:r>
          </a:p>
          <a:p>
            <a:r>
              <a:rPr lang="en-US" sz="1200" dirty="0"/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MACRO	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&amp;A0	ADD1	 &amp;A1, &amp;A2, &amp;A3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&amp;A0</a:t>
            </a:r>
            <a:r>
              <a:rPr lang="en-US" sz="1200" dirty="0">
                <a:solidFill>
                  <a:srgbClr val="FF0000"/>
                </a:solidFill>
              </a:rPr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L	1, &amp;A1</a:t>
            </a:r>
          </a:p>
          <a:p>
            <a:r>
              <a:rPr lang="en-US" sz="1200" dirty="0">
                <a:solidFill>
                  <a:srgbClr val="FF0000"/>
                </a:solidFill>
              </a:rPr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L	2, &amp;A2</a:t>
            </a:r>
          </a:p>
          <a:p>
            <a:r>
              <a:rPr lang="en-US" sz="1200" dirty="0">
                <a:solidFill>
                  <a:srgbClr val="FF0000"/>
                </a:solidFill>
              </a:rPr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AR	1, 2</a:t>
            </a:r>
          </a:p>
          <a:p>
            <a:r>
              <a:rPr lang="en-US" sz="1200" dirty="0">
                <a:solidFill>
                  <a:srgbClr val="FF0000"/>
                </a:solidFill>
              </a:rPr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MUL	1, &amp;A3</a:t>
            </a:r>
          </a:p>
          <a:p>
            <a:r>
              <a:rPr lang="en-US" sz="1200" dirty="0">
                <a:solidFill>
                  <a:srgbClr val="FF0000"/>
                </a:solidFill>
              </a:rPr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ST	N, 1</a:t>
            </a:r>
          </a:p>
          <a:p>
            <a:r>
              <a:rPr lang="en-US" sz="1200" dirty="0">
                <a:solidFill>
                  <a:srgbClr val="FF0000"/>
                </a:solidFill>
              </a:rPr>
              <a:t>	</a:t>
            </a:r>
            <a:r>
              <a:rPr lang="en-US" sz="1200" dirty="0" smtClean="0">
                <a:solidFill>
                  <a:srgbClr val="FF0000"/>
                </a:solidFill>
              </a:rPr>
              <a:t>MEND</a:t>
            </a:r>
          </a:p>
          <a:p>
            <a:r>
              <a:rPr lang="en-US" sz="1200" dirty="0"/>
              <a:t>	</a:t>
            </a:r>
            <a:r>
              <a:rPr lang="en-US" sz="1200" dirty="0" smtClean="0">
                <a:solidFill>
                  <a:srgbClr val="7030A0"/>
                </a:solidFill>
              </a:rPr>
              <a:t>MACRO</a:t>
            </a:r>
          </a:p>
          <a:p>
            <a:r>
              <a:rPr lang="en-US" sz="1200" dirty="0">
                <a:solidFill>
                  <a:srgbClr val="7030A0"/>
                </a:solidFill>
              </a:rPr>
              <a:t>	</a:t>
            </a:r>
            <a:r>
              <a:rPr lang="en-US" sz="1200" dirty="0" smtClean="0">
                <a:solidFill>
                  <a:srgbClr val="7030A0"/>
                </a:solidFill>
              </a:rPr>
              <a:t>SUB	&amp;P1, &amp;P2</a:t>
            </a:r>
          </a:p>
          <a:p>
            <a:r>
              <a:rPr lang="en-US" sz="1200" dirty="0">
                <a:solidFill>
                  <a:srgbClr val="7030A0"/>
                </a:solidFill>
              </a:rPr>
              <a:t>	</a:t>
            </a:r>
            <a:r>
              <a:rPr lang="en-US" sz="1200" dirty="0" smtClean="0">
                <a:solidFill>
                  <a:srgbClr val="7030A0"/>
                </a:solidFill>
              </a:rPr>
              <a:t>L	1, &amp;P1</a:t>
            </a:r>
          </a:p>
          <a:p>
            <a:r>
              <a:rPr lang="en-US" sz="1200" dirty="0">
                <a:solidFill>
                  <a:srgbClr val="7030A0"/>
                </a:solidFill>
              </a:rPr>
              <a:t>	</a:t>
            </a:r>
            <a:r>
              <a:rPr lang="en-US" sz="1200" dirty="0" smtClean="0">
                <a:solidFill>
                  <a:srgbClr val="7030A0"/>
                </a:solidFill>
              </a:rPr>
              <a:t>S	1, &amp;P2</a:t>
            </a:r>
          </a:p>
          <a:p>
            <a:r>
              <a:rPr lang="en-US" sz="1200" dirty="0">
                <a:solidFill>
                  <a:srgbClr val="7030A0"/>
                </a:solidFill>
              </a:rPr>
              <a:t>	</a:t>
            </a:r>
            <a:r>
              <a:rPr lang="en-US" sz="1200" dirty="0" smtClean="0">
                <a:solidFill>
                  <a:srgbClr val="7030A0"/>
                </a:solidFill>
              </a:rPr>
              <a:t>ST	2, 1</a:t>
            </a:r>
          </a:p>
          <a:p>
            <a:r>
              <a:rPr lang="en-US" sz="1200" dirty="0">
                <a:solidFill>
                  <a:srgbClr val="7030A0"/>
                </a:solidFill>
              </a:rPr>
              <a:t>	</a:t>
            </a:r>
            <a:r>
              <a:rPr lang="en-US" sz="1200" dirty="0" smtClean="0">
                <a:solidFill>
                  <a:srgbClr val="7030A0"/>
                </a:solidFill>
              </a:rPr>
              <a:t>MEND</a:t>
            </a:r>
          </a:p>
          <a:p>
            <a:r>
              <a:rPr lang="en-US" sz="1200" dirty="0" smtClean="0"/>
              <a:t>TOTAL	EQU	5</a:t>
            </a:r>
          </a:p>
          <a:p>
            <a:r>
              <a:rPr lang="en-US" sz="1200" dirty="0"/>
              <a:t>	</a:t>
            </a:r>
            <a:r>
              <a:rPr lang="en-US" sz="1200" dirty="0" smtClean="0"/>
              <a:t>L	1,D1</a:t>
            </a:r>
          </a:p>
          <a:p>
            <a:r>
              <a:rPr lang="en-US" sz="1200" dirty="0"/>
              <a:t>	</a:t>
            </a:r>
            <a:r>
              <a:rPr lang="en-US" sz="1200" dirty="0" smtClean="0"/>
              <a:t>SR	2,2</a:t>
            </a:r>
          </a:p>
          <a:p>
            <a:r>
              <a:rPr lang="en-US" sz="1200" dirty="0"/>
              <a:t>	</a:t>
            </a:r>
            <a:r>
              <a:rPr lang="en-US" sz="1200" dirty="0" smtClean="0"/>
              <a:t>A	1,=F’5’</a:t>
            </a:r>
          </a:p>
          <a:p>
            <a:r>
              <a:rPr lang="en-US" sz="1200" dirty="0"/>
              <a:t>	</a:t>
            </a:r>
            <a:r>
              <a:rPr lang="en-US" sz="1200" b="1" dirty="0" smtClean="0">
                <a:solidFill>
                  <a:srgbClr val="00B0F0"/>
                </a:solidFill>
              </a:rPr>
              <a:t>ADD1	LOOP1, D1, D2, D3</a:t>
            </a:r>
          </a:p>
          <a:p>
            <a:r>
              <a:rPr lang="en-US" sz="1200" dirty="0"/>
              <a:t>	</a:t>
            </a:r>
            <a:r>
              <a:rPr lang="en-US" sz="1200" dirty="0" smtClean="0"/>
              <a:t>ST	2, 1</a:t>
            </a:r>
          </a:p>
          <a:p>
            <a:r>
              <a:rPr lang="en-US" sz="1200" dirty="0"/>
              <a:t>	</a:t>
            </a:r>
            <a:r>
              <a:rPr lang="en-US" sz="1200" dirty="0" smtClean="0"/>
              <a:t>AR	TOTAL, 2</a:t>
            </a:r>
          </a:p>
          <a:p>
            <a:r>
              <a:rPr lang="en-US" sz="1200" dirty="0"/>
              <a:t>	</a:t>
            </a:r>
            <a:r>
              <a:rPr lang="en-US" sz="1200" b="1" dirty="0" smtClean="0">
                <a:solidFill>
                  <a:srgbClr val="00B0F0"/>
                </a:solidFill>
              </a:rPr>
              <a:t>SUB	X, Y</a:t>
            </a:r>
          </a:p>
          <a:p>
            <a:r>
              <a:rPr lang="en-US" sz="1200" dirty="0"/>
              <a:t>	</a:t>
            </a:r>
            <a:r>
              <a:rPr lang="en-US" sz="1200" dirty="0" smtClean="0"/>
              <a:t>BR	14</a:t>
            </a:r>
          </a:p>
          <a:p>
            <a:r>
              <a:rPr lang="en-US" sz="1200" dirty="0" smtClean="0"/>
              <a:t>D1	DC	F’3’</a:t>
            </a:r>
          </a:p>
          <a:p>
            <a:r>
              <a:rPr lang="en-US" sz="1200" dirty="0" smtClean="0"/>
              <a:t>D2	DC	F’45’</a:t>
            </a:r>
          </a:p>
          <a:p>
            <a:r>
              <a:rPr lang="en-US" sz="1200" dirty="0" smtClean="0"/>
              <a:t>D3	DC	F’21’</a:t>
            </a:r>
          </a:p>
          <a:p>
            <a:r>
              <a:rPr lang="en-US" sz="1200" dirty="0" smtClean="0"/>
              <a:t>X	DC	F’10’</a:t>
            </a:r>
          </a:p>
          <a:p>
            <a:r>
              <a:rPr lang="en-US" sz="1200" dirty="0" smtClean="0"/>
              <a:t>Y	DC	F’20’</a:t>
            </a:r>
          </a:p>
          <a:p>
            <a:r>
              <a:rPr lang="en-US" sz="1200" dirty="0"/>
              <a:t>	</a:t>
            </a:r>
            <a:r>
              <a:rPr lang="en-US" sz="1200" dirty="0" smtClean="0"/>
              <a:t>END</a:t>
            </a:r>
            <a:r>
              <a:rPr lang="en-US" dirty="0"/>
              <a:t>	</a:t>
            </a:r>
            <a:endParaRPr lang="en-US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4954648" y="0"/>
            <a:ext cx="376183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Intermediate Code after pass1:</a:t>
            </a:r>
          </a:p>
          <a:p>
            <a:endParaRPr lang="en-US" sz="1400" dirty="0" smtClean="0"/>
          </a:p>
          <a:p>
            <a:r>
              <a:rPr lang="en-US" sz="1400" dirty="0" smtClean="0"/>
              <a:t>MAC 	START	100</a:t>
            </a:r>
          </a:p>
          <a:p>
            <a:r>
              <a:rPr lang="en-US" sz="1400" dirty="0" smtClean="0"/>
              <a:t>TOTAL	EQU	5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L	1, D1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SR	2, 2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A	1, =F’5’</a:t>
            </a:r>
          </a:p>
          <a:p>
            <a:r>
              <a:rPr lang="en-US" sz="1400" dirty="0"/>
              <a:t>	</a:t>
            </a:r>
            <a:r>
              <a:rPr lang="en-US" sz="1400" b="1" dirty="0" smtClean="0">
                <a:solidFill>
                  <a:srgbClr val="00B0F0"/>
                </a:solidFill>
              </a:rPr>
              <a:t>ADD1	LOOP1, D1, D2, D3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ST	2, 1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AR	TOTAL, 2</a:t>
            </a:r>
          </a:p>
          <a:p>
            <a:r>
              <a:rPr lang="en-US" sz="1400" dirty="0"/>
              <a:t>	</a:t>
            </a:r>
            <a:r>
              <a:rPr lang="en-US" sz="1400" b="1" dirty="0" smtClean="0">
                <a:solidFill>
                  <a:srgbClr val="00B0F0"/>
                </a:solidFill>
              </a:rPr>
              <a:t>SUB	X, Y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BR	14</a:t>
            </a:r>
          </a:p>
          <a:p>
            <a:r>
              <a:rPr lang="en-US" sz="1400" dirty="0" smtClean="0"/>
              <a:t>D1	DC	F’3’</a:t>
            </a:r>
          </a:p>
          <a:p>
            <a:r>
              <a:rPr lang="en-US" sz="1400" dirty="0" smtClean="0"/>
              <a:t>D2	DC	F’45’</a:t>
            </a:r>
          </a:p>
          <a:p>
            <a:r>
              <a:rPr lang="en-US" sz="1400" dirty="0" smtClean="0"/>
              <a:t>D3	DC	F’21’</a:t>
            </a:r>
          </a:p>
          <a:p>
            <a:r>
              <a:rPr lang="en-US" sz="1400" dirty="0" smtClean="0"/>
              <a:t>X	DC	F’10’</a:t>
            </a:r>
          </a:p>
          <a:p>
            <a:r>
              <a:rPr lang="en-US" sz="1400" dirty="0" smtClean="0"/>
              <a:t>Y	DC	F’20’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END</a:t>
            </a:r>
            <a:r>
              <a:rPr lang="en-US" sz="2000" dirty="0"/>
              <a:t>	</a:t>
            </a:r>
            <a:endParaRPr lang="en-US" sz="2000" dirty="0" smtClean="0"/>
          </a:p>
        </p:txBody>
      </p:sp>
      <p:cxnSp>
        <p:nvCxnSpPr>
          <p:cNvPr id="5" name="Straight Connector 4"/>
          <p:cNvCxnSpPr/>
          <p:nvPr/>
        </p:nvCxnSpPr>
        <p:spPr>
          <a:xfrm rot="16200000" flipH="1">
            <a:off x="907869" y="3141616"/>
            <a:ext cx="6361611" cy="78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D5DB0-B5FC-4026-9F3A-9DF582CE349E}" type="datetime1">
              <a:rPr lang="en-US" smtClean="0"/>
              <a:t>9/27/2021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ight Arrow 7">
            <a:hlinkClick r:id="rId2" action="ppaction://hlinkpres?slideindex=35&amp;slidetitle=PowerPoint Presentation"/>
          </p:cNvPr>
          <p:cNvSpPr/>
          <p:nvPr/>
        </p:nvSpPr>
        <p:spPr>
          <a:xfrm>
            <a:off x="7820167" y="5745707"/>
            <a:ext cx="896320" cy="6159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35</a:t>
            </a:r>
            <a:endParaRPr lang="en-IN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614870" y="3387286"/>
            <a:ext cx="1752414" cy="20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764639" y="627797"/>
            <a:ext cx="2190009" cy="29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33400" y="815144"/>
            <a:ext cx="2960427" cy="24739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100" dirty="0" smtClean="0">
                <a:solidFill>
                  <a:srgbClr val="FF0000"/>
                </a:solidFill>
              </a:rPr>
              <a:t>	MACRO</a:t>
            </a:r>
            <a:r>
              <a:rPr lang="en-US" sz="1100" dirty="0">
                <a:solidFill>
                  <a:srgbClr val="FF0000"/>
                </a:solidFill>
              </a:rPr>
              <a:t>	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&amp;A0	ADD1	 &amp;A1, &amp;A2, &amp;A3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&amp;A0	L	1, &amp;A1</a:t>
            </a:r>
          </a:p>
          <a:p>
            <a:r>
              <a:rPr lang="en-US" sz="1100" dirty="0">
                <a:solidFill>
                  <a:srgbClr val="FF0000"/>
                </a:solidFill>
              </a:rPr>
              <a:t>	L	2, &amp;A2</a:t>
            </a:r>
          </a:p>
          <a:p>
            <a:r>
              <a:rPr lang="en-US" sz="1100" dirty="0">
                <a:solidFill>
                  <a:srgbClr val="FF0000"/>
                </a:solidFill>
              </a:rPr>
              <a:t>	AR	1, 2</a:t>
            </a:r>
          </a:p>
          <a:p>
            <a:r>
              <a:rPr lang="en-US" sz="1100" dirty="0">
                <a:solidFill>
                  <a:srgbClr val="FF0000"/>
                </a:solidFill>
              </a:rPr>
              <a:t>	MUL	1, &amp;A3</a:t>
            </a:r>
          </a:p>
          <a:p>
            <a:r>
              <a:rPr lang="en-US" sz="1100" dirty="0">
                <a:solidFill>
                  <a:srgbClr val="FF0000"/>
                </a:solidFill>
              </a:rPr>
              <a:t>	ST	N, 1</a:t>
            </a:r>
          </a:p>
          <a:p>
            <a:r>
              <a:rPr lang="en-US" sz="1100" dirty="0">
                <a:solidFill>
                  <a:srgbClr val="FF0000"/>
                </a:solidFill>
              </a:rPr>
              <a:t>	MEND</a:t>
            </a:r>
          </a:p>
          <a:p>
            <a:r>
              <a:rPr lang="en-US" sz="1100" dirty="0"/>
              <a:t>	</a:t>
            </a:r>
            <a:r>
              <a:rPr lang="en-US" sz="1100" dirty="0">
                <a:solidFill>
                  <a:srgbClr val="7030A0"/>
                </a:solidFill>
              </a:rPr>
              <a:t>MACRO</a:t>
            </a:r>
          </a:p>
          <a:p>
            <a:r>
              <a:rPr lang="en-US" sz="1100" dirty="0">
                <a:solidFill>
                  <a:srgbClr val="7030A0"/>
                </a:solidFill>
              </a:rPr>
              <a:t>	SUB	&amp;P1, &amp;P2</a:t>
            </a:r>
          </a:p>
          <a:p>
            <a:r>
              <a:rPr lang="en-US" sz="1100" dirty="0">
                <a:solidFill>
                  <a:srgbClr val="7030A0"/>
                </a:solidFill>
              </a:rPr>
              <a:t>	L	1, &amp;P1</a:t>
            </a:r>
          </a:p>
          <a:p>
            <a:r>
              <a:rPr lang="en-US" sz="1100" dirty="0">
                <a:solidFill>
                  <a:srgbClr val="7030A0"/>
                </a:solidFill>
              </a:rPr>
              <a:t>	S	1, &amp;P2</a:t>
            </a:r>
          </a:p>
          <a:p>
            <a:r>
              <a:rPr lang="en-US" sz="1100" dirty="0">
                <a:solidFill>
                  <a:srgbClr val="7030A0"/>
                </a:solidFill>
              </a:rPr>
              <a:t>	ST	2, 1</a:t>
            </a:r>
          </a:p>
          <a:p>
            <a:r>
              <a:rPr lang="en-US" sz="1100" dirty="0">
                <a:solidFill>
                  <a:srgbClr val="7030A0"/>
                </a:solidFill>
              </a:rPr>
              <a:t>	MEND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4367284" y="968991"/>
            <a:ext cx="696035" cy="2428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Arrow 18">
            <a:hlinkClick r:id="rId3" action="ppaction://hlinkpres?slideindex=47&amp;slidetitle=PowerPoint Presentation"/>
          </p:cNvPr>
          <p:cNvSpPr/>
          <p:nvPr/>
        </p:nvSpPr>
        <p:spPr>
          <a:xfrm>
            <a:off x="7820167" y="5131558"/>
            <a:ext cx="896320" cy="614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47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271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957936"/>
              </p:ext>
            </p:extLst>
          </p:nvPr>
        </p:nvGraphicFramePr>
        <p:xfrm>
          <a:off x="152400" y="609600"/>
          <a:ext cx="358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93800"/>
                <a:gridCol w="1193800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61762"/>
              </p:ext>
            </p:extLst>
          </p:nvPr>
        </p:nvGraphicFramePr>
        <p:xfrm>
          <a:off x="4114800" y="533400"/>
          <a:ext cx="4800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4671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</a:t>
                      </a:r>
                      <a:r>
                        <a:rPr lang="en-US" baseline="0" dirty="0" smtClean="0"/>
                        <a:t> Card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96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Definition Table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Name Table </a:t>
            </a:r>
            <a:r>
              <a:rPr lang="en-US" b="1" dirty="0" smtClean="0"/>
              <a:t>: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308672"/>
              </p:ext>
            </p:extLst>
          </p:nvPr>
        </p:nvGraphicFramePr>
        <p:xfrm>
          <a:off x="228600" y="2819400"/>
          <a:ext cx="3196988" cy="3100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838"/>
                <a:gridCol w="1356613"/>
                <a:gridCol w="1296537"/>
              </a:tblGrid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Formal </a:t>
                      </a:r>
                      <a:r>
                        <a:rPr lang="en-US" dirty="0" err="1" smtClean="0"/>
                        <a:t>Args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Actual </a:t>
                      </a:r>
                      <a:r>
                        <a:rPr lang="en-US" dirty="0" err="1" smtClean="0"/>
                        <a:t>Args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7066" y="244686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Argument List Array 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B1933-6B3A-4E1A-8E65-1882A06D7C45}" type="datetime1">
              <a:rPr lang="en-US" smtClean="0"/>
              <a:t>9/27/2021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Left Arrow 10">
            <a:hlinkClick r:id="rId2" action="ppaction://hlinkpres?slideindex=34&amp;slidetitle=PowerPoint Presentation"/>
          </p:cNvPr>
          <p:cNvSpPr/>
          <p:nvPr/>
        </p:nvSpPr>
        <p:spPr>
          <a:xfrm>
            <a:off x="7861110" y="5936776"/>
            <a:ext cx="696036" cy="39578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51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294129"/>
              </p:ext>
            </p:extLst>
          </p:nvPr>
        </p:nvGraphicFramePr>
        <p:xfrm>
          <a:off x="152400" y="609600"/>
          <a:ext cx="358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93800"/>
                <a:gridCol w="1193800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371688"/>
              </p:ext>
            </p:extLst>
          </p:nvPr>
        </p:nvGraphicFramePr>
        <p:xfrm>
          <a:off x="4114800" y="533400"/>
          <a:ext cx="4800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4671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</a:t>
                      </a:r>
                      <a:r>
                        <a:rPr lang="en-US" baseline="0" dirty="0" smtClean="0"/>
                        <a:t> Card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         ADD1  &amp;A1, &amp;A2, 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96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Definition Table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Name Table </a:t>
            </a:r>
            <a:r>
              <a:rPr lang="en-US" b="1" dirty="0" smtClean="0"/>
              <a:t>: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768535"/>
              </p:ext>
            </p:extLst>
          </p:nvPr>
        </p:nvGraphicFramePr>
        <p:xfrm>
          <a:off x="228600" y="2819400"/>
          <a:ext cx="2227997" cy="30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278"/>
                <a:gridCol w="1405719"/>
              </a:tblGrid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Formal </a:t>
                      </a:r>
                      <a:r>
                        <a:rPr lang="en-US" dirty="0" err="1" smtClean="0"/>
                        <a:t>Args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0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7066" y="244686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Argument List Array 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D0694-3537-4C5E-823D-49FC6B3E6DEA}" type="datetime1">
              <a:rPr lang="en-US" smtClean="0"/>
              <a:t>9/27/2021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278594"/>
              </p:ext>
            </p:extLst>
          </p:nvPr>
        </p:nvGraphicFramePr>
        <p:xfrm>
          <a:off x="2479344" y="2784144"/>
          <a:ext cx="1240639" cy="308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639"/>
              </a:tblGrid>
              <a:tr h="558232">
                <a:tc>
                  <a:txBody>
                    <a:bodyPr/>
                    <a:lstStyle/>
                    <a:p>
                      <a:r>
                        <a:rPr lang="en-IN" dirty="0" smtClean="0"/>
                        <a:t>Actual </a:t>
                      </a:r>
                      <a:r>
                        <a:rPr lang="en-IN" dirty="0" err="1" smtClean="0"/>
                        <a:t>Args</a:t>
                      </a:r>
                      <a:r>
                        <a:rPr lang="en-IN" dirty="0" smtClean="0"/>
                        <a:t>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946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92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07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1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32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32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Left Arrow 11">
            <a:hlinkClick r:id="rId2" action="ppaction://hlinkpres?slideindex=34&amp;slidetitle=PowerPoint Presentation"/>
          </p:cNvPr>
          <p:cNvSpPr/>
          <p:nvPr/>
        </p:nvSpPr>
        <p:spPr>
          <a:xfrm>
            <a:off x="7861110" y="5923128"/>
            <a:ext cx="696036" cy="39578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96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434131"/>
              </p:ext>
            </p:extLst>
          </p:nvPr>
        </p:nvGraphicFramePr>
        <p:xfrm>
          <a:off x="152400" y="609600"/>
          <a:ext cx="358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93800"/>
                <a:gridCol w="1193800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495347"/>
              </p:ext>
            </p:extLst>
          </p:nvPr>
        </p:nvGraphicFramePr>
        <p:xfrm>
          <a:off x="4114800" y="533400"/>
          <a:ext cx="4800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4671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</a:t>
                      </a:r>
                      <a:r>
                        <a:rPr lang="en-US" baseline="0" dirty="0" smtClean="0"/>
                        <a:t> Card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         ADD1  &amp;A1,&amp;A2,&amp;A3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#1            L          1, #2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96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Definition Table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Name Table </a:t>
            </a:r>
            <a:r>
              <a:rPr lang="en-US" b="1" dirty="0" smtClean="0"/>
              <a:t>: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263647"/>
              </p:ext>
            </p:extLst>
          </p:nvPr>
        </p:nvGraphicFramePr>
        <p:xfrm>
          <a:off x="228600" y="2819400"/>
          <a:ext cx="3415352" cy="3100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768"/>
                <a:gridCol w="1519456"/>
                <a:gridCol w="1351128"/>
              </a:tblGrid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Actual </a:t>
                      </a:r>
                      <a:r>
                        <a:rPr lang="en-US" dirty="0" err="1" smtClean="0"/>
                        <a:t>Args</a:t>
                      </a:r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0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7066" y="244686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Argument List Array 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34641-3FA5-46EB-83AD-C5A2328FBC7B}" type="datetime1">
              <a:rPr lang="en-US" smtClean="0"/>
              <a:t>9/27/2021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Left Arrow 10">
            <a:hlinkClick r:id="rId2" action="ppaction://hlinkpres?slideindex=34&amp;slidetitle=PowerPoint Presentation"/>
          </p:cNvPr>
          <p:cNvSpPr/>
          <p:nvPr/>
        </p:nvSpPr>
        <p:spPr>
          <a:xfrm>
            <a:off x="7861110" y="5923128"/>
            <a:ext cx="696036" cy="39578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12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44834"/>
              </p:ext>
            </p:extLst>
          </p:nvPr>
        </p:nvGraphicFramePr>
        <p:xfrm>
          <a:off x="152400" y="609600"/>
          <a:ext cx="358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93800"/>
                <a:gridCol w="1193800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063027"/>
              </p:ext>
            </p:extLst>
          </p:nvPr>
        </p:nvGraphicFramePr>
        <p:xfrm>
          <a:off x="4114800" y="533400"/>
          <a:ext cx="4800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4671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</a:t>
                      </a:r>
                      <a:r>
                        <a:rPr lang="en-US" baseline="0" dirty="0" smtClean="0"/>
                        <a:t> Card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         ADD1  &amp;A1,&amp;A2,&amp;A3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#1            L          1, #2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L          2, #3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96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Definition Table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Name Table </a:t>
            </a:r>
            <a:r>
              <a:rPr lang="en-US" b="1" dirty="0" smtClean="0"/>
              <a:t>: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294818"/>
              </p:ext>
            </p:extLst>
          </p:nvPr>
        </p:nvGraphicFramePr>
        <p:xfrm>
          <a:off x="228600" y="2819400"/>
          <a:ext cx="3048000" cy="30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</a:tblGrid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0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7066" y="244686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Argument List Array 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CB51-3821-4EF0-9E85-FC23557470B2}" type="datetime1">
              <a:rPr lang="en-US" smtClean="0"/>
              <a:t>9/27/2021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9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945174"/>
              </p:ext>
            </p:extLst>
          </p:nvPr>
        </p:nvGraphicFramePr>
        <p:xfrm>
          <a:off x="152400" y="609600"/>
          <a:ext cx="358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93800"/>
                <a:gridCol w="1193800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386170"/>
              </p:ext>
            </p:extLst>
          </p:nvPr>
        </p:nvGraphicFramePr>
        <p:xfrm>
          <a:off x="4114800" y="533400"/>
          <a:ext cx="4800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4671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</a:t>
                      </a:r>
                      <a:r>
                        <a:rPr lang="en-US" baseline="0" dirty="0" smtClean="0"/>
                        <a:t> Card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         ADD1  &amp;A1,&amp;A2,&amp;A3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#1            L          1, #2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L          2, #3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AR       1, 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MUL    1 , #4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96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Definition Table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Name Table </a:t>
            </a:r>
            <a:r>
              <a:rPr lang="en-US" b="1" dirty="0" smtClean="0"/>
              <a:t>: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685000"/>
              </p:ext>
            </p:extLst>
          </p:nvPr>
        </p:nvGraphicFramePr>
        <p:xfrm>
          <a:off x="228600" y="2819400"/>
          <a:ext cx="3048000" cy="30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</a:tblGrid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0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7066" y="244686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Argument List Array 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0BDA9-0904-4F34-9866-46A227A57C04}" type="datetime1">
              <a:rPr lang="en-US" smtClean="0"/>
              <a:t>9/27/2021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442717"/>
              </p:ext>
            </p:extLst>
          </p:nvPr>
        </p:nvGraphicFramePr>
        <p:xfrm>
          <a:off x="152400" y="609600"/>
          <a:ext cx="358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93800"/>
                <a:gridCol w="1193800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892739"/>
              </p:ext>
            </p:extLst>
          </p:nvPr>
        </p:nvGraphicFramePr>
        <p:xfrm>
          <a:off x="4114800" y="533400"/>
          <a:ext cx="4800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4671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</a:t>
                      </a:r>
                      <a:r>
                        <a:rPr lang="en-US" baseline="0" dirty="0" smtClean="0"/>
                        <a:t> Card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         ADD1  &amp;A1,&amp;A2,&amp;A3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#1            L          1, #2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L          2, #3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AR       1,2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MUL    1 , #4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ST        N,1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96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Definition Table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Name Table </a:t>
            </a:r>
            <a:r>
              <a:rPr lang="en-US" b="1" dirty="0" smtClean="0"/>
              <a:t>: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237667"/>
              </p:ext>
            </p:extLst>
          </p:nvPr>
        </p:nvGraphicFramePr>
        <p:xfrm>
          <a:off x="228600" y="2819400"/>
          <a:ext cx="3048000" cy="30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</a:tblGrid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0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7066" y="244686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Argument List Array 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AD141-83E0-4B58-945C-25CEEDE88C14}" type="datetime1">
              <a:rPr lang="en-US" smtClean="0"/>
              <a:t>9/27/2021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7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778910"/>
              </p:ext>
            </p:extLst>
          </p:nvPr>
        </p:nvGraphicFramePr>
        <p:xfrm>
          <a:off x="152400" y="609600"/>
          <a:ext cx="358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93800"/>
                <a:gridCol w="1193800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058339"/>
              </p:ext>
            </p:extLst>
          </p:nvPr>
        </p:nvGraphicFramePr>
        <p:xfrm>
          <a:off x="4114800" y="533400"/>
          <a:ext cx="4800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4671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</a:t>
                      </a:r>
                      <a:r>
                        <a:rPr lang="en-US" baseline="0" dirty="0" smtClean="0"/>
                        <a:t> Card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         ADD1  &amp;A1,&amp;A2,&amp;A3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#1            L          1, #2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L          2, #3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AR       1,2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MUL    1 , #4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ST        N,1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MEND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96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Definition Table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Name Table </a:t>
            </a:r>
            <a:r>
              <a:rPr lang="en-US" b="1" dirty="0" smtClean="0"/>
              <a:t>: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922001"/>
              </p:ext>
            </p:extLst>
          </p:nvPr>
        </p:nvGraphicFramePr>
        <p:xfrm>
          <a:off x="228600" y="2819400"/>
          <a:ext cx="3048000" cy="30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</a:tblGrid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0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7066" y="244686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Argument List Array 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89DCB-D086-4C36-A270-288ED3B9266E}" type="datetime1">
              <a:rPr lang="en-US" smtClean="0"/>
              <a:t>9/27/2021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3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978473"/>
              </p:ext>
            </p:extLst>
          </p:nvPr>
        </p:nvGraphicFramePr>
        <p:xfrm>
          <a:off x="152400" y="609600"/>
          <a:ext cx="358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93800"/>
                <a:gridCol w="1193800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SUB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8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758349"/>
              </p:ext>
            </p:extLst>
          </p:nvPr>
        </p:nvGraphicFramePr>
        <p:xfrm>
          <a:off x="4114800" y="533400"/>
          <a:ext cx="4800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4671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</a:t>
                      </a:r>
                      <a:r>
                        <a:rPr lang="en-US" baseline="0" dirty="0" smtClean="0"/>
                        <a:t> Card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         ADD1  &amp;A1,&amp;A2,&amp;A3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#1            L          1, #2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L          2, #3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AR       1,2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MUL    1 , #4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ST        N,1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MEND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SUB</a:t>
                      </a:r>
                      <a:r>
                        <a:rPr lang="en-US" baseline="0" dirty="0" smtClean="0"/>
                        <a:t>  &amp;P1, &amp;P2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96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Definition Table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Name Table </a:t>
            </a:r>
            <a:r>
              <a:rPr lang="en-US" b="1" dirty="0" smtClean="0"/>
              <a:t>: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956694"/>
              </p:ext>
            </p:extLst>
          </p:nvPr>
        </p:nvGraphicFramePr>
        <p:xfrm>
          <a:off x="228600" y="2819400"/>
          <a:ext cx="3048000" cy="30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</a:tblGrid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&amp;P1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&amp;P2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7066" y="244686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Argument List Array 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54ECD-904A-4797-8DD5-A4A4DEF48B30}" type="datetime1">
              <a:rPr lang="en-US" smtClean="0"/>
              <a:t>9/27/2021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8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855684"/>
              </p:ext>
            </p:extLst>
          </p:nvPr>
        </p:nvGraphicFramePr>
        <p:xfrm>
          <a:off x="152400" y="609600"/>
          <a:ext cx="358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93800"/>
                <a:gridCol w="1193800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118299"/>
              </p:ext>
            </p:extLst>
          </p:nvPr>
        </p:nvGraphicFramePr>
        <p:xfrm>
          <a:off x="4114800" y="533400"/>
          <a:ext cx="4800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4671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</a:t>
                      </a:r>
                      <a:r>
                        <a:rPr lang="en-US" baseline="0" dirty="0" smtClean="0"/>
                        <a:t> Card 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         ADD1  &amp;A1,&amp;A2,&amp;A3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#1            L          1, #2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L          2, #3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AR       1,2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MUL    1 , #4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ST        N,1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MEND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SUB</a:t>
                      </a:r>
                      <a:r>
                        <a:rPr lang="en-US" baseline="0" dirty="0" smtClean="0"/>
                        <a:t>  &amp;P1, &amp;P2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                    L	1, #5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mtClean="0"/>
                        <a:t>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96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Definition Table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Name Table </a:t>
            </a:r>
            <a:r>
              <a:rPr lang="en-US" b="1" dirty="0" smtClean="0"/>
              <a:t>: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105166"/>
              </p:ext>
            </p:extLst>
          </p:nvPr>
        </p:nvGraphicFramePr>
        <p:xfrm>
          <a:off x="228600" y="2819400"/>
          <a:ext cx="3048000" cy="30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</a:tblGrid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&amp;P1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&amp;P2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7066" y="244686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Argument List Array 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0CB0E-F6B2-4CA9-9B87-C183559A8112}" type="datetime1">
              <a:rPr lang="en-US" smtClean="0"/>
              <a:t>9/27/2021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1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855684"/>
              </p:ext>
            </p:extLst>
          </p:nvPr>
        </p:nvGraphicFramePr>
        <p:xfrm>
          <a:off x="152400" y="609600"/>
          <a:ext cx="358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93800"/>
                <a:gridCol w="1193800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841869"/>
              </p:ext>
            </p:extLst>
          </p:nvPr>
        </p:nvGraphicFramePr>
        <p:xfrm>
          <a:off x="4114800" y="533400"/>
          <a:ext cx="4800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4671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</a:t>
                      </a:r>
                      <a:r>
                        <a:rPr lang="en-US" baseline="0" dirty="0" smtClean="0"/>
                        <a:t> Card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         ADD1  &amp;A1,&amp;A2,&amp;A3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#1            L          1, #2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L          2, #3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AR       1,2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MUL    1 , #4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ST        N,1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MEND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SUB</a:t>
                      </a:r>
                      <a:r>
                        <a:rPr lang="en-US" baseline="0" dirty="0" smtClean="0"/>
                        <a:t>  &amp;P1, &amp;P2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                    L	1, #5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mtClean="0"/>
                        <a:t>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                    S	1, #6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mtClean="0"/>
                        <a:t>11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96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Definition Table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Name Table </a:t>
            </a:r>
            <a:r>
              <a:rPr lang="en-US" b="1" dirty="0" smtClean="0"/>
              <a:t>: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105166"/>
              </p:ext>
            </p:extLst>
          </p:nvPr>
        </p:nvGraphicFramePr>
        <p:xfrm>
          <a:off x="228600" y="2819400"/>
          <a:ext cx="3048000" cy="30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</a:tblGrid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&amp;P1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&amp;P2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7066" y="244686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Argument List Array 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5C56-1D13-4BFB-9281-1F6537DC7485}" type="datetime1">
              <a:rPr lang="en-US" smtClean="0"/>
              <a:t>9/27/2021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5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855684"/>
              </p:ext>
            </p:extLst>
          </p:nvPr>
        </p:nvGraphicFramePr>
        <p:xfrm>
          <a:off x="152400" y="609600"/>
          <a:ext cx="358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93800"/>
                <a:gridCol w="1193800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498483"/>
              </p:ext>
            </p:extLst>
          </p:nvPr>
        </p:nvGraphicFramePr>
        <p:xfrm>
          <a:off x="4114800" y="533400"/>
          <a:ext cx="4800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4671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</a:t>
                      </a:r>
                      <a:r>
                        <a:rPr lang="en-US" baseline="0" dirty="0" smtClean="0"/>
                        <a:t> Card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         ADD1  &amp;A1,&amp;A2,&amp;A3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#1            L          1, #2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L          2, #3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AR       1,2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MUL    1 , #4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ST        N,1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MEND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SUB</a:t>
                      </a:r>
                      <a:r>
                        <a:rPr lang="en-US" baseline="0" dirty="0" smtClean="0"/>
                        <a:t>  &amp;P1, &amp;P2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                    L	1, #5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mtClean="0"/>
                        <a:t>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                    S	1, #6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mtClean="0"/>
                        <a:t>11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                    ST	2, 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mtClean="0"/>
                        <a:t>12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                    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96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Definition Table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Name Table </a:t>
            </a:r>
            <a:r>
              <a:rPr lang="en-US" b="1" dirty="0" smtClean="0"/>
              <a:t>: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105166"/>
              </p:ext>
            </p:extLst>
          </p:nvPr>
        </p:nvGraphicFramePr>
        <p:xfrm>
          <a:off x="228600" y="2819400"/>
          <a:ext cx="3048000" cy="30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</a:tblGrid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&amp;P1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&amp;P2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7066" y="244686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Argument List Array 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ED09D-3A0A-42F8-B25C-F30CF185874A}" type="datetime1">
              <a:rPr lang="en-US" smtClean="0"/>
              <a:t>9/27/2021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3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855684"/>
              </p:ext>
            </p:extLst>
          </p:nvPr>
        </p:nvGraphicFramePr>
        <p:xfrm>
          <a:off x="152400" y="609600"/>
          <a:ext cx="3581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1193800"/>
                <a:gridCol w="1193800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 Name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429047"/>
              </p:ext>
            </p:extLst>
          </p:nvPr>
        </p:nvGraphicFramePr>
        <p:xfrm>
          <a:off x="4114800" y="533400"/>
          <a:ext cx="4800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3467100"/>
              </a:tblGrid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MDTC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Macro</a:t>
                      </a:r>
                      <a:r>
                        <a:rPr lang="en-US" baseline="0" dirty="0" smtClean="0"/>
                        <a:t> Card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         ADD1  &amp;A1,&amp;A2,&amp;A3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#1            L          1, #2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L          2, #3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AR       1,2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MUL    1 , #4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ST        N,1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MEND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            SUB</a:t>
                      </a:r>
                      <a:r>
                        <a:rPr lang="en-US" baseline="0" dirty="0" smtClean="0"/>
                        <a:t>  &amp;P1, &amp;P2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                    L	1, #5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mtClean="0"/>
                        <a:t>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                    S	1, #6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mtClean="0"/>
                        <a:t>11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                    ST	2, 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smtClean="0"/>
                        <a:t>12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                    MEND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4196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Definition Table</a:t>
            </a:r>
            <a:r>
              <a:rPr lang="en-US" b="1" dirty="0" smtClean="0"/>
              <a:t> :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524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Macro Name Table </a:t>
            </a:r>
            <a:r>
              <a:rPr lang="en-US" b="1" dirty="0" smtClean="0"/>
              <a:t>:</a:t>
            </a:r>
            <a:endParaRPr lang="en-US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773592"/>
              </p:ext>
            </p:extLst>
          </p:nvPr>
        </p:nvGraphicFramePr>
        <p:xfrm>
          <a:off x="228600" y="2819400"/>
          <a:ext cx="3347113" cy="30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460"/>
                <a:gridCol w="1183791"/>
                <a:gridCol w="1231862"/>
              </a:tblGrid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Actual </a:t>
                      </a:r>
                      <a:r>
                        <a:rPr lang="en-US" dirty="0" err="1" smtClean="0"/>
                        <a:t>args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&amp;P1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&amp;P2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7066" y="2446867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Argument List Array </a:t>
            </a:r>
            <a:r>
              <a:rPr lang="en-US" b="1" dirty="0" smtClean="0"/>
              <a:t>:</a:t>
            </a:r>
            <a:endParaRPr lang="en-US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32E28-77C0-42E3-8C87-49F4F1BA848C}" type="datetime1">
              <a:rPr lang="en-US" smtClean="0"/>
              <a:t>9/27/2021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0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/>
          <p:cNvGrpSpPr/>
          <p:nvPr/>
        </p:nvGrpSpPr>
        <p:grpSpPr>
          <a:xfrm>
            <a:off x="77385" y="-17814"/>
            <a:ext cx="8763794" cy="6477000"/>
            <a:chOff x="227806" y="228600"/>
            <a:chExt cx="8763794" cy="6477000"/>
          </a:xfrm>
        </p:grpSpPr>
        <p:sp>
          <p:nvSpPr>
            <p:cNvPr id="2" name="Rectangle 1"/>
            <p:cNvSpPr/>
            <p:nvPr/>
          </p:nvSpPr>
          <p:spPr>
            <a:xfrm>
              <a:off x="990600" y="228600"/>
              <a:ext cx="1066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PASS 2</a:t>
              </a:r>
              <a:endParaRPr lang="en-US" dirty="0"/>
            </a:p>
          </p:txBody>
        </p:sp>
        <p:sp>
          <p:nvSpPr>
            <p:cNvPr id="3" name="Rectangle 2"/>
            <p:cNvSpPr/>
            <p:nvPr/>
          </p:nvSpPr>
          <p:spPr>
            <a:xfrm>
              <a:off x="685800" y="838200"/>
              <a:ext cx="1752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Read Next Source card</a:t>
              </a:r>
              <a:endParaRPr lang="en-US" sz="1200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685799" y="1524000"/>
              <a:ext cx="2592978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Search MNT for matching operation code</a:t>
              </a:r>
              <a:endParaRPr lang="en-US" sz="1200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85800" y="2819400"/>
              <a:ext cx="2133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MDTP</a:t>
              </a:r>
              <a:r>
                <a:rPr lang="en-US" sz="1400" dirty="0" smtClean="0">
                  <a:sym typeface="Wingdings" pitchFamily="2" charset="2"/>
                </a:rPr>
                <a:t> MDT Index from MNT Entry</a:t>
              </a:r>
              <a:endParaRPr lang="en-US" sz="14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85800" y="3581400"/>
              <a:ext cx="2209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Set Up ALA</a:t>
              </a: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38200" y="4267200"/>
              <a:ext cx="2133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MDTP</a:t>
              </a:r>
              <a:r>
                <a:rPr lang="en-US" dirty="0" smtClean="0">
                  <a:sym typeface="Wingdings" pitchFamily="2" charset="2"/>
                </a:rPr>
                <a:t> MDTP +1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90600" y="4876800"/>
              <a:ext cx="1752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Get Line From MDT</a:t>
              </a:r>
              <a:endParaRPr lang="en-US" sz="12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800" y="5486400"/>
              <a:ext cx="2438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Substitute arguments from Macro Call</a:t>
              </a:r>
              <a:endParaRPr lang="en-US" sz="1200" dirty="0"/>
            </a:p>
          </p:txBody>
        </p:sp>
        <p:sp>
          <p:nvSpPr>
            <p:cNvPr id="10" name="Diamond 9"/>
            <p:cNvSpPr/>
            <p:nvPr/>
          </p:nvSpPr>
          <p:spPr>
            <a:xfrm>
              <a:off x="609600" y="2133600"/>
              <a:ext cx="1981200" cy="5334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Macro Name Found ?</a:t>
              </a:r>
              <a:endParaRPr lang="en-US" sz="1200" dirty="0"/>
            </a:p>
          </p:txBody>
        </p:sp>
        <p:sp>
          <p:nvSpPr>
            <p:cNvPr id="11" name="Diamond 10"/>
            <p:cNvSpPr/>
            <p:nvPr/>
          </p:nvSpPr>
          <p:spPr>
            <a:xfrm>
              <a:off x="685800" y="6172200"/>
              <a:ext cx="2362200" cy="5334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MEND Pseudo Op?</a:t>
              </a:r>
              <a:endParaRPr lang="en-US" sz="12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191000" y="6096000"/>
              <a:ext cx="2438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Write Expanded Source Card</a:t>
              </a:r>
              <a:endParaRPr lang="en-US" sz="12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886200" y="2057400"/>
              <a:ext cx="2438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Write Expanded Source Card</a:t>
              </a:r>
              <a:endParaRPr lang="en-US" sz="1200" dirty="0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553200" y="2895600"/>
              <a:ext cx="2362200" cy="5334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END Pseudo Op?</a:t>
              </a:r>
              <a:endParaRPr lang="en-US" sz="12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858000" y="3962400"/>
              <a:ext cx="2133600" cy="1143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Supply expanded source file to Assembler Processing</a:t>
              </a:r>
              <a:endParaRPr lang="en-US" sz="1200" dirty="0"/>
            </a:p>
          </p:txBody>
        </p:sp>
        <p:cxnSp>
          <p:nvCxnSpPr>
            <p:cNvPr id="17" name="Straight Arrow Connector 16"/>
            <p:cNvCxnSpPr>
              <a:stCxn id="2" idx="2"/>
              <a:endCxn id="3" idx="0"/>
            </p:cNvCxnSpPr>
            <p:nvPr/>
          </p:nvCxnSpPr>
          <p:spPr>
            <a:xfrm rot="16200000" flipH="1">
              <a:off x="1466850" y="742950"/>
              <a:ext cx="1524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5400000">
              <a:off x="1257300" y="13335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0" idx="2"/>
            </p:cNvCxnSpPr>
            <p:nvPr/>
          </p:nvCxnSpPr>
          <p:spPr>
            <a:xfrm rot="5400000">
              <a:off x="1524000" y="274320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4" idx="2"/>
              <a:endCxn id="10" idx="0"/>
            </p:cNvCxnSpPr>
            <p:nvPr/>
          </p:nvCxnSpPr>
          <p:spPr>
            <a:xfrm rot="5400000">
              <a:off x="1676944" y="1828256"/>
              <a:ext cx="228600" cy="3820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rot="5400000">
              <a:off x="1371600" y="3429000"/>
              <a:ext cx="304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rot="5400000">
              <a:off x="1333500" y="41529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rot="5400000">
              <a:off x="1524000" y="480060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rot="5400000">
              <a:off x="1562100" y="53721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9" idx="2"/>
              <a:endCxn id="11" idx="0"/>
            </p:cNvCxnSpPr>
            <p:nvPr/>
          </p:nvCxnSpPr>
          <p:spPr>
            <a:xfrm rot="5400000">
              <a:off x="1809750" y="6076950"/>
              <a:ext cx="1524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0" idx="3"/>
            </p:cNvCxnSpPr>
            <p:nvPr/>
          </p:nvCxnSpPr>
          <p:spPr>
            <a:xfrm>
              <a:off x="2590800" y="2400300"/>
              <a:ext cx="12954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3" idx="3"/>
            </p:cNvCxnSpPr>
            <p:nvPr/>
          </p:nvCxnSpPr>
          <p:spPr>
            <a:xfrm>
              <a:off x="6324600" y="2324100"/>
              <a:ext cx="1295400" cy="38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rot="16200000" flipH="1">
              <a:off x="7407975" y="2533650"/>
              <a:ext cx="533400" cy="1905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4" idx="2"/>
            </p:cNvCxnSpPr>
            <p:nvPr/>
          </p:nvCxnSpPr>
          <p:spPr>
            <a:xfrm rot="5400000">
              <a:off x="7448550" y="3676650"/>
              <a:ext cx="5334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16200000" flipV="1">
              <a:off x="4543300" y="5181600"/>
              <a:ext cx="16764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endCxn id="7" idx="3"/>
            </p:cNvCxnSpPr>
            <p:nvPr/>
          </p:nvCxnSpPr>
          <p:spPr>
            <a:xfrm rot="10800000" flipV="1">
              <a:off x="2971800" y="4419600"/>
              <a:ext cx="2362200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11" idx="3"/>
              <a:endCxn id="12" idx="1"/>
            </p:cNvCxnSpPr>
            <p:nvPr/>
          </p:nvCxnSpPr>
          <p:spPr>
            <a:xfrm flipV="1">
              <a:off x="3048000" y="6362700"/>
              <a:ext cx="1143000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1" idx="1"/>
            </p:cNvCxnSpPr>
            <p:nvPr/>
          </p:nvCxnSpPr>
          <p:spPr>
            <a:xfrm rot="10800000" flipV="1">
              <a:off x="228600" y="6438900"/>
              <a:ext cx="457200" cy="38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 flipH="1" flipV="1">
              <a:off x="-2476500" y="3771900"/>
              <a:ext cx="54102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endCxn id="3" idx="1"/>
            </p:cNvCxnSpPr>
            <p:nvPr/>
          </p:nvCxnSpPr>
          <p:spPr>
            <a:xfrm flipV="1">
              <a:off x="228600" y="1028700"/>
              <a:ext cx="4572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2590800" y="2133600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No</a:t>
              </a:r>
              <a:endParaRPr lang="en-US" sz="120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600200" y="2590800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Yes</a:t>
              </a:r>
              <a:endParaRPr lang="en-US" sz="1200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199606" y="6156165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No</a:t>
              </a:r>
              <a:endParaRPr lang="en-US" sz="1200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28600" y="6234499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Yes</a:t>
              </a:r>
              <a:endParaRPr lang="en-US" sz="1200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848600" y="3505200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Yes</a:t>
              </a:r>
              <a:endParaRPr lang="en-US" sz="1200" dirty="0"/>
            </a:p>
          </p:txBody>
        </p:sp>
        <p:cxnSp>
          <p:nvCxnSpPr>
            <p:cNvPr id="62" name="Straight Connector 61"/>
            <p:cNvCxnSpPr>
              <a:stCxn id="14" idx="3"/>
            </p:cNvCxnSpPr>
            <p:nvPr/>
          </p:nvCxnSpPr>
          <p:spPr>
            <a:xfrm flipH="1" flipV="1">
              <a:off x="8839200" y="990600"/>
              <a:ext cx="76200" cy="2171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endCxn id="3" idx="3"/>
            </p:cNvCxnSpPr>
            <p:nvPr/>
          </p:nvCxnSpPr>
          <p:spPr>
            <a:xfrm rot="10800000" flipV="1">
              <a:off x="2438400" y="990600"/>
              <a:ext cx="64008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/>
          <p:cNvSpPr txBox="1"/>
          <p:nvPr/>
        </p:nvSpPr>
        <p:spPr>
          <a:xfrm>
            <a:off x="8534400" y="2667000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No</a:t>
            </a:r>
            <a:endParaRPr lang="en-US" sz="1200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41451-9BAE-47AD-A1D3-5E4D81743977}" type="datetime1">
              <a:rPr lang="en-US" smtClean="0"/>
              <a:t>9/27/2021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Left Arrow 21">
            <a:hlinkClick r:id="rId2" action="ppaction://hlinkpres?slideindex=34&amp;slidetitle=PowerPoint Presentation"/>
          </p:cNvPr>
          <p:cNvSpPr/>
          <p:nvPr/>
        </p:nvSpPr>
        <p:spPr>
          <a:xfrm>
            <a:off x="7698179" y="5773386"/>
            <a:ext cx="836221" cy="49169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34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985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913525"/>
              </p:ext>
            </p:extLst>
          </p:nvPr>
        </p:nvGraphicFramePr>
        <p:xfrm>
          <a:off x="228600" y="762000"/>
          <a:ext cx="2132463" cy="30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140"/>
                <a:gridCol w="887105"/>
                <a:gridCol w="805218"/>
              </a:tblGrid>
              <a:tr h="578048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Index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Formal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Actual</a:t>
                      </a:r>
                      <a:endParaRPr lang="en-US" sz="1400" dirty="0"/>
                    </a:p>
                  </a:txBody>
                  <a:tcPr/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LOOP1</a:t>
                      </a:r>
                      <a:endParaRPr lang="en-US" sz="1600" dirty="0"/>
                    </a:p>
                  </a:txBody>
                  <a:tcPr/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D1</a:t>
                      </a:r>
                      <a:endParaRPr lang="en-US" sz="1600" dirty="0"/>
                    </a:p>
                  </a:txBody>
                  <a:tcPr/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D2</a:t>
                      </a:r>
                      <a:endParaRPr lang="en-US" sz="1600" dirty="0"/>
                    </a:p>
                  </a:txBody>
                  <a:tcPr/>
                </a:tc>
              </a:tr>
              <a:tr h="392637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D3</a:t>
                      </a:r>
                      <a:endParaRPr lang="en-US" sz="1600" dirty="0"/>
                    </a:p>
                  </a:txBody>
                  <a:tcPr/>
                </a:tc>
              </a:tr>
              <a:tr h="34347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X</a:t>
                      </a:r>
                      <a:endParaRPr lang="en-US" sz="1600" dirty="0"/>
                    </a:p>
                  </a:txBody>
                  <a:tcPr/>
                </a:tc>
              </a:tr>
              <a:tr h="578048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&amp;P2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Y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267200" y="407354"/>
            <a:ext cx="295814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/>
              <a:t>Expanded Source Code :</a:t>
            </a:r>
          </a:p>
          <a:p>
            <a:r>
              <a:rPr lang="en-US" sz="1400" dirty="0" smtClean="0"/>
              <a:t>MAC 	START	100</a:t>
            </a:r>
          </a:p>
          <a:p>
            <a:r>
              <a:rPr lang="en-US" sz="1400" dirty="0" smtClean="0"/>
              <a:t>TOTAL	EQU	5</a:t>
            </a:r>
          </a:p>
          <a:p>
            <a:r>
              <a:rPr lang="en-US" sz="1400" dirty="0" smtClean="0"/>
              <a:t>	L	1, D1</a:t>
            </a:r>
          </a:p>
          <a:p>
            <a:r>
              <a:rPr lang="en-US" sz="1400" dirty="0" smtClean="0"/>
              <a:t>	SR	2, 2</a:t>
            </a:r>
          </a:p>
          <a:p>
            <a:r>
              <a:rPr lang="en-US" sz="1400" dirty="0" smtClean="0"/>
              <a:t>	A	1, =F’5’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LOOP1	L	1, D1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	L	2, D2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	AR	1, 2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	MUL	1, D3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	ST	N, 1</a:t>
            </a:r>
            <a:endParaRPr lang="en-US" sz="1400" dirty="0" smtClean="0"/>
          </a:p>
          <a:p>
            <a:r>
              <a:rPr lang="en-US" sz="1400" dirty="0" smtClean="0"/>
              <a:t>	ST	2, 1</a:t>
            </a:r>
          </a:p>
          <a:p>
            <a:r>
              <a:rPr lang="en-US" sz="1400" dirty="0" smtClean="0"/>
              <a:t>	AR	TOTAL, 2</a:t>
            </a:r>
          </a:p>
          <a:p>
            <a:r>
              <a:rPr lang="en-US" sz="1400" dirty="0" smtClean="0"/>
              <a:t>	</a:t>
            </a:r>
            <a:r>
              <a:rPr lang="en-US" sz="1400" b="1" dirty="0" smtClean="0">
                <a:solidFill>
                  <a:srgbClr val="FF0000"/>
                </a:solidFill>
              </a:rPr>
              <a:t>L	1, X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	S	1, Y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	ST	2, 1</a:t>
            </a:r>
          </a:p>
          <a:p>
            <a:endParaRPr lang="en-US" sz="1400" dirty="0" smtClean="0"/>
          </a:p>
          <a:p>
            <a:r>
              <a:rPr lang="en-US" sz="1400" dirty="0" smtClean="0"/>
              <a:t>	BR	14</a:t>
            </a:r>
          </a:p>
          <a:p>
            <a:r>
              <a:rPr lang="en-US" sz="1400" dirty="0" smtClean="0"/>
              <a:t>D1	DC	F’3’</a:t>
            </a:r>
          </a:p>
          <a:p>
            <a:r>
              <a:rPr lang="en-US" sz="1400" dirty="0" smtClean="0"/>
              <a:t>D2	DC	F’45’</a:t>
            </a:r>
          </a:p>
          <a:p>
            <a:r>
              <a:rPr lang="en-US" sz="1400" dirty="0" smtClean="0"/>
              <a:t>D3	DC	F’21’</a:t>
            </a:r>
          </a:p>
          <a:p>
            <a:r>
              <a:rPr lang="en-US" sz="1400" dirty="0" smtClean="0"/>
              <a:t>X	DC	F’10’</a:t>
            </a:r>
          </a:p>
          <a:p>
            <a:r>
              <a:rPr lang="en-US" sz="1400" dirty="0" smtClean="0"/>
              <a:t>Y	DC	F’20’</a:t>
            </a:r>
          </a:p>
          <a:p>
            <a:r>
              <a:rPr lang="en-US" sz="1400" dirty="0" smtClean="0"/>
              <a:t>	END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8709" y="407125"/>
            <a:ext cx="363714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Intermediate Code after pass1 (input file for pass 2):</a:t>
            </a:r>
          </a:p>
          <a:p>
            <a:endParaRPr lang="en-US" b="1" u="sng" dirty="0" smtClean="0"/>
          </a:p>
          <a:p>
            <a:r>
              <a:rPr lang="en-US" sz="1600" dirty="0" smtClean="0"/>
              <a:t>MAC 	START	100</a:t>
            </a:r>
          </a:p>
          <a:p>
            <a:r>
              <a:rPr lang="en-US" sz="1600" dirty="0" smtClean="0"/>
              <a:t>TOTAL	EQU	5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L	1, D1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SR	2, 2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A	1, =F’5’</a:t>
            </a:r>
          </a:p>
          <a:p>
            <a:r>
              <a:rPr lang="en-US" sz="1600" dirty="0"/>
              <a:t>	</a:t>
            </a:r>
            <a:r>
              <a:rPr lang="en-US" sz="1600" dirty="0" smtClean="0">
                <a:solidFill>
                  <a:srgbClr val="0070C0"/>
                </a:solidFill>
              </a:rPr>
              <a:t>ADD1	LOOP1, D1, D2, D3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ST	2, 1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AR	TOTAL, 2</a:t>
            </a:r>
          </a:p>
          <a:p>
            <a:r>
              <a:rPr lang="en-US" sz="1600" dirty="0"/>
              <a:t>	</a:t>
            </a:r>
            <a:r>
              <a:rPr lang="en-US" sz="1600" dirty="0" smtClean="0">
                <a:solidFill>
                  <a:srgbClr val="0070C0"/>
                </a:solidFill>
              </a:rPr>
              <a:t>SUB	X, Y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BR	14</a:t>
            </a:r>
          </a:p>
          <a:p>
            <a:r>
              <a:rPr lang="en-US" sz="1600" dirty="0" smtClean="0"/>
              <a:t>D1	DC	F’3’</a:t>
            </a:r>
          </a:p>
          <a:p>
            <a:r>
              <a:rPr lang="en-US" sz="1600" dirty="0" smtClean="0"/>
              <a:t>D2	DC	F’45’</a:t>
            </a:r>
          </a:p>
          <a:p>
            <a:r>
              <a:rPr lang="en-US" sz="1600" dirty="0" smtClean="0"/>
              <a:t>D3	DC	F’21’</a:t>
            </a:r>
          </a:p>
          <a:p>
            <a:r>
              <a:rPr lang="en-US" sz="1600" dirty="0" smtClean="0"/>
              <a:t>X	DC	F’10’</a:t>
            </a:r>
          </a:p>
          <a:p>
            <a:r>
              <a:rPr lang="en-US" sz="1600" dirty="0" smtClean="0"/>
              <a:t>Y	DC	F’20’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END</a:t>
            </a:r>
            <a:r>
              <a:rPr lang="en-US" sz="2400" dirty="0"/>
              <a:t>	</a:t>
            </a:r>
            <a:endParaRPr lang="en-US" sz="2400" dirty="0" smtClean="0"/>
          </a:p>
        </p:txBody>
      </p:sp>
      <p:cxnSp>
        <p:nvCxnSpPr>
          <p:cNvPr id="7" name="Straight Connector 6"/>
          <p:cNvCxnSpPr/>
          <p:nvPr/>
        </p:nvCxnSpPr>
        <p:spPr>
          <a:xfrm rot="16200000" flipH="1">
            <a:off x="3186740" y="3019144"/>
            <a:ext cx="5839097" cy="78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16200000" flipH="1">
            <a:off x="-428898" y="2895694"/>
            <a:ext cx="5839097" cy="78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eft Brace 3"/>
          <p:cNvSpPr/>
          <p:nvPr/>
        </p:nvSpPr>
        <p:spPr>
          <a:xfrm>
            <a:off x="6792686" y="3336966"/>
            <a:ext cx="201880" cy="58189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Left Brace 5"/>
          <p:cNvSpPr/>
          <p:nvPr/>
        </p:nvSpPr>
        <p:spPr>
          <a:xfrm>
            <a:off x="6067100" y="1769423"/>
            <a:ext cx="321826" cy="11306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6039788" y="2334769"/>
            <a:ext cx="349138" cy="242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833257" y="3336966"/>
            <a:ext cx="1878083" cy="290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284A0-53AE-490B-BF41-5E28E5424635}" type="datetime1">
              <a:rPr lang="en-US" smtClean="0"/>
              <a:t>9/27/2021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3081" y="407125"/>
            <a:ext cx="171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smtClean="0"/>
              <a:t>ALA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78548" y="5690005"/>
            <a:ext cx="454582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MDTP= 1, 2, 3, 4, 5, 6, 7 for ADD1 </a:t>
            </a:r>
          </a:p>
          <a:p>
            <a:r>
              <a:rPr lang="en-IN" dirty="0" smtClean="0"/>
              <a:t>MDTP= 8, 9, 10, 11, 12, 13 for SUB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670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54721" y="2526551"/>
            <a:ext cx="7543800" cy="804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66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Macro calls within Macros</a:t>
            </a:r>
            <a:endParaRPr lang="en-US" sz="54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1D92-FF22-4662-B2D6-96A0BC65621C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916" y="479388"/>
            <a:ext cx="7543800" cy="725711"/>
          </a:xfrm>
          <a:solidFill>
            <a:schemeClr val="bg2">
              <a:lumMod val="75000"/>
            </a:schemeClr>
          </a:solidFill>
          <a:ln>
            <a:solidFill>
              <a:srgbClr val="FF0066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Macro 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Calls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</a:t>
            </a:r>
            <a:r>
              <a:rPr lang="en-US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ithin </a:t>
            </a:r>
            <a:r>
              <a:rPr lang="en-US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8020790" cy="402336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	MACRO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</a:rPr>
              <a:t>ADD1	&amp;ARG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	L	1, &amp;ARG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	A	1, =F’1’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	ST	1, &amp;ARG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	MEND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	MACRO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	ADDS	&amp;ARG1, &amp;ARG2, &amp;ARG3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ADD1	&amp;ARG1</a:t>
            </a:r>
            <a:r>
              <a:rPr lang="en-US" dirty="0" smtClean="0">
                <a:solidFill>
                  <a:srgbClr val="C00000"/>
                </a:solidFill>
              </a:rPr>
              <a:t>           ………………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b="1" dirty="0" smtClean="0">
                <a:solidFill>
                  <a:srgbClr val="C00000"/>
                </a:solidFill>
              </a:rPr>
              <a:t>ADD1	&amp;ARG2           </a:t>
            </a:r>
            <a:r>
              <a:rPr lang="en-US" dirty="0">
                <a:solidFill>
                  <a:srgbClr val="C00000"/>
                </a:solidFill>
              </a:rPr>
              <a:t>……………… </a:t>
            </a:r>
            <a:r>
              <a:rPr lang="en-US" dirty="0" smtClean="0">
                <a:solidFill>
                  <a:srgbClr val="C00000"/>
                </a:solidFill>
              </a:rPr>
              <a:t>         </a:t>
            </a:r>
            <a:r>
              <a:rPr lang="en-US" b="1" dirty="0" smtClean="0">
                <a:solidFill>
                  <a:srgbClr val="C00000"/>
                </a:solidFill>
              </a:rPr>
              <a:t>macro </a:t>
            </a:r>
            <a:r>
              <a:rPr lang="en-US" b="1" dirty="0">
                <a:solidFill>
                  <a:srgbClr val="C00000"/>
                </a:solidFill>
              </a:rPr>
              <a:t>call in macro definition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b="1" dirty="0" smtClean="0">
                <a:solidFill>
                  <a:srgbClr val="C00000"/>
                </a:solidFill>
              </a:rPr>
              <a:t>ADD1	&amp;ARG3           </a:t>
            </a:r>
            <a:r>
              <a:rPr lang="en-US" dirty="0" smtClean="0">
                <a:solidFill>
                  <a:srgbClr val="C00000"/>
                </a:solidFill>
              </a:rPr>
              <a:t>………………  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/>
              <a:t>	MEND</a:t>
            </a:r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5008728" y="4572000"/>
            <a:ext cx="341194" cy="83251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572E-DED6-4999-9247-A979C5F1204C}" type="datetime1">
              <a:rPr lang="en-US" smtClean="0"/>
              <a:t>9/27/2021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816074" cy="402336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To handle macro call within macros, macro processor has to work </a:t>
            </a:r>
            <a:r>
              <a:rPr lang="en-US" b="1" dirty="0" smtClean="0"/>
              <a:t>recursively.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It uses </a:t>
            </a:r>
            <a:r>
              <a:rPr lang="en-US" b="1" dirty="0" smtClean="0"/>
              <a:t>stack</a:t>
            </a:r>
            <a:r>
              <a:rPr lang="en-US" dirty="0" smtClean="0"/>
              <a:t> to keep track of unfinished computations.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For every macro call, </a:t>
            </a:r>
            <a:r>
              <a:rPr lang="en-US" b="1" dirty="0" smtClean="0"/>
              <a:t>separate stack frame </a:t>
            </a:r>
            <a:r>
              <a:rPr lang="en-US" dirty="0" smtClean="0"/>
              <a:t>is created.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1" dirty="0" smtClean="0"/>
              <a:t>SP</a:t>
            </a:r>
            <a:r>
              <a:rPr lang="en-US" dirty="0" smtClean="0"/>
              <a:t>:- It is a </a:t>
            </a:r>
            <a:r>
              <a:rPr lang="en-US" b="1" dirty="0" smtClean="0"/>
              <a:t>Stack Position</a:t>
            </a:r>
            <a:r>
              <a:rPr lang="en-US" dirty="0" smtClean="0"/>
              <a:t>. It indicates the position or stack frame no. at the top of the stack. i.e.  It is the </a:t>
            </a:r>
            <a:r>
              <a:rPr lang="en-US" b="1" dirty="0" smtClean="0"/>
              <a:t>beginning position of current stack frame</a:t>
            </a:r>
            <a:r>
              <a:rPr lang="en-US" dirty="0" smtClean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1" dirty="0" smtClean="0"/>
              <a:t>S(SP):-  </a:t>
            </a:r>
            <a:r>
              <a:rPr lang="en-US" dirty="0" smtClean="0"/>
              <a:t>It refers to the beginning of the current stack frame. (i.e. the </a:t>
            </a:r>
            <a:r>
              <a:rPr lang="en-US" b="1" dirty="0" smtClean="0"/>
              <a:t>contents of the stack at position “SP</a:t>
            </a:r>
            <a:r>
              <a:rPr lang="en-US" dirty="0" smtClean="0"/>
              <a:t>”.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1" dirty="0" smtClean="0"/>
              <a:t>MDLC:- </a:t>
            </a:r>
            <a:r>
              <a:rPr lang="en-US" dirty="0" smtClean="0"/>
              <a:t>Macro Definition Level Counter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1" dirty="0" smtClean="0"/>
              <a:t>N:- </a:t>
            </a:r>
            <a:r>
              <a:rPr lang="en-US" dirty="0" smtClean="0"/>
              <a:t>no. of arguments in macro call along with label argument.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38A18-2E9A-46FB-AE72-F17773846D29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676095" y="706514"/>
            <a:ext cx="7690665" cy="61555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66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Macro Calls Within Macro (</a:t>
            </a:r>
            <a:r>
              <a:rPr lang="en-US" sz="40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</a:t>
            </a:r>
            <a:r>
              <a:rPr lang="en-US" sz="4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….)</a:t>
            </a:r>
            <a:endParaRPr lang="en-US" sz="4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/>
          <p:nvPr/>
        </p:nvCxnSpPr>
        <p:spPr>
          <a:xfrm rot="16200000" flipH="1">
            <a:off x="-2165758" y="4148545"/>
            <a:ext cx="4845114" cy="548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Group 145"/>
          <p:cNvGrpSpPr/>
          <p:nvPr/>
        </p:nvGrpSpPr>
        <p:grpSpPr>
          <a:xfrm>
            <a:off x="228600" y="228600"/>
            <a:ext cx="8915400" cy="6477000"/>
            <a:chOff x="228600" y="228600"/>
            <a:chExt cx="8915400" cy="6477000"/>
          </a:xfrm>
        </p:grpSpPr>
        <p:sp>
          <p:nvSpPr>
            <p:cNvPr id="2" name="Rectangle 1"/>
            <p:cNvSpPr/>
            <p:nvPr/>
          </p:nvSpPr>
          <p:spPr>
            <a:xfrm>
              <a:off x="381000" y="228600"/>
              <a:ext cx="1295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Macro Processor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304800" y="762000"/>
              <a:ext cx="15240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MDLC </a:t>
              </a:r>
              <a:r>
                <a:rPr lang="en-US" sz="1400" b="1" dirty="0" smtClean="0">
                  <a:solidFill>
                    <a:schemeClr val="tx1"/>
                  </a:solidFill>
                  <a:sym typeface="Wingdings" pitchFamily="2" charset="2"/>
                </a:rPr>
                <a:t> 0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  <a:sym typeface="Wingdings" pitchFamily="2" charset="2"/>
                </a:rPr>
                <a:t>N0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  <a:sym typeface="Wingdings" pitchFamily="2" charset="2"/>
                </a:rPr>
                <a:t>SP -1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2209800"/>
              <a:ext cx="14478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Search MNT for match with operation code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457200" y="4800600"/>
              <a:ext cx="1752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S(SP+1)</a:t>
              </a:r>
              <a:r>
                <a:rPr lang="en-US" sz="1200" b="1" dirty="0" smtClean="0">
                  <a:solidFill>
                    <a:schemeClr val="tx1"/>
                  </a:solidFill>
                  <a:sym typeface="Wingdings" pitchFamily="2" charset="2"/>
                </a:rPr>
                <a:t> MDT Index from MNT entry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609600" y="4267200"/>
              <a:ext cx="1447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SP</a:t>
              </a:r>
              <a:r>
                <a:rPr lang="en-US" b="1" dirty="0" smtClean="0">
                  <a:solidFill>
                    <a:schemeClr val="tx1"/>
                  </a:solidFill>
                  <a:sym typeface="Wingdings" pitchFamily="2" charset="2"/>
                </a:rPr>
                <a:t>SP+N+2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533400" y="3733800"/>
              <a:ext cx="16002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S(SP+N+2) </a:t>
              </a:r>
              <a:r>
                <a:rPr lang="en-US" sz="1400" b="1" dirty="0" smtClean="0">
                  <a:solidFill>
                    <a:schemeClr val="tx1"/>
                  </a:solidFill>
                  <a:sym typeface="Wingdings" pitchFamily="2" charset="2"/>
                </a:rPr>
                <a:t> SP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33400" y="5410200"/>
              <a:ext cx="16002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Set up macro call ALA in S(SP+2)…..S(SP+N+1) Where N= Total no. of arguments in call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 rot="16200000" flipH="1">
              <a:off x="1143000" y="6477000"/>
              <a:ext cx="228600" cy="7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228600" y="1752600"/>
              <a:ext cx="381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Hexagon 15"/>
            <p:cNvSpPr/>
            <p:nvPr/>
          </p:nvSpPr>
          <p:spPr>
            <a:xfrm>
              <a:off x="609600" y="1600200"/>
              <a:ext cx="1066800" cy="304800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READ *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247135" y="6573795"/>
              <a:ext cx="1048265" cy="556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Diamond 20"/>
            <p:cNvSpPr/>
            <p:nvPr/>
          </p:nvSpPr>
          <p:spPr>
            <a:xfrm>
              <a:off x="2590800" y="704335"/>
              <a:ext cx="1524000" cy="667265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MACRO Pseudo op?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Hexagon 21"/>
            <p:cNvSpPr/>
            <p:nvPr/>
          </p:nvSpPr>
          <p:spPr>
            <a:xfrm>
              <a:off x="2819400" y="1828800"/>
              <a:ext cx="1066800" cy="304800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READ *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743200" y="2514600"/>
              <a:ext cx="13716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Enter macro name and current value of MDTC in MNT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743200" y="3352800"/>
              <a:ext cx="13716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Prepare macro definition ALA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67000" y="4267200"/>
              <a:ext cx="16002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Enter macro name card into MDT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667000" y="4800600"/>
              <a:ext cx="16002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MDLC </a:t>
              </a:r>
              <a:r>
                <a:rPr lang="en-US" sz="1200" b="1" dirty="0" smtClean="0">
                  <a:solidFill>
                    <a:schemeClr val="tx1"/>
                  </a:solidFill>
                  <a:sym typeface="Wingdings" pitchFamily="2" charset="2"/>
                </a:rPr>
                <a:t> MDLC+1,</a:t>
              </a:r>
            </a:p>
            <a:p>
              <a:pPr algn="ctr"/>
              <a:r>
                <a:rPr lang="en-US" sz="1200" b="1" dirty="0" smtClean="0">
                  <a:solidFill>
                    <a:schemeClr val="tx1"/>
                  </a:solidFill>
                  <a:sym typeface="Wingdings" pitchFamily="2" charset="2"/>
                </a:rPr>
                <a:t>MNTC=MNTC+1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Hexagon 26"/>
            <p:cNvSpPr/>
            <p:nvPr/>
          </p:nvSpPr>
          <p:spPr>
            <a:xfrm>
              <a:off x="5486400" y="2819400"/>
              <a:ext cx="1066800" cy="304800"/>
            </a:xfrm>
            <a:prstGeom prst="hexag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READ *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953000" y="3352800"/>
              <a:ext cx="2057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Substitute index notation for argument in definition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952999" y="3962400"/>
              <a:ext cx="3029465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 smtClean="0">
                <a:solidFill>
                  <a:schemeClr val="tx1"/>
                </a:solidFill>
              </a:endParaRPr>
            </a:p>
            <a:p>
              <a:pPr algn="ctr"/>
              <a:endParaRPr lang="en-US" sz="16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Enter line into MDT, MDTC=MDTC+1</a:t>
              </a:r>
            </a:p>
            <a:p>
              <a:pPr algn="ctr"/>
              <a:endParaRPr lang="en-US" sz="1600" b="1" dirty="0" smtClean="0">
                <a:solidFill>
                  <a:schemeClr val="tx1"/>
                </a:solidFill>
              </a:endParaRPr>
            </a:p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010400" y="4800600"/>
              <a:ext cx="1371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MDLC </a:t>
              </a:r>
              <a:r>
                <a:rPr lang="en-US" sz="1200" b="1" dirty="0" smtClean="0">
                  <a:solidFill>
                    <a:schemeClr val="tx1"/>
                  </a:solidFill>
                  <a:sym typeface="Wingdings" pitchFamily="2" charset="2"/>
                </a:rPr>
                <a:t> MDLC+1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010400" y="5638800"/>
              <a:ext cx="1371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MDLC </a:t>
              </a:r>
              <a:r>
                <a:rPr lang="en-US" sz="1200" b="1" dirty="0" smtClean="0">
                  <a:solidFill>
                    <a:schemeClr val="tx1"/>
                  </a:solidFill>
                  <a:sym typeface="Wingdings" pitchFamily="2" charset="2"/>
                </a:rPr>
                <a:t> MDLC-1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Diamond 33"/>
            <p:cNvSpPr/>
            <p:nvPr/>
          </p:nvSpPr>
          <p:spPr>
            <a:xfrm>
              <a:off x="7162800" y="6172200"/>
              <a:ext cx="1143000" cy="5334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MDLC=0?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419600" y="685800"/>
              <a:ext cx="13716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Write into Expanded Source file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620000" y="762000"/>
              <a:ext cx="1371600" cy="685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Supply Expanded source file to assembler processing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Diamond 42"/>
            <p:cNvSpPr/>
            <p:nvPr/>
          </p:nvSpPr>
          <p:spPr>
            <a:xfrm>
              <a:off x="304800" y="3048000"/>
              <a:ext cx="1828800" cy="5334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Macro Name found ?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6" name="Diamond 45"/>
            <p:cNvSpPr/>
            <p:nvPr/>
          </p:nvSpPr>
          <p:spPr>
            <a:xfrm>
              <a:off x="5105400" y="4724400"/>
              <a:ext cx="1524000" cy="6096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MACRO Pseudo op?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7" name="Diamond 46"/>
            <p:cNvSpPr/>
            <p:nvPr/>
          </p:nvSpPr>
          <p:spPr>
            <a:xfrm>
              <a:off x="5105400" y="5562600"/>
              <a:ext cx="1524000" cy="6096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MEND Pseudo op?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8" name="Diamond 47"/>
            <p:cNvSpPr/>
            <p:nvPr/>
          </p:nvSpPr>
          <p:spPr>
            <a:xfrm>
              <a:off x="6019800" y="762000"/>
              <a:ext cx="1371600" cy="609600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>
                  <a:solidFill>
                    <a:schemeClr val="tx1"/>
                  </a:solidFill>
                </a:rPr>
                <a:t>END Pseudo op?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 rot="5400000">
              <a:off x="838200" y="68580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 rot="5400000">
              <a:off x="838200" y="152400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endCxn id="4" idx="0"/>
            </p:cNvCxnSpPr>
            <p:nvPr/>
          </p:nvCxnSpPr>
          <p:spPr>
            <a:xfrm rot="16200000" flipH="1">
              <a:off x="1009650" y="2038350"/>
              <a:ext cx="3048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4" idx="2"/>
              <a:endCxn id="43" idx="0"/>
            </p:cNvCxnSpPr>
            <p:nvPr/>
          </p:nvCxnSpPr>
          <p:spPr>
            <a:xfrm rot="16200000" flipH="1">
              <a:off x="1123950" y="2952750"/>
              <a:ext cx="1524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43" idx="2"/>
            </p:cNvCxnSpPr>
            <p:nvPr/>
          </p:nvCxnSpPr>
          <p:spPr>
            <a:xfrm rot="5400000">
              <a:off x="1143000" y="365760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 rot="5400000">
              <a:off x="1143000" y="419100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rot="5400000">
              <a:off x="1066800" y="472440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rot="5400000">
              <a:off x="990600" y="533400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21" idx="2"/>
            </p:cNvCxnSpPr>
            <p:nvPr/>
          </p:nvCxnSpPr>
          <p:spPr>
            <a:xfrm rot="5400000">
              <a:off x="3123406" y="1600200"/>
              <a:ext cx="457994" cy="7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endCxn id="23" idx="0"/>
            </p:cNvCxnSpPr>
            <p:nvPr/>
          </p:nvCxnSpPr>
          <p:spPr>
            <a:xfrm rot="16200000" flipH="1">
              <a:off x="3200400" y="2286000"/>
              <a:ext cx="381000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23" idx="2"/>
              <a:endCxn id="24" idx="0"/>
            </p:cNvCxnSpPr>
            <p:nvPr/>
          </p:nvCxnSpPr>
          <p:spPr>
            <a:xfrm rot="5400000">
              <a:off x="3352800" y="327660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24" idx="2"/>
              <a:endCxn id="25" idx="0"/>
            </p:cNvCxnSpPr>
            <p:nvPr/>
          </p:nvCxnSpPr>
          <p:spPr>
            <a:xfrm rot="16200000" flipH="1">
              <a:off x="3333750" y="4133850"/>
              <a:ext cx="2286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>
              <a:stCxn id="25" idx="2"/>
              <a:endCxn id="26" idx="0"/>
            </p:cNvCxnSpPr>
            <p:nvPr/>
          </p:nvCxnSpPr>
          <p:spPr>
            <a:xfrm rot="5400000">
              <a:off x="3390900" y="472440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5400000">
              <a:off x="2971800" y="4038600"/>
              <a:ext cx="3200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4572000" y="2438400"/>
              <a:ext cx="14478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 rot="5400000">
              <a:off x="5791200" y="2590800"/>
              <a:ext cx="381000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10800000">
              <a:off x="3505200" y="5638800"/>
              <a:ext cx="10668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stCxn id="26" idx="2"/>
            </p:cNvCxnSpPr>
            <p:nvPr/>
          </p:nvCxnSpPr>
          <p:spPr>
            <a:xfrm rot="16200000" flipH="1">
              <a:off x="3257550" y="5391150"/>
              <a:ext cx="4572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endCxn id="28" idx="0"/>
            </p:cNvCxnSpPr>
            <p:nvPr/>
          </p:nvCxnSpPr>
          <p:spPr>
            <a:xfrm rot="5400000">
              <a:off x="5886450" y="3219450"/>
              <a:ext cx="2286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28" idx="2"/>
              <a:endCxn id="29" idx="0"/>
            </p:cNvCxnSpPr>
            <p:nvPr/>
          </p:nvCxnSpPr>
          <p:spPr>
            <a:xfrm rot="16200000" flipH="1">
              <a:off x="6110416" y="3605084"/>
              <a:ext cx="228600" cy="486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endCxn id="46" idx="0"/>
            </p:cNvCxnSpPr>
            <p:nvPr/>
          </p:nvCxnSpPr>
          <p:spPr>
            <a:xfrm rot="16200000" flipH="1">
              <a:off x="5638800" y="4495800"/>
              <a:ext cx="381000" cy="76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stCxn id="46" idx="2"/>
              <a:endCxn id="47" idx="0"/>
            </p:cNvCxnSpPr>
            <p:nvPr/>
          </p:nvCxnSpPr>
          <p:spPr>
            <a:xfrm rot="5400000">
              <a:off x="5753100" y="5448300"/>
              <a:ext cx="228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46" idx="3"/>
              <a:endCxn id="32" idx="1"/>
            </p:cNvCxnSpPr>
            <p:nvPr/>
          </p:nvCxnSpPr>
          <p:spPr>
            <a:xfrm flipV="1">
              <a:off x="6629400" y="4991100"/>
              <a:ext cx="3810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>
              <a:stCxn id="47" idx="3"/>
              <a:endCxn id="33" idx="1"/>
            </p:cNvCxnSpPr>
            <p:nvPr/>
          </p:nvCxnSpPr>
          <p:spPr>
            <a:xfrm flipV="1">
              <a:off x="6629400" y="5829300"/>
              <a:ext cx="3810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>
              <a:stCxn id="47" idx="1"/>
            </p:cNvCxnSpPr>
            <p:nvPr/>
          </p:nvCxnSpPr>
          <p:spPr>
            <a:xfrm rot="10800000">
              <a:off x="4572000" y="5638800"/>
              <a:ext cx="53340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32" idx="3"/>
              <a:endCxn id="124" idx="2"/>
            </p:cNvCxnSpPr>
            <p:nvPr/>
          </p:nvCxnSpPr>
          <p:spPr>
            <a:xfrm>
              <a:off x="8382000" y="4991100"/>
              <a:ext cx="3810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stCxn id="33" idx="2"/>
              <a:endCxn id="34" idx="0"/>
            </p:cNvCxnSpPr>
            <p:nvPr/>
          </p:nvCxnSpPr>
          <p:spPr>
            <a:xfrm rot="16200000" flipH="1">
              <a:off x="7639050" y="6076950"/>
              <a:ext cx="1524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34" idx="3"/>
            </p:cNvCxnSpPr>
            <p:nvPr/>
          </p:nvCxnSpPr>
          <p:spPr>
            <a:xfrm>
              <a:off x="8305800" y="6438900"/>
              <a:ext cx="3048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>
              <a:stCxn id="34" idx="1"/>
            </p:cNvCxnSpPr>
            <p:nvPr/>
          </p:nvCxnSpPr>
          <p:spPr>
            <a:xfrm rot="10800000">
              <a:off x="6781800" y="6400800"/>
              <a:ext cx="3810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>
              <a:stCxn id="21" idx="3"/>
              <a:endCxn id="35" idx="1"/>
            </p:cNvCxnSpPr>
            <p:nvPr/>
          </p:nvCxnSpPr>
          <p:spPr>
            <a:xfrm flipV="1">
              <a:off x="4114800" y="1028700"/>
              <a:ext cx="304800" cy="926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stCxn id="35" idx="3"/>
              <a:endCxn id="48" idx="1"/>
            </p:cNvCxnSpPr>
            <p:nvPr/>
          </p:nvCxnSpPr>
          <p:spPr>
            <a:xfrm>
              <a:off x="5791200" y="1028700"/>
              <a:ext cx="2286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>
              <a:stCxn id="48" idx="3"/>
              <a:endCxn id="37" idx="1"/>
            </p:cNvCxnSpPr>
            <p:nvPr/>
          </p:nvCxnSpPr>
          <p:spPr>
            <a:xfrm>
              <a:off x="7391400" y="1066800"/>
              <a:ext cx="2286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 rot="16200000" flipH="1">
              <a:off x="1295400" y="2133600"/>
              <a:ext cx="2209800" cy="76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>
              <a:stCxn id="43" idx="3"/>
            </p:cNvCxnSpPr>
            <p:nvPr/>
          </p:nvCxnSpPr>
          <p:spPr>
            <a:xfrm flipV="1">
              <a:off x="2133600" y="3276600"/>
              <a:ext cx="3048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endCxn id="21" idx="1"/>
            </p:cNvCxnSpPr>
            <p:nvPr/>
          </p:nvCxnSpPr>
          <p:spPr>
            <a:xfrm flipV="1">
              <a:off x="2362200" y="1037968"/>
              <a:ext cx="228600" cy="288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Oval 120"/>
            <p:cNvSpPr/>
            <p:nvPr/>
          </p:nvSpPr>
          <p:spPr>
            <a:xfrm>
              <a:off x="7162800" y="2819400"/>
              <a:ext cx="3810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23" name="Straight Arrow Connector 122"/>
            <p:cNvCxnSpPr>
              <a:stCxn id="121" idx="2"/>
              <a:endCxn id="27" idx="0"/>
            </p:cNvCxnSpPr>
            <p:nvPr/>
          </p:nvCxnSpPr>
          <p:spPr>
            <a:xfrm rot="10800000">
              <a:off x="6553200" y="2971800"/>
              <a:ext cx="6096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/>
            <p:cNvSpPr/>
            <p:nvPr/>
          </p:nvSpPr>
          <p:spPr>
            <a:xfrm>
              <a:off x="8763000" y="4876800"/>
              <a:ext cx="3810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6" name="Oval 125"/>
            <p:cNvSpPr/>
            <p:nvPr/>
          </p:nvSpPr>
          <p:spPr>
            <a:xfrm>
              <a:off x="8610600" y="6324600"/>
              <a:ext cx="3810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7" name="Oval 126"/>
            <p:cNvSpPr/>
            <p:nvPr/>
          </p:nvSpPr>
          <p:spPr>
            <a:xfrm>
              <a:off x="6400800" y="6248400"/>
              <a:ext cx="3810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8" name="Oval 127"/>
            <p:cNvSpPr/>
            <p:nvPr/>
          </p:nvSpPr>
          <p:spPr>
            <a:xfrm>
              <a:off x="1981200" y="1600200"/>
              <a:ext cx="3810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30" name="Straight Arrow Connector 129"/>
            <p:cNvCxnSpPr>
              <a:stCxn id="128" idx="2"/>
              <a:endCxn id="16" idx="0"/>
            </p:cNvCxnSpPr>
            <p:nvPr/>
          </p:nvCxnSpPr>
          <p:spPr>
            <a:xfrm rot="10800000">
              <a:off x="1676400" y="1752600"/>
              <a:ext cx="304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Oval 130"/>
            <p:cNvSpPr/>
            <p:nvPr/>
          </p:nvSpPr>
          <p:spPr>
            <a:xfrm>
              <a:off x="6553200" y="1676400"/>
              <a:ext cx="381000" cy="304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33" name="Straight Arrow Connector 132"/>
            <p:cNvCxnSpPr>
              <a:stCxn id="48" idx="2"/>
              <a:endCxn id="131" idx="0"/>
            </p:cNvCxnSpPr>
            <p:nvPr/>
          </p:nvCxnSpPr>
          <p:spPr>
            <a:xfrm rot="16200000" flipH="1">
              <a:off x="6572250" y="1504950"/>
              <a:ext cx="304800" cy="381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/>
            <p:cNvSpPr txBox="1"/>
            <p:nvPr/>
          </p:nvSpPr>
          <p:spPr>
            <a:xfrm>
              <a:off x="1219200" y="3505200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Yes</a:t>
              </a:r>
              <a:endParaRPr lang="en-US" sz="1200" b="1" dirty="0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6553200" y="4800600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Yes</a:t>
              </a:r>
              <a:endParaRPr lang="en-US" sz="1200" b="1" dirty="0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6553200" y="5562600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Yes</a:t>
              </a:r>
              <a:endParaRPr lang="en-US" sz="1200" b="1" dirty="0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6781800" y="6172200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Yes</a:t>
              </a:r>
              <a:endParaRPr lang="en-US" sz="1200" b="1" dirty="0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7315200" y="838201"/>
              <a:ext cx="457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Yes</a:t>
              </a:r>
              <a:endParaRPr lang="en-US" sz="1200" b="1" dirty="0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1981200" y="3048000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No</a:t>
              </a:r>
              <a:endParaRPr lang="en-US" sz="1200" b="1" dirty="0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962400" y="762000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No</a:t>
              </a:r>
              <a:endParaRPr lang="en-US" sz="1200" b="1" dirty="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6705600" y="1371600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No</a:t>
              </a:r>
              <a:endParaRPr lang="en-US" sz="1200" b="1" dirty="0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867400" y="5334000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No</a:t>
              </a:r>
              <a:endParaRPr lang="en-US" sz="1200" b="1" dirty="0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4876800" y="5562600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No</a:t>
              </a:r>
              <a:endParaRPr lang="en-US" sz="1200" b="1" dirty="0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8229600" y="6172200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No</a:t>
              </a:r>
              <a:endParaRPr lang="en-US" sz="1200" b="1" dirty="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3352800" y="1447800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Yes</a:t>
              </a:r>
              <a:endParaRPr lang="en-US" sz="1200" b="1" dirty="0"/>
            </a:p>
          </p:txBody>
        </p:sp>
      </p:grpSp>
      <p:sp>
        <p:nvSpPr>
          <p:cNvPr id="147" name="TextBox 146"/>
          <p:cNvSpPr txBox="1"/>
          <p:nvPr/>
        </p:nvSpPr>
        <p:spPr>
          <a:xfrm>
            <a:off x="1994279" y="61927"/>
            <a:ext cx="5791200" cy="35394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66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rtlCol="0" anchor="b">
            <a:spAutoFit/>
          </a:bodyPr>
          <a:lstStyle>
            <a:lvl1pPr algn="ctr">
              <a:lnSpc>
                <a:spcPct val="85000"/>
              </a:lnSpc>
              <a:spcBef>
                <a:spcPct val="0"/>
              </a:spcBef>
              <a:buNone/>
              <a:defRPr sz="4400" spc="-50" baseline="0"/>
            </a:lvl1pPr>
          </a:lstStyle>
          <a:p>
            <a:r>
              <a:rPr lang="en-US" sz="2000" b="1" dirty="0"/>
              <a:t>Macro Calls Within Macro Definition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0682-6C10-47EC-B69B-8CE9B356B849}" type="datetime1">
              <a:rPr lang="en-US" smtClean="0"/>
              <a:t>9/27/2021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9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/>
          <p:cNvSpPr/>
          <p:nvPr/>
        </p:nvSpPr>
        <p:spPr>
          <a:xfrm>
            <a:off x="609600" y="533400"/>
            <a:ext cx="1371600" cy="533400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READ Subroutine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" name="Diamond 2"/>
          <p:cNvSpPr/>
          <p:nvPr/>
        </p:nvSpPr>
        <p:spPr>
          <a:xfrm>
            <a:off x="685800" y="1524000"/>
            <a:ext cx="1219200" cy="533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SP=-1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Diamond 3"/>
          <p:cNvSpPr/>
          <p:nvPr/>
        </p:nvSpPr>
        <p:spPr>
          <a:xfrm>
            <a:off x="5638800" y="4495800"/>
            <a:ext cx="1219200" cy="533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MDLC =0?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Diamond 4"/>
          <p:cNvSpPr/>
          <p:nvPr/>
        </p:nvSpPr>
        <p:spPr>
          <a:xfrm>
            <a:off x="3352800" y="3505200"/>
            <a:ext cx="1219200" cy="533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AIF or AGO ?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Diamond 5"/>
          <p:cNvSpPr/>
          <p:nvPr/>
        </p:nvSpPr>
        <p:spPr>
          <a:xfrm>
            <a:off x="5486400" y="3429000"/>
            <a:ext cx="1600200" cy="5334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MEND Pseudo op ?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" y="2590800"/>
            <a:ext cx="1752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Read Next source card from input file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5800" y="4572000"/>
            <a:ext cx="17526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Return to main processing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38400" y="1333500"/>
            <a:ext cx="1752600" cy="723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Increment MDT pointer to next entry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 S(SP+1) </a:t>
            </a:r>
            <a:r>
              <a:rPr lang="en-US" sz="1400" dirty="0" smtClean="0">
                <a:solidFill>
                  <a:schemeClr val="tx1"/>
                </a:solidFill>
                <a:sym typeface="Wingdings" pitchFamily="2" charset="2"/>
              </a:rPr>
              <a:t> S(SP+1)+1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10199" y="1409701"/>
            <a:ext cx="1864057" cy="6476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Get next card from MDT ; Pointer is S(SP+1)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10200" y="2362200"/>
            <a:ext cx="1864056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Substitute arguments from macro call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S(SP+2) ….S(SP+N+1)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10200" y="5334000"/>
            <a:ext cx="1752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N</a:t>
            </a:r>
            <a:r>
              <a:rPr lang="en-US" dirty="0" smtClean="0">
                <a:solidFill>
                  <a:schemeClr val="tx1"/>
                </a:solidFill>
                <a:sym typeface="Wingdings" pitchFamily="2" charset="2"/>
              </a:rPr>
              <a:t> SP-S(SP)-2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10200" y="6096000"/>
            <a:ext cx="1752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SP</a:t>
            </a:r>
            <a:r>
              <a:rPr lang="en-US" dirty="0" smtClean="0">
                <a:solidFill>
                  <a:schemeClr val="tx1"/>
                </a:solidFill>
                <a:sym typeface="Wingdings" pitchFamily="2" charset="2"/>
              </a:rPr>
              <a:t> S(SP)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124200" y="4571999"/>
            <a:ext cx="1752600" cy="9525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Process AIF or AGO set new value to MDT Pointer , S(SP+1)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endCxn id="3" idx="0"/>
          </p:cNvCxnSpPr>
          <p:nvPr/>
        </p:nvCxnSpPr>
        <p:spPr>
          <a:xfrm rot="5400000">
            <a:off x="1066800" y="12954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3" idx="2"/>
          </p:cNvCxnSpPr>
          <p:nvPr/>
        </p:nvCxnSpPr>
        <p:spPr>
          <a:xfrm rot="5400000">
            <a:off x="1028700" y="23241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2"/>
          </p:cNvCxnSpPr>
          <p:nvPr/>
        </p:nvCxnSpPr>
        <p:spPr>
          <a:xfrm rot="16200000" flipH="1">
            <a:off x="857250" y="3981450"/>
            <a:ext cx="11430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3" idx="3"/>
            <a:endCxn id="9" idx="1"/>
          </p:cNvCxnSpPr>
          <p:nvPr/>
        </p:nvCxnSpPr>
        <p:spPr>
          <a:xfrm flipV="1">
            <a:off x="1905000" y="1695450"/>
            <a:ext cx="533400" cy="95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9" idx="3"/>
            <a:endCxn id="10" idx="1"/>
          </p:cNvCxnSpPr>
          <p:nvPr/>
        </p:nvCxnSpPr>
        <p:spPr>
          <a:xfrm>
            <a:off x="4191000" y="1695450"/>
            <a:ext cx="1219199" cy="381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0" idx="2"/>
            <a:endCxn id="11" idx="0"/>
          </p:cNvCxnSpPr>
          <p:nvPr/>
        </p:nvCxnSpPr>
        <p:spPr>
          <a:xfrm>
            <a:off x="6342228" y="2057400"/>
            <a:ext cx="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1" idx="2"/>
            <a:endCxn id="6" idx="0"/>
          </p:cNvCxnSpPr>
          <p:nvPr/>
        </p:nvCxnSpPr>
        <p:spPr>
          <a:xfrm flipH="1">
            <a:off x="6286500" y="3200400"/>
            <a:ext cx="55728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2"/>
            <a:endCxn id="4" idx="0"/>
          </p:cNvCxnSpPr>
          <p:nvPr/>
        </p:nvCxnSpPr>
        <p:spPr>
          <a:xfrm rot="5400000">
            <a:off x="6000750" y="4210050"/>
            <a:ext cx="5334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4" idx="2"/>
            <a:endCxn id="12" idx="0"/>
          </p:cNvCxnSpPr>
          <p:nvPr/>
        </p:nvCxnSpPr>
        <p:spPr>
          <a:xfrm rot="16200000" flipH="1">
            <a:off x="6115050" y="5162550"/>
            <a:ext cx="3048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2" idx="2"/>
            <a:endCxn id="13" idx="0"/>
          </p:cNvCxnSpPr>
          <p:nvPr/>
        </p:nvCxnSpPr>
        <p:spPr>
          <a:xfrm rot="5400000">
            <a:off x="6172200" y="5981700"/>
            <a:ext cx="228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6" idx="1"/>
            <a:endCxn id="5" idx="3"/>
          </p:cNvCxnSpPr>
          <p:nvPr/>
        </p:nvCxnSpPr>
        <p:spPr>
          <a:xfrm rot="10800000" flipV="1">
            <a:off x="4572000" y="3695700"/>
            <a:ext cx="9144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5" idx="2"/>
            <a:endCxn id="14" idx="0"/>
          </p:cNvCxnSpPr>
          <p:nvPr/>
        </p:nvCxnSpPr>
        <p:spPr>
          <a:xfrm>
            <a:off x="3962400" y="4038600"/>
            <a:ext cx="38100" cy="5333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5" idx="1"/>
          </p:cNvCxnSpPr>
          <p:nvPr/>
        </p:nvCxnSpPr>
        <p:spPr>
          <a:xfrm rot="10800000">
            <a:off x="1981200" y="3733800"/>
            <a:ext cx="13716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5400000">
            <a:off x="1562100" y="4152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" idx="1"/>
          </p:cNvCxnSpPr>
          <p:nvPr/>
        </p:nvCxnSpPr>
        <p:spPr>
          <a:xfrm rot="10800000" flipV="1">
            <a:off x="5029200" y="4762500"/>
            <a:ext cx="6096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rot="5400000">
            <a:off x="4533900" y="5295900"/>
            <a:ext cx="990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rot="10800000">
            <a:off x="1600200" y="5791200"/>
            <a:ext cx="3429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endCxn id="8" idx="2"/>
          </p:cNvCxnSpPr>
          <p:nvPr/>
        </p:nvCxnSpPr>
        <p:spPr>
          <a:xfrm rot="16200000" flipV="1">
            <a:off x="1390650" y="5581650"/>
            <a:ext cx="381000" cy="38100"/>
          </a:xfrm>
          <a:prstGeom prst="line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rot="10800000">
            <a:off x="4800600" y="6239643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4448806" y="6049252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381000" y="11430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/>
          <p:cNvCxnSpPr>
            <a:stCxn id="58" idx="6"/>
          </p:cNvCxnSpPr>
          <p:nvPr/>
        </p:nvCxnSpPr>
        <p:spPr>
          <a:xfrm flipV="1">
            <a:off x="762000" y="1295400"/>
            <a:ext cx="5334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905000" y="14478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No</a:t>
            </a:r>
            <a:endParaRPr lang="en-US" sz="1200" b="1" dirty="0"/>
          </a:p>
        </p:txBody>
      </p:sp>
      <p:sp>
        <p:nvSpPr>
          <p:cNvPr id="62" name="TextBox 61"/>
          <p:cNvSpPr txBox="1"/>
          <p:nvPr/>
        </p:nvSpPr>
        <p:spPr>
          <a:xfrm>
            <a:off x="4876800" y="34290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No</a:t>
            </a:r>
            <a:endParaRPr lang="en-US" sz="1200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5257800" y="44958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No</a:t>
            </a:r>
            <a:endParaRPr lang="en-US" sz="1200" b="1" dirty="0"/>
          </a:p>
        </p:txBody>
      </p:sp>
      <p:sp>
        <p:nvSpPr>
          <p:cNvPr id="64" name="TextBox 63"/>
          <p:cNvSpPr txBox="1"/>
          <p:nvPr/>
        </p:nvSpPr>
        <p:spPr>
          <a:xfrm>
            <a:off x="2895600" y="342900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No</a:t>
            </a:r>
            <a:endParaRPr lang="en-US" sz="1200" b="1" dirty="0"/>
          </a:p>
        </p:txBody>
      </p:sp>
      <p:sp>
        <p:nvSpPr>
          <p:cNvPr id="65" name="TextBox 64"/>
          <p:cNvSpPr txBox="1"/>
          <p:nvPr/>
        </p:nvSpPr>
        <p:spPr>
          <a:xfrm>
            <a:off x="1295400" y="2133601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Yes</a:t>
            </a:r>
            <a:endParaRPr lang="en-US" sz="12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6324600" y="40386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Yes</a:t>
            </a:r>
            <a:endParaRPr lang="en-US" sz="1200" b="1" dirty="0"/>
          </a:p>
        </p:txBody>
      </p:sp>
      <p:sp>
        <p:nvSpPr>
          <p:cNvPr id="67" name="TextBox 66"/>
          <p:cNvSpPr txBox="1"/>
          <p:nvPr/>
        </p:nvSpPr>
        <p:spPr>
          <a:xfrm>
            <a:off x="6511217" y="4843790"/>
            <a:ext cx="252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Yes, terminate macro call; pop back to previous stack frame</a:t>
            </a:r>
            <a:endParaRPr lang="en-US" sz="1200" b="1" dirty="0"/>
          </a:p>
        </p:txBody>
      </p:sp>
      <p:sp>
        <p:nvSpPr>
          <p:cNvPr id="68" name="TextBox 67"/>
          <p:cNvSpPr txBox="1"/>
          <p:nvPr/>
        </p:nvSpPr>
        <p:spPr>
          <a:xfrm>
            <a:off x="3962400" y="411480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Yes</a:t>
            </a:r>
            <a:endParaRPr lang="en-US" sz="1200" b="1" dirty="0"/>
          </a:p>
        </p:txBody>
      </p:sp>
      <p:sp>
        <p:nvSpPr>
          <p:cNvPr id="69" name="TextBox 68"/>
          <p:cNvSpPr txBox="1"/>
          <p:nvPr/>
        </p:nvSpPr>
        <p:spPr>
          <a:xfrm>
            <a:off x="2494006" y="135562"/>
            <a:ext cx="6227928" cy="72295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66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rtlCol="0" anchor="b">
            <a:spAutoFit/>
          </a:bodyPr>
          <a:lstStyle>
            <a:defPPr>
              <a:defRPr lang="en-US"/>
            </a:defPPr>
            <a:lvl1pPr algn="ctr">
              <a:lnSpc>
                <a:spcPct val="85000"/>
              </a:lnSpc>
              <a:spcBef>
                <a:spcPct val="0"/>
              </a:spcBef>
              <a:buNone/>
              <a:defRPr sz="2000" b="1" spc="-50" baseline="0"/>
            </a:lvl1pPr>
          </a:lstStyle>
          <a:p>
            <a:r>
              <a:rPr lang="en-US" sz="2400" dirty="0"/>
              <a:t>Macro Calls Within Macro Definition (READ Subroutine)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62100" y="5834448"/>
            <a:ext cx="2812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Macro definition within macro call</a:t>
            </a:r>
            <a:endParaRPr lang="en-US" sz="1400" b="1" dirty="0"/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0" name="Date Placeholder 3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8A28-CF90-44F8-BB08-5DA7538776AF}" type="datetime1">
              <a:rPr lang="en-US" smtClean="0"/>
              <a:t>9/27/2021</a:t>
            </a:fld>
            <a:endParaRPr lang="en-US"/>
          </a:p>
        </p:txBody>
      </p:sp>
      <p:sp>
        <p:nvSpPr>
          <p:cNvPr id="42" name="Footer Placeholder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7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893417"/>
              </p:ext>
            </p:extLst>
          </p:nvPr>
        </p:nvGraphicFramePr>
        <p:xfrm>
          <a:off x="2209800" y="914400"/>
          <a:ext cx="1447800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:</a:t>
                      </a:r>
                    </a:p>
                    <a:p>
                      <a:pPr algn="ctr"/>
                      <a:r>
                        <a:rPr lang="en-US" dirty="0" smtClean="0"/>
                        <a:t>:</a:t>
                      </a:r>
                    </a:p>
                    <a:p>
                      <a:pPr algn="ctr"/>
                      <a:r>
                        <a:rPr lang="en-US" dirty="0" smtClean="0"/>
                        <a:t>: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S(SP)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S(SP+1)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S(SP+2)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S(SP+3)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252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:</a:t>
                      </a:r>
                    </a:p>
                    <a:p>
                      <a:pPr algn="ctr"/>
                      <a:r>
                        <a:rPr lang="en-US" dirty="0" smtClean="0"/>
                        <a:t>:</a:t>
                      </a:r>
                    </a:p>
                    <a:p>
                      <a:pPr algn="ctr"/>
                      <a:r>
                        <a:rPr lang="en-US" dirty="0" smtClean="0"/>
                        <a:t>:</a:t>
                      </a:r>
                    </a:p>
                    <a:p>
                      <a:pPr algn="ctr"/>
                      <a:r>
                        <a:rPr lang="en-US" dirty="0" smtClean="0"/>
                        <a:t>: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S(SP+1+N)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:</a:t>
                      </a:r>
                    </a:p>
                    <a:p>
                      <a:pPr algn="ctr"/>
                      <a:r>
                        <a:rPr lang="en-US" dirty="0" smtClean="0"/>
                        <a:t>:</a:t>
                      </a:r>
                    </a:p>
                    <a:p>
                      <a:pPr algn="ctr"/>
                      <a:r>
                        <a:rPr lang="en-US" dirty="0" smtClean="0"/>
                        <a:t>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ight Brace 2"/>
          <p:cNvSpPr/>
          <p:nvPr/>
        </p:nvSpPr>
        <p:spPr>
          <a:xfrm>
            <a:off x="3733800" y="914400"/>
            <a:ext cx="457200" cy="1295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Brace 3"/>
          <p:cNvSpPr/>
          <p:nvPr/>
        </p:nvSpPr>
        <p:spPr>
          <a:xfrm>
            <a:off x="3810000" y="5257800"/>
            <a:ext cx="381000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191000" y="1219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Previous Frame(s)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91000" y="54864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Available for next frame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19600" y="22098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itchFamily="2" charset="2"/>
              </a:rPr>
              <a:t> Old SP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19600" y="25908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itchFamily="2" charset="2"/>
              </a:rPr>
              <a:t> MDT Pointer for this frame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419600" y="29718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itchFamily="2" charset="2"/>
              </a:rPr>
              <a:t> 0</a:t>
            </a:r>
            <a:r>
              <a:rPr lang="en-US" baseline="30000" dirty="0" smtClean="0">
                <a:sym typeface="Wingdings" pitchFamily="2" charset="2"/>
              </a:rPr>
              <a:t>th</a:t>
            </a:r>
            <a:r>
              <a:rPr lang="en-US" dirty="0" smtClean="0">
                <a:sym typeface="Wingdings" pitchFamily="2" charset="2"/>
              </a:rPr>
              <a:t> (label) argument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419600" y="33528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itchFamily="2" charset="2"/>
              </a:rPr>
              <a:t> 1</a:t>
            </a:r>
            <a:r>
              <a:rPr lang="en-US" baseline="30000" dirty="0" smtClean="0">
                <a:sym typeface="Wingdings" pitchFamily="2" charset="2"/>
              </a:rPr>
              <a:t>st</a:t>
            </a:r>
            <a:r>
              <a:rPr lang="en-US" dirty="0" smtClean="0">
                <a:sym typeface="Wingdings" pitchFamily="2" charset="2"/>
              </a:rPr>
              <a:t> argument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495800" y="48768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itchFamily="2" charset="2"/>
              </a:rPr>
              <a:t> (N-1)</a:t>
            </a:r>
            <a:r>
              <a:rPr lang="en-US" dirty="0" err="1" smtClean="0">
                <a:sym typeface="Wingdings" pitchFamily="2" charset="2"/>
              </a:rPr>
              <a:t>th</a:t>
            </a:r>
            <a:r>
              <a:rPr lang="en-US" dirty="0" smtClean="0">
                <a:sym typeface="Wingdings" pitchFamily="2" charset="2"/>
              </a:rPr>
              <a:t>  argument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495800" y="3733800"/>
            <a:ext cx="251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ym typeface="Wingdings" pitchFamily="2" charset="2"/>
              </a:rPr>
              <a:t>:</a:t>
            </a:r>
          </a:p>
          <a:p>
            <a:pPr algn="ctr"/>
            <a:r>
              <a:rPr lang="en-US" dirty="0" smtClean="0">
                <a:sym typeface="Wingdings" pitchFamily="2" charset="2"/>
              </a:rPr>
              <a:t>:</a:t>
            </a:r>
          </a:p>
          <a:p>
            <a:pPr algn="ctr"/>
            <a:r>
              <a:rPr lang="en-US" dirty="0" smtClean="0">
                <a:sym typeface="Wingdings" pitchFamily="2" charset="2"/>
              </a:rPr>
              <a:t>:</a:t>
            </a:r>
          </a:p>
          <a:p>
            <a:pPr algn="ctr"/>
            <a:r>
              <a:rPr lang="en-US" dirty="0" smtClean="0">
                <a:sym typeface="Wingdings" pitchFamily="2" charset="2"/>
              </a:rPr>
              <a:t>:</a:t>
            </a:r>
            <a:endParaRPr lang="en-US" dirty="0"/>
          </a:p>
        </p:txBody>
      </p:sp>
      <p:sp>
        <p:nvSpPr>
          <p:cNvPr id="13" name="Right Brace 12"/>
          <p:cNvSpPr/>
          <p:nvPr/>
        </p:nvSpPr>
        <p:spPr>
          <a:xfrm>
            <a:off x="6705600" y="3188732"/>
            <a:ext cx="381000" cy="191666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162800" y="41148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itchFamily="2" charset="2"/>
              </a:rPr>
              <a:t>Macro call ALA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28600" y="2209800"/>
            <a:ext cx="1828800" cy="291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en-US" dirty="0" smtClean="0"/>
              <a:t>SP…………………….</a:t>
            </a:r>
          </a:p>
          <a:p>
            <a:pPr>
              <a:lnSpc>
                <a:spcPts val="2800"/>
              </a:lnSpc>
            </a:pPr>
            <a:r>
              <a:rPr lang="en-US" dirty="0" smtClean="0"/>
              <a:t>SP+1 ……………….</a:t>
            </a:r>
          </a:p>
          <a:p>
            <a:pPr>
              <a:lnSpc>
                <a:spcPts val="2800"/>
              </a:lnSpc>
            </a:pPr>
            <a:r>
              <a:rPr lang="en-US" dirty="0" smtClean="0"/>
              <a:t>SP+2 ……………….</a:t>
            </a:r>
          </a:p>
          <a:p>
            <a:pPr>
              <a:lnSpc>
                <a:spcPts val="2800"/>
              </a:lnSpc>
            </a:pPr>
            <a:r>
              <a:rPr lang="en-US" dirty="0" smtClean="0"/>
              <a:t>SP+3 ……………….</a:t>
            </a:r>
          </a:p>
          <a:p>
            <a:r>
              <a:rPr lang="en-US" dirty="0" smtClean="0"/>
              <a:t>:</a:t>
            </a:r>
          </a:p>
          <a:p>
            <a:r>
              <a:rPr lang="en-US" dirty="0" smtClean="0"/>
              <a:t>:</a:t>
            </a:r>
          </a:p>
          <a:p>
            <a:r>
              <a:rPr lang="en-US" dirty="0" smtClean="0"/>
              <a:t>:</a:t>
            </a:r>
          </a:p>
          <a:p>
            <a:r>
              <a:rPr lang="en-US" dirty="0" smtClean="0"/>
              <a:t>:</a:t>
            </a:r>
          </a:p>
          <a:p>
            <a:r>
              <a:rPr lang="en-US" dirty="0" smtClean="0"/>
              <a:t>(SP+2)+(N-1) …..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4800"/>
            <a:ext cx="3352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Stack Organization</a:t>
            </a:r>
            <a:endParaRPr lang="en-US" b="1" u="sng" dirty="0"/>
          </a:p>
        </p:txBody>
      </p:sp>
      <p:sp>
        <p:nvSpPr>
          <p:cNvPr id="17" name="TextBox 16"/>
          <p:cNvSpPr txBox="1"/>
          <p:nvPr/>
        </p:nvSpPr>
        <p:spPr>
          <a:xfrm>
            <a:off x="5436973" y="228600"/>
            <a:ext cx="3707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C00000"/>
                </a:solidFill>
              </a:rPr>
              <a:t>N=No. of arg. On macro line</a:t>
            </a:r>
          </a:p>
          <a:p>
            <a:r>
              <a:rPr lang="en-US" sz="1600" b="1" dirty="0" smtClean="0">
                <a:solidFill>
                  <a:srgbClr val="C00000"/>
                </a:solidFill>
              </a:rPr>
              <a:t>SP = current value  of stack pointer</a:t>
            </a:r>
          </a:p>
          <a:p>
            <a:r>
              <a:rPr lang="en-US" sz="1600" b="1" dirty="0" smtClean="0">
                <a:solidFill>
                  <a:srgbClr val="C00000"/>
                </a:solidFill>
              </a:rPr>
              <a:t>S(m) =content of </a:t>
            </a:r>
            <a:r>
              <a:rPr lang="en-US" sz="1600" b="1" dirty="0" err="1" smtClean="0">
                <a:solidFill>
                  <a:srgbClr val="C00000"/>
                </a:solidFill>
              </a:rPr>
              <a:t>m</a:t>
            </a:r>
            <a:r>
              <a:rPr lang="en-US" sz="1600" b="1" baseline="30000" dirty="0" err="1" smtClean="0">
                <a:solidFill>
                  <a:srgbClr val="C00000"/>
                </a:solidFill>
              </a:rPr>
              <a:t>th</a:t>
            </a:r>
            <a:r>
              <a:rPr lang="en-US" sz="1600" b="1" dirty="0" smtClean="0">
                <a:solidFill>
                  <a:srgbClr val="C00000"/>
                </a:solidFill>
              </a:rPr>
              <a:t> position on stack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35B52-8272-4441-BB3F-CB9ED64E9874}" type="datetime1">
              <a:rPr lang="en-US" smtClean="0"/>
              <a:t>9/27/2021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8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757667"/>
              </p:ext>
            </p:extLst>
          </p:nvPr>
        </p:nvGraphicFramePr>
        <p:xfrm>
          <a:off x="1673050" y="712572"/>
          <a:ext cx="94529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291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176345"/>
              </p:ext>
            </p:extLst>
          </p:nvPr>
        </p:nvGraphicFramePr>
        <p:xfrm>
          <a:off x="1586552" y="2223448"/>
          <a:ext cx="119242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42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Blank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905431"/>
              </p:ext>
            </p:extLst>
          </p:nvPr>
        </p:nvGraphicFramePr>
        <p:xfrm>
          <a:off x="5947573" y="1365797"/>
          <a:ext cx="1094487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48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Blank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Blank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57286" y="257547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SP=-1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89903" y="1758779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SP=1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01265" y="918519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SP=7</a:t>
            </a: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26795"/>
              </p:ext>
            </p:extLst>
          </p:nvPr>
        </p:nvGraphicFramePr>
        <p:xfrm>
          <a:off x="889686" y="2226275"/>
          <a:ext cx="69197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7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S(1)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S(2)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S(3)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S(4)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S(5)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S(6)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 rot="5400000">
            <a:off x="1062682" y="2051224"/>
            <a:ext cx="308919" cy="123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0768" y="1577547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index</a:t>
            </a:r>
            <a:endParaRPr lang="en-US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256850"/>
              </p:ext>
            </p:extLst>
          </p:nvPr>
        </p:nvGraphicFramePr>
        <p:xfrm>
          <a:off x="5029199" y="1368625"/>
          <a:ext cx="902043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04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S(1)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  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 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 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 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 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S(7)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S(8)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S(9)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S(10)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Right Brace 16"/>
          <p:cNvSpPr/>
          <p:nvPr/>
        </p:nvSpPr>
        <p:spPr>
          <a:xfrm>
            <a:off x="7216346" y="3595816"/>
            <a:ext cx="284205" cy="208829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661188" y="4347574"/>
            <a:ext cx="1482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Current stack frame</a:t>
            </a:r>
            <a:endParaRPr lang="en-US" sz="1600" dirty="0"/>
          </a:p>
        </p:txBody>
      </p:sp>
      <p:sp>
        <p:nvSpPr>
          <p:cNvPr id="19" name="Right Brace 18"/>
          <p:cNvSpPr/>
          <p:nvPr/>
        </p:nvSpPr>
        <p:spPr>
          <a:xfrm>
            <a:off x="7265772" y="1375718"/>
            <a:ext cx="234779" cy="216243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661189" y="1832919"/>
            <a:ext cx="1482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previous stack frame</a:t>
            </a:r>
            <a:endParaRPr lang="en-US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4773826" y="411893"/>
            <a:ext cx="3245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Macro Call:- ADD1 D1</a:t>
            </a:r>
            <a:endParaRPr lang="en-US" sz="16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01362" y="5025081"/>
            <a:ext cx="3245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Call:- ADDS D1, D2, D3</a:t>
            </a:r>
            <a:endParaRPr lang="en-US" sz="1600" b="1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455062"/>
              </p:ext>
            </p:extLst>
          </p:nvPr>
        </p:nvGraphicFramePr>
        <p:xfrm>
          <a:off x="986482" y="716690"/>
          <a:ext cx="68168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681"/>
              </a:tblGrid>
              <a:tr h="355600">
                <a:tc>
                  <a:txBody>
                    <a:bodyPr/>
                    <a:lstStyle/>
                    <a:p>
                      <a:r>
                        <a:rPr lang="en-US" dirty="0" smtClean="0"/>
                        <a:t>S(1)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5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25" name="Straight Connector 24"/>
          <p:cNvCxnSpPr/>
          <p:nvPr/>
        </p:nvCxnSpPr>
        <p:spPr>
          <a:xfrm rot="5400000">
            <a:off x="543698" y="3150973"/>
            <a:ext cx="6314303" cy="123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492" y="1544595"/>
            <a:ext cx="3459892" cy="123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6D24-5544-4621-8B95-1D8E83B5077F}" type="datetime1">
              <a:rPr lang="en-US" smtClean="0"/>
              <a:t>9/27/2021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1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334747" y="197158"/>
            <a:ext cx="2359025" cy="452596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7030A0"/>
                </a:solidFill>
              </a:rPr>
              <a:t>MACRO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C00000"/>
                </a:solidFill>
              </a:rPr>
              <a:t>ADD1	&amp;ARG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C00000"/>
                </a:solidFill>
              </a:rPr>
              <a:t>L	1,&amp;ARG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C00000"/>
                </a:solidFill>
              </a:rPr>
              <a:t>A	1,=F’1’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C00000"/>
                </a:solidFill>
              </a:rPr>
              <a:t>ST	1, &amp;ARG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7030A0"/>
                </a:solidFill>
              </a:rPr>
              <a:t>MEND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7030A0"/>
                </a:solidFill>
              </a:rPr>
              <a:t>MACRO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C00000"/>
                </a:solidFill>
              </a:rPr>
              <a:t>ADDS	&amp;A1, &amp;A2, &amp;A3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C00000"/>
                </a:solidFill>
              </a:rPr>
              <a:t>ADD1	&amp;A1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C00000"/>
                </a:solidFill>
              </a:rPr>
              <a:t>ADD1	&amp;A2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C00000"/>
                </a:solidFill>
              </a:rPr>
              <a:t>ADD1	&amp;A3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7030A0"/>
                </a:solidFill>
              </a:rPr>
              <a:t>MEND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>
                <a:solidFill>
                  <a:srgbClr val="0070C0"/>
                </a:solidFill>
              </a:rPr>
              <a:t>ADDS	D1, D2, D3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/>
              <a:t>: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/>
              <a:t>: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b="1" dirty="0" smtClean="0"/>
              <a:t>END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b="1" dirty="0" smtClean="0"/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91200" y="1066800"/>
          <a:ext cx="3200400" cy="219440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152332"/>
              </p:ext>
            </p:extLst>
          </p:nvPr>
        </p:nvGraphicFramePr>
        <p:xfrm>
          <a:off x="2912533" y="3791142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407995"/>
              </p:ext>
            </p:extLst>
          </p:nvPr>
        </p:nvGraphicFramePr>
        <p:xfrm>
          <a:off x="6667500" y="3488267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 rot="16200000" flipH="1">
            <a:off x="-488092" y="3181865"/>
            <a:ext cx="6400800" cy="37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026BA-547C-479D-8961-F4F78450CE27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04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627797" y="339131"/>
            <a:ext cx="2306472" cy="4525962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>
                <a:solidFill>
                  <a:srgbClr val="FF0000"/>
                </a:solidFill>
              </a:rPr>
              <a:t>MACRO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ADD1	&amp;ARG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L	1,&amp;ARG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A	1,=F’1’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ST	1, &amp;ARG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MEND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MACRO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ADDS	&amp;A1, &amp;A2, &amp;A3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ADD1	&amp;A1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ADD1	&amp;A2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ADD1	&amp;A3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MEND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ADDS	D1, D2, D3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: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: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600" dirty="0" smtClean="0"/>
              <a:t>END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dirty="0" smtClean="0"/>
          </a:p>
        </p:txBody>
      </p:sp>
      <p:sp>
        <p:nvSpPr>
          <p:cNvPr id="4099" name="TextBox 4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91200" y="1066800"/>
          <a:ext cx="3200400" cy="219440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903018"/>
              </p:ext>
            </p:extLst>
          </p:nvPr>
        </p:nvGraphicFramePr>
        <p:xfrm>
          <a:off x="3234267" y="35560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612080"/>
              </p:ext>
            </p:extLst>
          </p:nvPr>
        </p:nvGraphicFramePr>
        <p:xfrm>
          <a:off x="6781800" y="337820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0BA88-B398-48D3-B14D-134B9F90B991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7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</a:t>
            </a:r>
            <a:r>
              <a:rPr lang="en-US" sz="3200" dirty="0" smtClean="0">
                <a:latin typeface="+mn-lt"/>
              </a:rPr>
              <a:t>, D2, D3</a:t>
            </a:r>
            <a:endParaRPr lang="en-US" sz="3200" dirty="0"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5123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91200" y="1066800"/>
          <a:ext cx="3200400" cy="219440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517046"/>
              </p:ext>
            </p:extLst>
          </p:nvPr>
        </p:nvGraphicFramePr>
        <p:xfrm>
          <a:off x="6764867" y="335280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89205"/>
              </p:ext>
            </p:extLst>
          </p:nvPr>
        </p:nvGraphicFramePr>
        <p:xfrm>
          <a:off x="3285067" y="33782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FC9B6-63BC-410F-ACEB-E12C14AC9F1F}" type="datetime1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920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6147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91200" y="1066800"/>
          <a:ext cx="3200400" cy="219440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259179"/>
              </p:ext>
            </p:extLst>
          </p:nvPr>
        </p:nvGraphicFramePr>
        <p:xfrm>
          <a:off x="6781800" y="3445933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54701"/>
              </p:ext>
            </p:extLst>
          </p:nvPr>
        </p:nvGraphicFramePr>
        <p:xfrm>
          <a:off x="3285067" y="3445933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9C26-0924-4A9A-95F7-83FC52DCFB58}" type="datetime1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217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7171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0,1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91200" y="1066800"/>
          <a:ext cx="3200400" cy="219440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 smtClean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437446"/>
              </p:ext>
            </p:extLst>
          </p:nvPr>
        </p:nvGraphicFramePr>
        <p:xfrm>
          <a:off x="6781800" y="355600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289578"/>
              </p:ext>
            </p:extLst>
          </p:nvPr>
        </p:nvGraphicFramePr>
        <p:xfrm>
          <a:off x="3234267" y="3564467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9D26-8C6D-4F2F-A68F-13E5184BBE59}" type="datetime1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898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8195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0,1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91200" y="1066800"/>
          <a:ext cx="3200400" cy="219440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1,#1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506911"/>
              </p:ext>
            </p:extLst>
          </p:nvPr>
        </p:nvGraphicFramePr>
        <p:xfrm>
          <a:off x="6756400" y="3437467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93672"/>
              </p:ext>
            </p:extLst>
          </p:nvPr>
        </p:nvGraphicFramePr>
        <p:xfrm>
          <a:off x="3242733" y="34290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87BB1-7A19-4750-837D-7E32A308828C}" type="datetime1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500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0,1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91200" y="1066800"/>
          <a:ext cx="3200400" cy="219440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1,#1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1,=F’1’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529512"/>
              </p:ext>
            </p:extLst>
          </p:nvPr>
        </p:nvGraphicFramePr>
        <p:xfrm>
          <a:off x="6790266" y="3412066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919318"/>
              </p:ext>
            </p:extLst>
          </p:nvPr>
        </p:nvGraphicFramePr>
        <p:xfrm>
          <a:off x="3225800" y="3445933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B93C4-FCB0-4451-ACDD-45A23CBFBE89}" type="datetime1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436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10243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0,1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91200" y="1066800"/>
          <a:ext cx="3200400" cy="219440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1,#1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1,=F’1’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874401"/>
              </p:ext>
            </p:extLst>
          </p:nvPr>
        </p:nvGraphicFramePr>
        <p:xfrm>
          <a:off x="6773333" y="337820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666460"/>
              </p:ext>
            </p:extLst>
          </p:nvPr>
        </p:nvGraphicFramePr>
        <p:xfrm>
          <a:off x="3285067" y="3412067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D023-2E55-4CC0-BE65-F4F9099AA372}" type="datetime1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92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11267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91200" y="1066800"/>
          <a:ext cx="3200400" cy="2560635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1,#1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1,=F’1’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221377"/>
              </p:ext>
            </p:extLst>
          </p:nvPr>
        </p:nvGraphicFramePr>
        <p:xfrm>
          <a:off x="6798733" y="3818466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163495"/>
              </p:ext>
            </p:extLst>
          </p:nvPr>
        </p:nvGraphicFramePr>
        <p:xfrm>
          <a:off x="3242734" y="38100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E62DF-9954-4599-B082-D0B81E329C40}" type="datetime1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029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12291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51761"/>
              </p:ext>
            </p:extLst>
          </p:nvPr>
        </p:nvGraphicFramePr>
        <p:xfrm>
          <a:off x="6621439" y="4010167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270800"/>
              </p:ext>
            </p:extLst>
          </p:nvPr>
        </p:nvGraphicFramePr>
        <p:xfrm>
          <a:off x="3048001" y="4049973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2560635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1,#1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1,=F’1’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E172-B071-42C0-9EF2-8EBBAD90DC16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324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13315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382305"/>
              </p:ext>
            </p:extLst>
          </p:nvPr>
        </p:nvGraphicFramePr>
        <p:xfrm>
          <a:off x="6764867" y="3793067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846210"/>
              </p:ext>
            </p:extLst>
          </p:nvPr>
        </p:nvGraphicFramePr>
        <p:xfrm>
          <a:off x="3225800" y="3801534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2560635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1,#1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1,=F’1’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4575-C9D8-4CF3-9841-E3B70388FF6F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8767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65449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&amp;A1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&amp;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A2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&amp;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</a:t>
            </a:r>
            <a:r>
              <a:rPr lang="en-US" sz="3200" dirty="0" smtClean="0">
                <a:latin typeface="+mn-lt"/>
              </a:rPr>
              <a:t>, D2, D3</a:t>
            </a:r>
            <a:endParaRPr lang="en-US" sz="3200" dirty="0"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14339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468559"/>
              </p:ext>
            </p:extLst>
          </p:nvPr>
        </p:nvGraphicFramePr>
        <p:xfrm>
          <a:off x="6773333" y="381000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454458"/>
              </p:ext>
            </p:extLst>
          </p:nvPr>
        </p:nvGraphicFramePr>
        <p:xfrm>
          <a:off x="3276600" y="3826933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397686"/>
              </p:ext>
            </p:extLst>
          </p:nvPr>
        </p:nvGraphicFramePr>
        <p:xfrm>
          <a:off x="5791200" y="1066800"/>
          <a:ext cx="3200400" cy="2560635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 #1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=F’1’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6580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6" marB="45726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D74FB-7447-4301-8103-BAA0C2657421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685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&amp;A1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&amp;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A2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&amp;</a:t>
            </a:r>
            <a:r>
              <a:rPr lang="en-US" sz="3200" dirty="0">
                <a:solidFill>
                  <a:srgbClr val="FF0000"/>
                </a:solidFill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</a:t>
            </a:r>
            <a:r>
              <a:rPr lang="en-US" sz="3200" dirty="0" smtClean="0">
                <a:latin typeface="+mn-lt"/>
              </a:rPr>
              <a:t>, D2, D3</a:t>
            </a:r>
            <a:endParaRPr lang="en-US" sz="3200" dirty="0"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15363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sym typeface="Wingdings" panose="05000000000000000000" pitchFamily="2" charset="2"/>
            </a:endParaRP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900951"/>
              </p:ext>
            </p:extLst>
          </p:nvPr>
        </p:nvGraphicFramePr>
        <p:xfrm>
          <a:off x="6807200" y="408940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858669"/>
              </p:ext>
            </p:extLst>
          </p:nvPr>
        </p:nvGraphicFramePr>
        <p:xfrm>
          <a:off x="3352800" y="4097867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020481"/>
              </p:ext>
            </p:extLst>
          </p:nvPr>
        </p:nvGraphicFramePr>
        <p:xfrm>
          <a:off x="5791200" y="1066800"/>
          <a:ext cx="3200400" cy="2926000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2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15" marB="45715"/>
                </a:tc>
              </a:tr>
              <a:tr h="36572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15" marB="45715"/>
                </a:tc>
              </a:tr>
              <a:tr h="36572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  #1</a:t>
                      </a:r>
                      <a:endParaRPr lang="en-US" sz="1800" dirty="0"/>
                    </a:p>
                  </a:txBody>
                  <a:tcPr marT="45715" marB="45715"/>
                </a:tc>
              </a:tr>
              <a:tr h="36572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 =F’1’</a:t>
                      </a:r>
                      <a:endParaRPr lang="en-US" sz="1800" dirty="0"/>
                    </a:p>
                  </a:txBody>
                  <a:tcPr marT="45715" marB="45715"/>
                </a:tc>
              </a:tr>
              <a:tr h="36572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15" marB="45715"/>
                </a:tc>
              </a:tr>
              <a:tr h="36572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15" marB="45715"/>
                </a:tc>
              </a:tr>
              <a:tr h="36572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15" marB="45715"/>
                </a:tc>
              </a:tr>
              <a:tr h="36572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15" marB="45715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E3E4-22A4-47DF-94B9-768A63B1F882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799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</a:t>
            </a:r>
            <a:r>
              <a:rPr lang="en-US" sz="3200" dirty="0" smtClean="0">
                <a:latin typeface="+mn-lt"/>
              </a:rPr>
              <a:t>, D2, D3</a:t>
            </a:r>
            <a:endParaRPr lang="en-US" sz="3200" dirty="0"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16387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sym typeface="Wingdings" panose="05000000000000000000" pitchFamily="2" charset="2"/>
            </a:endParaRP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587745"/>
              </p:ext>
            </p:extLst>
          </p:nvPr>
        </p:nvGraphicFramePr>
        <p:xfrm>
          <a:off x="3420533" y="169333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881883"/>
              </p:ext>
            </p:extLst>
          </p:nvPr>
        </p:nvGraphicFramePr>
        <p:xfrm>
          <a:off x="2321763" y="438687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120498"/>
              </p:ext>
            </p:extLst>
          </p:nvPr>
        </p:nvGraphicFramePr>
        <p:xfrm>
          <a:off x="5791200" y="1066800"/>
          <a:ext cx="3200400" cy="3292479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83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9" marB="45729"/>
                </a:tc>
              </a:tr>
              <a:tr h="36583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9" marB="45729"/>
                </a:tc>
              </a:tr>
              <a:tr h="36583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 #1</a:t>
                      </a:r>
                      <a:endParaRPr lang="en-US" sz="1800" dirty="0"/>
                    </a:p>
                  </a:txBody>
                  <a:tcPr marT="45729" marB="45729"/>
                </a:tc>
              </a:tr>
              <a:tr h="36583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=F’1’</a:t>
                      </a:r>
                      <a:endParaRPr lang="en-US" sz="1800" dirty="0"/>
                    </a:p>
                  </a:txBody>
                  <a:tcPr marT="45729" marB="45729"/>
                </a:tc>
              </a:tr>
              <a:tr h="36583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9" marB="45729"/>
                </a:tc>
              </a:tr>
              <a:tr h="36583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9" marB="45729"/>
                </a:tc>
              </a:tr>
              <a:tr h="36583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29" marB="45729"/>
                </a:tc>
              </a:tr>
              <a:tr h="36583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9" marB="45729"/>
                </a:tc>
              </a:tr>
              <a:tr h="36583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9" marB="45729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29AC-2912-4554-9D1D-A7B5199401CC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177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</a:t>
            </a:r>
            <a:r>
              <a:rPr lang="en-US" sz="3200" dirty="0" smtClean="0">
                <a:latin typeface="+mn-lt"/>
              </a:rPr>
              <a:t>, D2, D3</a:t>
            </a:r>
            <a:endParaRPr lang="en-US" sz="3200" dirty="0"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17411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sym typeface="Wingdings" panose="05000000000000000000" pitchFamily="2" charset="2"/>
            </a:endParaRP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05200" y="106680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138262"/>
              </p:ext>
            </p:extLst>
          </p:nvPr>
        </p:nvGraphicFramePr>
        <p:xfrm>
          <a:off x="2023533" y="40640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966242"/>
              </p:ext>
            </p:extLst>
          </p:nvPr>
        </p:nvGraphicFramePr>
        <p:xfrm>
          <a:off x="5791200" y="1066800"/>
          <a:ext cx="3200400" cy="3657600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MNTC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DEFINITION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ADD1</a:t>
                      </a:r>
                      <a:r>
                        <a:rPr lang="en-US" baseline="0" dirty="0" smtClean="0"/>
                        <a:t>   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   1, #1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 1, =F’1’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MEND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#3</a:t>
                      </a:r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98259-9518-4444-BB81-BBDCBA282EA9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502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279779" y="168322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</a:t>
            </a:r>
            <a:r>
              <a:rPr lang="en-US" sz="3200" dirty="0" smtClean="0">
                <a:latin typeface="+mn-lt"/>
              </a:rPr>
              <a:t>, D2, D3</a:t>
            </a:r>
            <a:endParaRPr lang="en-US" sz="3200" dirty="0"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18435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sym typeface="Wingdings" panose="05000000000000000000" pitchFamily="2" charset="2"/>
            </a:endParaRP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106680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644875"/>
              </p:ext>
            </p:extLst>
          </p:nvPr>
        </p:nvGraphicFramePr>
        <p:xfrm>
          <a:off x="2074333" y="3926609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987879"/>
              </p:ext>
            </p:extLst>
          </p:nvPr>
        </p:nvGraphicFramePr>
        <p:xfrm>
          <a:off x="5791200" y="1066800"/>
          <a:ext cx="3200400" cy="4023206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 #1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=F’1’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13" marB="45713"/>
                </a:tc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13" marB="45713"/>
                </a:tc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13" marB="45713"/>
                </a:tc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 #2</a:t>
                      </a:r>
                    </a:p>
                  </a:txBody>
                  <a:tcPr marT="45713" marB="45713"/>
                </a:tc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13" marB="45713"/>
                </a:tc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 #4</a:t>
                      </a:r>
                    </a:p>
                  </a:txBody>
                  <a:tcPr marT="45713" marB="45713"/>
                </a:tc>
              </a:tr>
              <a:tr h="36570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13" marB="45713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29870-8682-4A85-B60B-0CE5236EFFF9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748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</a:t>
            </a:r>
            <a:r>
              <a:rPr lang="en-US" sz="3200" dirty="0" smtClean="0">
                <a:latin typeface="+mn-lt"/>
              </a:rPr>
              <a:t>, D2, D3</a:t>
            </a:r>
            <a:endParaRPr lang="en-US" sz="3200" dirty="0"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19459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106680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47681"/>
              </p:ext>
            </p:extLst>
          </p:nvPr>
        </p:nvGraphicFramePr>
        <p:xfrm>
          <a:off x="2336800" y="39878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176095"/>
              </p:ext>
            </p:extLst>
          </p:nvPr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 #1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rgbClr val="0070C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418B1-67C1-4153-B680-C3517261F183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851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</a:t>
            </a:r>
            <a:r>
              <a:rPr lang="en-US" sz="3200" dirty="0" smtClean="0">
                <a:latin typeface="+mn-lt"/>
              </a:rPr>
              <a:t>	1,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</a:t>
            </a:r>
            <a:r>
              <a:rPr lang="en-US" sz="3200" dirty="0" smtClean="0">
                <a:latin typeface="+mn-lt"/>
              </a:rPr>
              <a:t>	1,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</a:t>
            </a:r>
            <a:r>
              <a:rPr lang="en-US" sz="3200" dirty="0" smtClean="0">
                <a:latin typeface="+mn-lt"/>
              </a:rPr>
              <a:t>	1,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D2, D3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20483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705126"/>
              </p:ext>
            </p:extLst>
          </p:nvPr>
        </p:nvGraphicFramePr>
        <p:xfrm>
          <a:off x="1361868" y="4506415"/>
          <a:ext cx="2891253" cy="1808307"/>
        </p:xfrm>
        <a:graphic>
          <a:graphicData uri="http://schemas.openxmlformats.org/drawingml/2006/table">
            <a:tbl>
              <a:tblPr firstRow="1" bandRow="1"/>
              <a:tblGrid>
                <a:gridCol w="788524"/>
                <a:gridCol w="1117075"/>
                <a:gridCol w="985654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074325"/>
              </p:ext>
            </p:extLst>
          </p:nvPr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 #1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814490"/>
              </p:ext>
            </p:extLst>
          </p:nvPr>
        </p:nvGraphicFramePr>
        <p:xfrm>
          <a:off x="4405952" y="2468556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CDE5-29F9-4B3B-8DD5-6145B00F8972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495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320722" y="154675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21507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428706"/>
              </p:ext>
            </p:extLst>
          </p:nvPr>
        </p:nvGraphicFramePr>
        <p:xfrm>
          <a:off x="812042" y="4719219"/>
          <a:ext cx="3352799" cy="1572192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47496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2145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2145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21458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569577"/>
              </p:ext>
            </p:extLst>
          </p:nvPr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 #1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276243"/>
              </p:ext>
            </p:extLst>
          </p:nvPr>
        </p:nvGraphicFramePr>
        <p:xfrm>
          <a:off x="4337713" y="2359925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050-18CA-4719-AD8F-AD57E107DB05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513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D2, D3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22531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274503"/>
              </p:ext>
            </p:extLst>
          </p:nvPr>
        </p:nvGraphicFramePr>
        <p:xfrm>
          <a:off x="956228" y="4830763"/>
          <a:ext cx="3352799" cy="15859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488672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2535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2535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25353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30816"/>
              </p:ext>
            </p:extLst>
          </p:nvPr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 #1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994598"/>
              </p:ext>
            </p:extLst>
          </p:nvPr>
        </p:nvGraphicFramePr>
        <p:xfrm>
          <a:off x="44196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D97A-7A13-499C-969D-E0B1AA40FFD2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913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D2, D3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23555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42787"/>
              </p:ext>
            </p:extLst>
          </p:nvPr>
        </p:nvGraphicFramePr>
        <p:xfrm>
          <a:off x="991989" y="4830763"/>
          <a:ext cx="3352799" cy="1462976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29796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29796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29796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927853"/>
              </p:ext>
            </p:extLst>
          </p:nvPr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 #1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97062"/>
              </p:ext>
            </p:extLst>
          </p:nvPr>
        </p:nvGraphicFramePr>
        <p:xfrm>
          <a:off x="44196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Blk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740CE-78D7-4874-BAA0-D6BE093F6D9B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147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D2, D3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24579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644408"/>
              </p:ext>
            </p:extLst>
          </p:nvPr>
        </p:nvGraphicFramePr>
        <p:xfrm>
          <a:off x="987188" y="4609531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01081"/>
              </p:ext>
            </p:extLst>
          </p:nvPr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 #1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760511"/>
              </p:ext>
            </p:extLst>
          </p:nvPr>
        </p:nvGraphicFramePr>
        <p:xfrm>
          <a:off x="4474191" y="233263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Blk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12C16-4F06-46F9-B39E-BDAA04DA7045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383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D2, D3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25603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4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sym typeface="Wingdings" panose="05000000000000000000" pitchFamily="2" charset="2"/>
            </a:endParaRP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85024"/>
              </p:ext>
            </p:extLst>
          </p:nvPr>
        </p:nvGraphicFramePr>
        <p:xfrm>
          <a:off x="864358" y="4732361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204052"/>
              </p:ext>
            </p:extLst>
          </p:nvPr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 #1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207470"/>
              </p:ext>
            </p:extLst>
          </p:nvPr>
        </p:nvGraphicFramePr>
        <p:xfrm>
          <a:off x="44196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Blk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731" name="TextBox 9"/>
          <p:cNvSpPr txBox="1">
            <a:spLocks noChangeArrowheads="1"/>
          </p:cNvSpPr>
          <p:nvPr/>
        </p:nvSpPr>
        <p:spPr bwMode="auto">
          <a:xfrm>
            <a:off x="6101687" y="5834418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ADD1    D1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89FCA-7EF8-4B70-BA1A-82B8551074BE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192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D2, D3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26627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4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sym typeface="Wingdings" panose="05000000000000000000" pitchFamily="2" charset="2"/>
            </a:endParaRP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1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257811"/>
              </p:ext>
            </p:extLst>
          </p:nvPr>
        </p:nvGraphicFramePr>
        <p:xfrm>
          <a:off x="1082722" y="4530512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706286"/>
              </p:ext>
            </p:extLst>
          </p:nvPr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 #1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820796"/>
              </p:ext>
            </p:extLst>
          </p:nvPr>
        </p:nvGraphicFramePr>
        <p:xfrm>
          <a:off x="4501487" y="2359926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solidFill>
                            <a:srgbClr val="FF0000"/>
                          </a:solidFill>
                        </a:rPr>
                        <a:t>Blk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D21B-DBBF-4A5B-A626-28410401F4A0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957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4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  <a:sym typeface="Wingdings" panose="05000000000000000000" pitchFamily="2" charset="2"/>
            </a:endParaRPr>
          </a:p>
          <a:p>
            <a:pPr eaLnBrk="1" hangingPunct="1"/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</a:t>
            </a:r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, 1, 7</a:t>
            </a:r>
            <a:endParaRPr lang="en-US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1,#1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532907"/>
              </p:ext>
            </p:extLst>
          </p:nvPr>
        </p:nvGraphicFramePr>
        <p:xfrm>
          <a:off x="4378657" y="2249615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75B8-A384-48AC-9B56-7E5FE2FD3448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721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28675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ADD1</a:t>
                      </a:r>
                      <a:r>
                        <a:rPr lang="en-US" sz="1800" baseline="0" dirty="0" smtClean="0">
                          <a:solidFill>
                            <a:srgbClr val="FF0000"/>
                          </a:solidFill>
                        </a:rPr>
                        <a:t>   &amp;ARG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1,#1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4196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9A6A-3523-4079-ACBC-D6BA9B4CF4AF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433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304800"/>
            <a:ext cx="2895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29699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2194404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INDEX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ARGUMENT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&amp;ARG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&amp;A1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&amp;A2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&amp;A3</a:t>
                      </a:r>
                      <a:endParaRPr lang="en-US" sz="1800" dirty="0"/>
                    </a:p>
                  </a:txBody>
                  <a:tcPr marT="45707" marB="45707"/>
                </a:tc>
              </a:tr>
              <a:tr h="365654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07" marB="45707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7" marB="45707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ADD1</a:t>
                      </a:r>
                      <a:r>
                        <a:rPr lang="en-US" sz="1800" baseline="0" dirty="0" smtClean="0">
                          <a:solidFill>
                            <a:srgbClr val="FF0000"/>
                          </a:solidFill>
                        </a:rPr>
                        <a:t>   &amp;ARG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L   1,#1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4196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E477D-A569-4EE8-AE46-70CD102FD570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486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30723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34931" y="224687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646113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7E17-9064-4302-9EE3-C952317035FE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102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31747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1477963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459786"/>
            <a:ext cx="1854203" cy="365125"/>
          </a:xfrm>
        </p:spPr>
        <p:txBody>
          <a:bodyPr/>
          <a:lstStyle/>
          <a:p>
            <a:fld id="{3552D1AC-0CA0-4413-9150-8EA68A966086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198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32771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20320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5160" y="6492875"/>
            <a:ext cx="1854203" cy="365125"/>
          </a:xfrm>
        </p:spPr>
        <p:txBody>
          <a:bodyPr/>
          <a:lstStyle/>
          <a:p>
            <a:fld id="{543DED34-0D81-4831-BAFE-BBA88A25E1FD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32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33795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MEND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20320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32087" y="6459785"/>
            <a:ext cx="1854203" cy="365125"/>
          </a:xfrm>
        </p:spPr>
        <p:txBody>
          <a:bodyPr/>
          <a:lstStyle/>
          <a:p>
            <a:fld id="{22EEABE2-8363-4E5D-8C41-F7DB9FE7AD08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761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34819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MEND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20320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4945" name="TextBox 10"/>
          <p:cNvSpPr txBox="1">
            <a:spLocks noChangeArrowheads="1"/>
          </p:cNvSpPr>
          <p:nvPr/>
        </p:nvSpPr>
        <p:spPr bwMode="auto">
          <a:xfrm>
            <a:off x="6172200" y="5867400"/>
            <a:ext cx="1981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ADD1  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D2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99197" y="6459785"/>
            <a:ext cx="1854203" cy="365125"/>
          </a:xfrm>
        </p:spPr>
        <p:txBody>
          <a:bodyPr/>
          <a:lstStyle/>
          <a:p>
            <a:fld id="{DC37686B-76E6-4C18-A841-ED3F6DADD622}" type="datetime1">
              <a:rPr lang="en-US" smtClean="0"/>
              <a:t>9/27/2021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305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35843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MEND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D2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20320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5969" name="TextBox 10"/>
          <p:cNvSpPr txBox="1">
            <a:spLocks noChangeArrowheads="1"/>
          </p:cNvSpPr>
          <p:nvPr/>
        </p:nvSpPr>
        <p:spPr bwMode="auto">
          <a:xfrm>
            <a:off x="6172200" y="5867400"/>
            <a:ext cx="1981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ADD1 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D2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459785"/>
            <a:ext cx="1854203" cy="365125"/>
          </a:xfrm>
        </p:spPr>
        <p:txBody>
          <a:bodyPr/>
          <a:lstStyle/>
          <a:p>
            <a:fld id="{01E71E16-7616-4F12-AD03-9E9BF753A4DB}" type="datetime1">
              <a:rPr lang="en-US" smtClean="0"/>
              <a:t>9/27/2021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434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36867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1477963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459785"/>
            <a:ext cx="1854203" cy="365125"/>
          </a:xfrm>
        </p:spPr>
        <p:txBody>
          <a:bodyPr/>
          <a:lstStyle/>
          <a:p>
            <a:fld id="{5D7C7DED-185B-40FD-BAAE-B001B5DBFAB5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769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37891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2308225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500346"/>
            <a:ext cx="1854203" cy="365125"/>
          </a:xfrm>
        </p:spPr>
        <p:txBody>
          <a:bodyPr/>
          <a:lstStyle/>
          <a:p>
            <a:fld id="{F78C1ABE-6916-4CDB-8235-77C0C6BA556C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036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D2, D3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38915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837256"/>
              </p:ext>
            </p:extLst>
          </p:nvPr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 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  1, =F’1’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20320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</a:t>
            </a:r>
            <a:r>
              <a:rPr lang="en-US" dirty="0" smtClean="0">
                <a:latin typeface="+mn-lt"/>
              </a:rPr>
              <a:t>, D1</a:t>
            </a: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</a:t>
            </a:r>
            <a:r>
              <a:rPr lang="en-US" dirty="0" smtClean="0">
                <a:latin typeface="+mn-lt"/>
              </a:rPr>
              <a:t>, =</a:t>
            </a:r>
            <a:r>
              <a:rPr lang="en-US" dirty="0">
                <a:latin typeface="+mn-lt"/>
              </a:rPr>
              <a:t>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</a:t>
            </a:r>
            <a:r>
              <a:rPr lang="en-US" dirty="0" smtClean="0">
                <a:latin typeface="+mn-lt"/>
              </a:rPr>
              <a:t>, D1</a:t>
            </a: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</a:t>
            </a:r>
            <a:r>
              <a:rPr lang="en-US" dirty="0" smtClean="0">
                <a:latin typeface="+mn-lt"/>
              </a:rPr>
              <a:t>, D2</a:t>
            </a: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</a:t>
            </a:r>
            <a:r>
              <a:rPr lang="en-US" dirty="0" smtClean="0">
                <a:latin typeface="+mn-lt"/>
              </a:rPr>
              <a:t>, =</a:t>
            </a:r>
            <a:r>
              <a:rPr lang="en-US" dirty="0">
                <a:latin typeface="+mn-lt"/>
              </a:rPr>
              <a:t>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</a:t>
            </a:r>
            <a:r>
              <a:rPr lang="en-US" dirty="0" smtClean="0">
                <a:latin typeface="+mn-lt"/>
              </a:rPr>
              <a:t>, D2</a:t>
            </a: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454378"/>
            <a:ext cx="1854203" cy="365125"/>
          </a:xfrm>
        </p:spPr>
        <p:txBody>
          <a:bodyPr/>
          <a:lstStyle/>
          <a:p>
            <a:fld id="{401710B5-2DFD-495C-842C-0AD8D85CDF9B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229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39939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0,4,2,4,2,4,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-1,1,7,1,7,1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MEND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1754188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3603" y="6441499"/>
            <a:ext cx="1854203" cy="365125"/>
          </a:xfrm>
        </p:spPr>
        <p:txBody>
          <a:bodyPr/>
          <a:lstStyle/>
          <a:p>
            <a:fld id="{E2CF8D1E-0F17-4B4A-93EF-90CFB28C0841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017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40963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0,4,2,4,2,4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-1,1,7,1,7,1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MEND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1754188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1,D2</a:t>
            </a:r>
          </a:p>
        </p:txBody>
      </p:sp>
      <p:sp>
        <p:nvSpPr>
          <p:cNvPr id="41089" name="TextBox 10"/>
          <p:cNvSpPr txBox="1">
            <a:spLocks noChangeArrowheads="1"/>
          </p:cNvSpPr>
          <p:nvPr/>
        </p:nvSpPr>
        <p:spPr bwMode="auto">
          <a:xfrm>
            <a:off x="6172200" y="5867400"/>
            <a:ext cx="1981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ADD1  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D3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3150" y="6459786"/>
            <a:ext cx="1854203" cy="365125"/>
          </a:xfrm>
        </p:spPr>
        <p:txBody>
          <a:bodyPr/>
          <a:lstStyle/>
          <a:p>
            <a:fld id="{7AE91CD4-5E32-47BE-B2D2-AD5467F0CC36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794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D2, D3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41987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0,4,2,4,2,4,2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596671"/>
              </p:ext>
            </p:extLst>
          </p:nvPr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 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  1, =F’1’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MEND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1754188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</a:t>
            </a:r>
            <a:r>
              <a:rPr lang="en-US" dirty="0" smtClean="0">
                <a:latin typeface="+mn-lt"/>
              </a:rPr>
              <a:t>, D1</a:t>
            </a: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</a:t>
            </a:r>
            <a:r>
              <a:rPr lang="en-US" dirty="0" smtClean="0">
                <a:latin typeface="+mn-lt"/>
              </a:rPr>
              <a:t>, =</a:t>
            </a:r>
            <a:r>
              <a:rPr lang="en-US" dirty="0">
                <a:latin typeface="+mn-lt"/>
              </a:rPr>
              <a:t>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</a:t>
            </a:r>
            <a:r>
              <a:rPr lang="en-US" dirty="0" smtClean="0">
                <a:latin typeface="+mn-lt"/>
              </a:rPr>
              <a:t>, D1</a:t>
            </a: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</a:t>
            </a:r>
            <a:r>
              <a:rPr lang="en-US" dirty="0" smtClean="0">
                <a:latin typeface="+mn-lt"/>
              </a:rPr>
              <a:t>, D2</a:t>
            </a: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</a:t>
            </a:r>
            <a:r>
              <a:rPr lang="en-US" dirty="0" smtClean="0">
                <a:latin typeface="+mn-lt"/>
              </a:rPr>
              <a:t>, =</a:t>
            </a:r>
            <a:r>
              <a:rPr lang="en-US" dirty="0">
                <a:latin typeface="+mn-lt"/>
              </a:rPr>
              <a:t>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1,D2</a:t>
            </a:r>
          </a:p>
        </p:txBody>
      </p:sp>
      <p:sp>
        <p:nvSpPr>
          <p:cNvPr id="42113" name="TextBox 10"/>
          <p:cNvSpPr txBox="1">
            <a:spLocks noChangeArrowheads="1"/>
          </p:cNvSpPr>
          <p:nvPr/>
        </p:nvSpPr>
        <p:spPr bwMode="auto">
          <a:xfrm>
            <a:off x="6172200" y="5867400"/>
            <a:ext cx="1981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 smtClean="0">
                <a:solidFill>
                  <a:srgbClr val="FF0000"/>
                </a:solidFill>
                <a:latin typeface="Calibri" panose="020F0502020204030204" pitchFamily="34" charset="0"/>
              </a:rPr>
              <a:t>ADD1  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</a:rPr>
              <a:t>D3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98242" y="6459785"/>
            <a:ext cx="1854203" cy="365125"/>
          </a:xfrm>
        </p:spPr>
        <p:txBody>
          <a:bodyPr/>
          <a:lstStyle/>
          <a:p>
            <a:fld id="{313EF691-3B16-46CB-96B1-C694FC8BC6A5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231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28789" y="231820"/>
            <a:ext cx="2305318" cy="4525963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</a:t>
            </a:r>
            <a:r>
              <a:rPr lang="en-US" sz="3200" dirty="0" smtClean="0">
                <a:latin typeface="+mn-lt"/>
              </a:rPr>
              <a:t>, =</a:t>
            </a:r>
            <a:r>
              <a:rPr lang="en-US" sz="3200" dirty="0">
                <a:latin typeface="+mn-lt"/>
              </a:rPr>
              <a:t>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</a:t>
            </a:r>
            <a:r>
              <a:rPr lang="en-US" sz="3200" dirty="0" smtClean="0">
                <a:latin typeface="+mn-lt"/>
              </a:rPr>
              <a:t>A1, &amp;</a:t>
            </a:r>
            <a:r>
              <a:rPr lang="en-US" sz="3200" dirty="0">
                <a:latin typeface="+mn-lt"/>
              </a:rPr>
              <a:t>A2</a:t>
            </a:r>
            <a:r>
              <a:rPr lang="en-US" sz="3200" dirty="0" smtClean="0">
                <a:latin typeface="+mn-lt"/>
              </a:rPr>
              <a:t>, &amp;</a:t>
            </a:r>
            <a:r>
              <a:rPr lang="en-US" sz="3200" dirty="0">
                <a:latin typeface="+mn-lt"/>
              </a:rPr>
              <a:t>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</a:t>
            </a:r>
            <a:r>
              <a:rPr lang="en-US" sz="3200" dirty="0" smtClean="0">
                <a:solidFill>
                  <a:srgbClr val="FF0000"/>
                </a:solidFill>
                <a:latin typeface="+mn-lt"/>
              </a:rPr>
              <a:t>, D2, D3</a:t>
            </a:r>
            <a:r>
              <a:rPr lang="en-US" sz="3200" dirty="0" smtClean="0">
                <a:latin typeface="+mn-lt"/>
              </a:rPr>
              <a:t>1</a:t>
            </a:r>
            <a:endParaRPr lang="en-US" sz="3200" dirty="0">
              <a:solidFill>
                <a:srgbClr val="FF0000"/>
              </a:solidFill>
              <a:latin typeface="+mn-lt"/>
            </a:endParaRP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43011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0,4,2,4,2,4,2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604561"/>
              </p:ext>
            </p:extLst>
          </p:nvPr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L   1, #1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  1, =F’1’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 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 &amp;A2, 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2032000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966257" y="6448970"/>
            <a:ext cx="984019" cy="365125"/>
          </a:xfrm>
        </p:spPr>
        <p:txBody>
          <a:bodyPr/>
          <a:lstStyle/>
          <a:p>
            <a:fld id="{428E721A-F7CA-4705-81EC-A2370FE3F563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5298" y="6459785"/>
            <a:ext cx="1854203" cy="365125"/>
          </a:xfrm>
        </p:spPr>
        <p:txBody>
          <a:bodyPr/>
          <a:lstStyle/>
          <a:p>
            <a:fld id="{F80D8EBC-0DBC-46E4-AC3A-DA11FFBFA743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647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44035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0,4,2,4,2,4,2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90800" y="2286000"/>
            <a:ext cx="1676400" cy="2308225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3150" y="6428620"/>
            <a:ext cx="1854203" cy="365125"/>
          </a:xfrm>
        </p:spPr>
        <p:txBody>
          <a:bodyPr/>
          <a:lstStyle/>
          <a:p>
            <a:fld id="{B80A0568-5EAE-4127-88A5-CA153E4AB84A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852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84667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45059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0,4,2,4,2,4,2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-1,1,7,1,7,1,7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MEND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2209800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683933" y="2024592"/>
            <a:ext cx="1676400" cy="2586038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96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3150" y="6459785"/>
            <a:ext cx="1854203" cy="365125"/>
          </a:xfrm>
        </p:spPr>
        <p:txBody>
          <a:bodyPr/>
          <a:lstStyle/>
          <a:p>
            <a:fld id="{51BC149E-FF31-4FBA-9376-1243DAF9F04C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177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46083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0,4,2,4,2,4,2,4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-1,1,7,1,7,1,7,1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MEND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432194"/>
              </p:ext>
            </p:extLst>
          </p:nvPr>
        </p:nvGraphicFramePr>
        <p:xfrm>
          <a:off x="4572000" y="1900707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667000" y="2032000"/>
            <a:ext cx="1676400" cy="2586038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97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3150" y="6454378"/>
            <a:ext cx="1854203" cy="365125"/>
          </a:xfrm>
        </p:spPr>
        <p:txBody>
          <a:bodyPr/>
          <a:lstStyle/>
          <a:p>
            <a:fld id="{FBD9F5B7-E707-4CE8-964F-2BE6B0F3CFE9}" type="datetime1">
              <a:rPr lang="en-US" smtClean="0"/>
              <a:t>9/27/2021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870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47107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0,4,2,4,2,4,2,4,0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-1,1,7,1,7,1,7,1,-1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4800600"/>
          <a:ext cx="3352799" cy="1808307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711075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6569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MEND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902723"/>
              </p:ext>
            </p:extLst>
          </p:nvPr>
        </p:nvGraphicFramePr>
        <p:xfrm>
          <a:off x="4572000" y="1900707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633134" y="2074333"/>
            <a:ext cx="1676400" cy="2586038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18197" y="6492875"/>
            <a:ext cx="1854203" cy="365125"/>
          </a:xfrm>
        </p:spPr>
        <p:txBody>
          <a:bodyPr/>
          <a:lstStyle/>
          <a:p>
            <a:fld id="{8A8234A3-82B2-40EA-9ECC-1551C7200297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29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0" y="0"/>
            <a:ext cx="2514600" cy="4525963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L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	1,=F’1’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ST	1,&amp;ARG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MACRO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&amp;A1,&amp;A2,&amp;A3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&amp;A1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&amp;A2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ADD1	&amp;A3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MEND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ADDS	D1,D2,D3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latin typeface="+mn-lt"/>
              </a:rPr>
              <a:t>: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END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3200" dirty="0">
              <a:latin typeface="+mn-lt"/>
            </a:endParaRPr>
          </a:p>
        </p:txBody>
      </p:sp>
      <p:sp>
        <p:nvSpPr>
          <p:cNvPr id="48131" name="TextBox 2"/>
          <p:cNvSpPr txBox="1">
            <a:spLocks noChangeArrowheads="1"/>
          </p:cNvSpPr>
          <p:nvPr/>
        </p:nvSpPr>
        <p:spPr bwMode="auto">
          <a:xfrm>
            <a:off x="6400800" y="0"/>
            <a:ext cx="274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</a:rPr>
              <a:t>MDLC </a:t>
            </a:r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N  0,4,2,4,2,4,2,4,0</a:t>
            </a:r>
          </a:p>
          <a:p>
            <a:pPr eaLnBrk="1" hangingPunct="1"/>
            <a:r>
              <a:rPr lang="en-US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SP  -1,1,7,1,7,1,7,1,-1</a:t>
            </a:r>
            <a:endParaRPr lang="en-US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0" y="0"/>
          <a:ext cx="2209800" cy="1828800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</a:tblGrid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ARGUMENT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&amp;ARG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&amp;A1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&amp;A2</a:t>
                      </a:r>
                      <a:endParaRPr lang="en-US" dirty="0"/>
                    </a:p>
                  </a:txBody>
                  <a:tcPr/>
                </a:tc>
              </a:tr>
              <a:tr h="3302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700504"/>
              </p:ext>
            </p:extLst>
          </p:nvPr>
        </p:nvGraphicFramePr>
        <p:xfrm>
          <a:off x="304800" y="4800601"/>
          <a:ext cx="3352799" cy="1601498"/>
        </p:xfrm>
        <a:graphic>
          <a:graphicData uri="http://schemas.openxmlformats.org/drawingml/2006/table">
            <a:tbl>
              <a:tblPr firstRow="1" bandRow="1"/>
              <a:tblGrid>
                <a:gridCol w="914400"/>
                <a:gridCol w="1295400"/>
                <a:gridCol w="1142999"/>
              </a:tblGrid>
              <a:tr h="504266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NAME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MDTC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37089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37089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ADDS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12" marB="45712"/>
                </a:tc>
              </a:tr>
              <a:tr h="337089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2" marB="45712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91200" y="1066800"/>
          <a:ext cx="3200400" cy="4389444"/>
        </p:xfrm>
        <a:graphic>
          <a:graphicData uri="http://schemas.openxmlformats.org/drawingml/2006/table">
            <a:tbl>
              <a:tblPr firstRow="1" bandRow="1"/>
              <a:tblGrid>
                <a:gridCol w="762000"/>
                <a:gridCol w="24384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MNTC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DEFINITION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ADD1</a:t>
                      </a:r>
                      <a:r>
                        <a:rPr lang="en-US" sz="1800" baseline="0" dirty="0" smtClean="0"/>
                        <a:t>   &amp;ARG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L   1,#1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A  1,=F’1’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  1,#1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MEND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ADDS  &amp;A1,&amp;A2,&amp;A3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#2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        #3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ADD1	#4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MEND</a:t>
                      </a:r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3" marB="45723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738781"/>
              </p:ext>
            </p:extLst>
          </p:nvPr>
        </p:nvGraphicFramePr>
        <p:xfrm>
          <a:off x="4559122" y="1888067"/>
          <a:ext cx="1143000" cy="43894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/>
                <a:gridCol w="571500"/>
              </a:tblGrid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-1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D2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Blk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D3</a:t>
                      </a:r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  <a:tr h="36578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12</a:t>
                      </a:r>
                      <a:endParaRPr lang="en-US" sz="1800" dirty="0"/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3" marB="45723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616200" y="1888067"/>
            <a:ext cx="1676400" cy="2862263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L  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A  1,=F’1’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ST  1,D2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END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99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BA9EC-2862-412B-8644-CF8A405827EE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651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255" y="1514903"/>
            <a:ext cx="7543800" cy="1450757"/>
          </a:xfr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anchor="ctr">
            <a:normAutofit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Single </a:t>
            </a:r>
            <a:r>
              <a:rPr lang="en-US" b="1" dirty="0">
                <a:solidFill>
                  <a:schemeClr val="tx1"/>
                </a:solidFill>
              </a:rPr>
              <a:t>Pass Macro Processor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100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98EBB-BE0C-45D5-9633-DA9388E19DA4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65563" y="2965660"/>
            <a:ext cx="7543800" cy="145075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 smtClean="0">
                <a:solidFill>
                  <a:schemeClr val="tx1"/>
                </a:solidFill>
              </a:rPr>
              <a:t>(Macro Definition Within Macro)</a:t>
            </a:r>
            <a:endParaRPr lang="en-US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42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4346" y="375279"/>
            <a:ext cx="6338559" cy="5355312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b="1" dirty="0" smtClean="0"/>
              <a:t>Example: </a:t>
            </a:r>
          </a:p>
          <a:p>
            <a:r>
              <a:rPr lang="en-US" dirty="0" smtClean="0"/>
              <a:t>---------</a:t>
            </a:r>
          </a:p>
          <a:p>
            <a:r>
              <a:rPr lang="en-US" dirty="0" smtClean="0"/>
              <a:t>---------</a:t>
            </a:r>
          </a:p>
          <a:p>
            <a:r>
              <a:rPr lang="en-US" dirty="0" smtClean="0"/>
              <a:t> MACRO </a:t>
            </a:r>
          </a:p>
          <a:p>
            <a:r>
              <a:rPr lang="en-US" dirty="0" smtClean="0"/>
              <a:t> DEFINE &amp;SUB</a:t>
            </a:r>
          </a:p>
          <a:p>
            <a:r>
              <a:rPr lang="en-US" dirty="0" smtClean="0"/>
              <a:t> MACRO</a:t>
            </a:r>
          </a:p>
          <a:p>
            <a:r>
              <a:rPr lang="en-US" dirty="0" smtClean="0"/>
              <a:t> &amp;SUB &amp;Y</a:t>
            </a:r>
          </a:p>
          <a:p>
            <a:r>
              <a:rPr lang="en-US" dirty="0" smtClean="0"/>
              <a:t> CNOP 0, 4</a:t>
            </a:r>
          </a:p>
          <a:p>
            <a:r>
              <a:rPr lang="en-US" dirty="0" smtClean="0"/>
              <a:t> BAL 1, *+8</a:t>
            </a:r>
          </a:p>
          <a:p>
            <a:r>
              <a:rPr lang="en-US" dirty="0" smtClean="0"/>
              <a:t> DC A(&amp;Y)</a:t>
            </a:r>
          </a:p>
          <a:p>
            <a:r>
              <a:rPr lang="en-US" dirty="0" smtClean="0"/>
              <a:t> L 15, =V(&amp;SUB)</a:t>
            </a:r>
          </a:p>
          <a:p>
            <a:r>
              <a:rPr lang="en-US" dirty="0" smtClean="0"/>
              <a:t> BALR 14, 15</a:t>
            </a:r>
          </a:p>
          <a:p>
            <a:r>
              <a:rPr lang="en-US" dirty="0" smtClean="0"/>
              <a:t>  MEND</a:t>
            </a:r>
          </a:p>
          <a:p>
            <a:r>
              <a:rPr lang="en-US" dirty="0" smtClean="0"/>
              <a:t>  MEND </a:t>
            </a:r>
          </a:p>
          <a:p>
            <a:r>
              <a:rPr lang="en-US" dirty="0" smtClean="0"/>
              <a:t>------</a:t>
            </a:r>
          </a:p>
          <a:p>
            <a:r>
              <a:rPr lang="en-US" dirty="0" smtClean="0"/>
              <a:t> DEFINE COS</a:t>
            </a:r>
          </a:p>
          <a:p>
            <a:r>
              <a:rPr lang="en-US" dirty="0" smtClean="0"/>
              <a:t> COS AR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Right Brace 2"/>
          <p:cNvSpPr/>
          <p:nvPr/>
        </p:nvSpPr>
        <p:spPr>
          <a:xfrm>
            <a:off x="3189416" y="4559643"/>
            <a:ext cx="369330" cy="51166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71326" y="469877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Macro call</a:t>
            </a:r>
            <a:endParaRPr lang="en-US" dirty="0"/>
          </a:p>
        </p:txBody>
      </p:sp>
      <p:sp>
        <p:nvSpPr>
          <p:cNvPr id="5" name="Right Brace 4"/>
          <p:cNvSpPr/>
          <p:nvPr/>
        </p:nvSpPr>
        <p:spPr>
          <a:xfrm>
            <a:off x="4501292" y="1401575"/>
            <a:ext cx="391342" cy="287866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988239" y="2659221"/>
            <a:ext cx="2624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Outer macro definition</a:t>
            </a:r>
            <a:endParaRPr lang="en-US" dirty="0"/>
          </a:p>
        </p:txBody>
      </p:sp>
      <p:sp>
        <p:nvSpPr>
          <p:cNvPr id="7" name="Right Brace 6"/>
          <p:cNvSpPr/>
          <p:nvPr/>
        </p:nvSpPr>
        <p:spPr>
          <a:xfrm>
            <a:off x="2814452" y="1920103"/>
            <a:ext cx="380913" cy="1998133"/>
          </a:xfrm>
          <a:prstGeom prst="rightBrace">
            <a:avLst>
              <a:gd name="adj1" fmla="val 8333"/>
              <a:gd name="adj2" fmla="val 5059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345704" y="2629016"/>
            <a:ext cx="1092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inner macro definition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FFE9A-86CB-4591-976A-C767EDA422BB}" type="datetime1">
              <a:rPr lang="en-US" smtClean="0"/>
              <a:t>9/27/2021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5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Diamond 106"/>
          <p:cNvSpPr/>
          <p:nvPr/>
        </p:nvSpPr>
        <p:spPr>
          <a:xfrm>
            <a:off x="2895600" y="6248400"/>
            <a:ext cx="1676400" cy="609600"/>
          </a:xfrm>
          <a:prstGeom prst="diamond">
            <a:avLst/>
          </a:prstGeom>
          <a:solidFill>
            <a:schemeClr val="accent1">
              <a:lumMod val="50000"/>
            </a:schemeClr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MDLC=0?</a:t>
            </a:r>
          </a:p>
        </p:txBody>
      </p:sp>
      <p:sp>
        <p:nvSpPr>
          <p:cNvPr id="129" name="Oval 128"/>
          <p:cNvSpPr/>
          <p:nvPr/>
        </p:nvSpPr>
        <p:spPr>
          <a:xfrm>
            <a:off x="8763000" y="2209800"/>
            <a:ext cx="381000" cy="381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</a:t>
            </a:r>
          </a:p>
        </p:txBody>
      </p:sp>
      <p:sp>
        <p:nvSpPr>
          <p:cNvPr id="4100" name="TextBox 140"/>
          <p:cNvSpPr txBox="1">
            <a:spLocks noChangeArrowheads="1"/>
          </p:cNvSpPr>
          <p:nvPr/>
        </p:nvSpPr>
        <p:spPr bwMode="auto">
          <a:xfrm>
            <a:off x="8686800" y="762000"/>
            <a:ext cx="457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200"/>
              <a:t>No</a:t>
            </a:r>
          </a:p>
        </p:txBody>
      </p:sp>
      <p:grpSp>
        <p:nvGrpSpPr>
          <p:cNvPr id="4101" name="Group 145"/>
          <p:cNvGrpSpPr>
            <a:grpSpLocks/>
          </p:cNvGrpSpPr>
          <p:nvPr/>
        </p:nvGrpSpPr>
        <p:grpSpPr bwMode="auto">
          <a:xfrm>
            <a:off x="152400" y="304800"/>
            <a:ext cx="8839200" cy="6400800"/>
            <a:chOff x="152400" y="304800"/>
            <a:chExt cx="8839200" cy="6400800"/>
          </a:xfrm>
        </p:grpSpPr>
        <p:sp>
          <p:nvSpPr>
            <p:cNvPr id="2" name="Rectangle 1"/>
            <p:cNvSpPr/>
            <p:nvPr/>
          </p:nvSpPr>
          <p:spPr>
            <a:xfrm>
              <a:off x="381000" y="304800"/>
              <a:ext cx="1143000" cy="5334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One Pass Macro Processor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228600" y="1066800"/>
              <a:ext cx="1600200" cy="76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MDTC </a:t>
              </a:r>
              <a:r>
                <a:rPr lang="en-US" sz="1200" dirty="0">
                  <a:sym typeface="Wingdings" pitchFamily="2" charset="2"/>
                </a:rPr>
                <a:t> 1</a:t>
              </a:r>
            </a:p>
            <a:p>
              <a:pPr algn="ctr">
                <a:defRPr/>
              </a:pPr>
              <a:r>
                <a:rPr lang="en-US" sz="1200" dirty="0">
                  <a:sym typeface="Wingdings" pitchFamily="2" charset="2"/>
                </a:rPr>
                <a:t>MNTC  1</a:t>
              </a:r>
            </a:p>
            <a:p>
              <a:pPr algn="ctr">
                <a:defRPr/>
              </a:pPr>
              <a:r>
                <a:rPr lang="en-US" sz="1200" dirty="0">
                  <a:sym typeface="Wingdings" pitchFamily="2" charset="2"/>
                </a:rPr>
                <a:t>MDI  “OFF”</a:t>
              </a:r>
            </a:p>
            <a:p>
              <a:pPr algn="ctr">
                <a:defRPr/>
              </a:pPr>
              <a:r>
                <a:rPr lang="en-US" sz="1200" dirty="0">
                  <a:sym typeface="Wingdings" pitchFamily="2" charset="2"/>
                </a:rPr>
                <a:t>MDLC 0</a:t>
              </a:r>
              <a:endParaRPr lang="en-US" sz="1200" dirty="0"/>
            </a:p>
          </p:txBody>
        </p:sp>
        <p:sp>
          <p:nvSpPr>
            <p:cNvPr id="4" name="Hexagon 3"/>
            <p:cNvSpPr/>
            <p:nvPr/>
          </p:nvSpPr>
          <p:spPr>
            <a:xfrm>
              <a:off x="304800" y="2057400"/>
              <a:ext cx="1524000" cy="381000"/>
            </a:xfrm>
            <a:prstGeom prst="hexagon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READ*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304800" y="2667000"/>
              <a:ext cx="1600200" cy="6858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Search MNT for match with operation code</a:t>
              </a:r>
            </a:p>
          </p:txBody>
        </p:sp>
        <p:sp>
          <p:nvSpPr>
            <p:cNvPr id="6" name="Diamond 5"/>
            <p:cNvSpPr/>
            <p:nvPr/>
          </p:nvSpPr>
          <p:spPr>
            <a:xfrm>
              <a:off x="228600" y="3810000"/>
              <a:ext cx="1981200" cy="609600"/>
            </a:xfrm>
            <a:prstGeom prst="diamond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Macro name found?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04800" y="4800600"/>
              <a:ext cx="1905000" cy="381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MDI </a:t>
              </a:r>
              <a:r>
                <a:rPr lang="en-US" dirty="0">
                  <a:sym typeface="Wingdings" pitchFamily="2" charset="2"/>
                </a:rPr>
                <a:t> “ON”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800" y="5334000"/>
              <a:ext cx="1905000" cy="381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MDTP </a:t>
              </a:r>
              <a:r>
                <a:rPr lang="en-US" sz="1200" dirty="0">
                  <a:sym typeface="Wingdings" pitchFamily="2" charset="2"/>
                </a:rPr>
                <a:t> MDT Index from MNT entry</a:t>
              </a:r>
              <a:endParaRPr lang="en-US" sz="12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04800" y="5943600"/>
              <a:ext cx="1905000" cy="381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Set up macro call ALA</a:t>
              </a:r>
            </a:p>
          </p:txBody>
        </p:sp>
        <p:grpSp>
          <p:nvGrpSpPr>
            <p:cNvPr id="30" name="Group 17"/>
            <p:cNvGrpSpPr/>
            <p:nvPr/>
          </p:nvGrpSpPr>
          <p:grpSpPr>
            <a:xfrm>
              <a:off x="2362200" y="304800"/>
              <a:ext cx="2209800" cy="5181600"/>
              <a:chOff x="3048000" y="304800"/>
              <a:chExt cx="2209800" cy="5181600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0" name="Diamond 9"/>
              <p:cNvSpPr/>
              <p:nvPr/>
            </p:nvSpPr>
            <p:spPr>
              <a:xfrm>
                <a:off x="3048000" y="304800"/>
                <a:ext cx="2209800" cy="609600"/>
              </a:xfrm>
              <a:prstGeom prst="diamond">
                <a:avLst/>
              </a:prstGeom>
              <a:grp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200" dirty="0"/>
                  <a:t>MACRO name found?</a:t>
                </a:r>
              </a:p>
            </p:txBody>
          </p:sp>
          <p:sp>
            <p:nvSpPr>
              <p:cNvPr id="11" name="Hexagon 10"/>
              <p:cNvSpPr/>
              <p:nvPr/>
            </p:nvSpPr>
            <p:spPr>
              <a:xfrm>
                <a:off x="3429000" y="1143000"/>
                <a:ext cx="1524000" cy="381000"/>
              </a:xfrm>
              <a:prstGeom prst="hexagon">
                <a:avLst/>
              </a:prstGeom>
              <a:grp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READ*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276600" y="1828800"/>
                <a:ext cx="1905000" cy="685800"/>
              </a:xfrm>
              <a:prstGeom prst="rect">
                <a:avLst/>
              </a:prstGeom>
              <a:grp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200" dirty="0"/>
                  <a:t>Enter macro name and current value of MDTC in MNT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276600" y="2743200"/>
                <a:ext cx="1905000" cy="381000"/>
              </a:xfrm>
              <a:prstGeom prst="rect">
                <a:avLst/>
              </a:prstGeom>
              <a:grp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200" dirty="0"/>
                  <a:t>MNTC </a:t>
                </a:r>
                <a:r>
                  <a:rPr lang="en-US" sz="1200" dirty="0">
                    <a:sym typeface="Wingdings" pitchFamily="2" charset="2"/>
                  </a:rPr>
                  <a:t> MNTC+1</a:t>
                </a:r>
                <a:endParaRPr lang="en-US" sz="1200" dirty="0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3276600" y="3276600"/>
                <a:ext cx="1905000" cy="533400"/>
              </a:xfrm>
              <a:prstGeom prst="rect">
                <a:avLst/>
              </a:prstGeom>
              <a:grp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200" dirty="0"/>
                  <a:t>Prepare macro definition ALA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352800" y="4038600"/>
                <a:ext cx="1905000" cy="381000"/>
              </a:xfrm>
              <a:prstGeom prst="rect">
                <a:avLst/>
              </a:prstGeom>
              <a:grp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200" dirty="0"/>
                  <a:t>Enter macro name card into MDT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3352800" y="4572000"/>
                <a:ext cx="1905000" cy="381000"/>
              </a:xfrm>
              <a:prstGeom prst="rect">
                <a:avLst/>
              </a:prstGeom>
              <a:grp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200" dirty="0"/>
                  <a:t>MDTC </a:t>
                </a:r>
                <a:r>
                  <a:rPr lang="en-US" sz="1200" dirty="0">
                    <a:sym typeface="Wingdings" pitchFamily="2" charset="2"/>
                  </a:rPr>
                  <a:t> MDTC+1</a:t>
                </a:r>
                <a:endParaRPr lang="en-US" sz="1200" dirty="0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352800" y="5105400"/>
                <a:ext cx="1905000" cy="381000"/>
              </a:xfrm>
              <a:prstGeom prst="rect">
                <a:avLst/>
              </a:prstGeom>
              <a:grpFill/>
              <a:ln>
                <a:solidFill>
                  <a:srgbClr val="00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200" dirty="0"/>
                  <a:t>MDLC </a:t>
                </a:r>
                <a:r>
                  <a:rPr lang="en-US" sz="1200" dirty="0">
                    <a:sym typeface="Wingdings" pitchFamily="2" charset="2"/>
                  </a:rPr>
                  <a:t> MDLC+1</a:t>
                </a:r>
                <a:endParaRPr lang="en-US" sz="1200" dirty="0"/>
              </a:p>
            </p:txBody>
          </p:sp>
        </p:grpSp>
        <p:sp>
          <p:nvSpPr>
            <p:cNvPr id="19" name="Hexagon 18"/>
            <p:cNvSpPr/>
            <p:nvPr/>
          </p:nvSpPr>
          <p:spPr>
            <a:xfrm>
              <a:off x="5410200" y="1828800"/>
              <a:ext cx="1524000" cy="381000"/>
            </a:xfrm>
            <a:prstGeom prst="hexagon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READ*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410200" y="2743200"/>
              <a:ext cx="1600200" cy="6858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Substitute Index Notation for Arguments in definition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257800" y="3733800"/>
              <a:ext cx="1905000" cy="381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Enter line into MDT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257800" y="4343400"/>
              <a:ext cx="1905000" cy="381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MDTC </a:t>
              </a:r>
              <a:r>
                <a:rPr lang="en-US" sz="1200" dirty="0">
                  <a:sym typeface="Wingdings" pitchFamily="2" charset="2"/>
                </a:rPr>
                <a:t> MDTC+1</a:t>
              </a:r>
              <a:endParaRPr lang="en-US" sz="1200" dirty="0"/>
            </a:p>
          </p:txBody>
        </p:sp>
        <p:sp>
          <p:nvSpPr>
            <p:cNvPr id="23" name="Diamond 22"/>
            <p:cNvSpPr/>
            <p:nvPr/>
          </p:nvSpPr>
          <p:spPr>
            <a:xfrm>
              <a:off x="5181600" y="4876800"/>
              <a:ext cx="2057400" cy="609600"/>
            </a:xfrm>
            <a:prstGeom prst="diamond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MACRO pseudo-op? </a:t>
              </a:r>
            </a:p>
          </p:txBody>
        </p:sp>
        <p:sp>
          <p:nvSpPr>
            <p:cNvPr id="24" name="Diamond 23"/>
            <p:cNvSpPr/>
            <p:nvPr/>
          </p:nvSpPr>
          <p:spPr>
            <a:xfrm>
              <a:off x="4953000" y="5791200"/>
              <a:ext cx="2209800" cy="609600"/>
            </a:xfrm>
            <a:prstGeom prst="diamond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MEND pseudo-op? 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543800" y="4953000"/>
              <a:ext cx="1143000" cy="381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MDLC </a:t>
              </a:r>
              <a:r>
                <a:rPr lang="en-US" sz="1200" dirty="0">
                  <a:sym typeface="Wingdings" pitchFamily="2" charset="2"/>
                </a:rPr>
                <a:t> MDLC+1</a:t>
              </a:r>
              <a:endParaRPr lang="en-US" sz="1200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543800" y="5867400"/>
              <a:ext cx="1066800" cy="381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MDLC </a:t>
              </a:r>
              <a:r>
                <a:rPr lang="en-US" sz="1200" dirty="0">
                  <a:sym typeface="Wingdings" pitchFamily="2" charset="2"/>
                </a:rPr>
                <a:t> MDLC - 1</a:t>
              </a:r>
              <a:endParaRPr lang="en-US" sz="1200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953000" y="381000"/>
              <a:ext cx="19050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Write into expanded source card</a:t>
              </a:r>
            </a:p>
          </p:txBody>
        </p:sp>
        <p:sp>
          <p:nvSpPr>
            <p:cNvPr id="28" name="Diamond 27"/>
            <p:cNvSpPr/>
            <p:nvPr/>
          </p:nvSpPr>
          <p:spPr>
            <a:xfrm>
              <a:off x="7086600" y="304800"/>
              <a:ext cx="1752600" cy="609600"/>
            </a:xfrm>
            <a:prstGeom prst="diamond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END pseudo-op? 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239000" y="1219200"/>
              <a:ext cx="1600200" cy="6858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Supply expanded source file to assembler processing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rot="5400000">
              <a:off x="647701" y="952500"/>
              <a:ext cx="2286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>
              <a:off x="800894" y="1942306"/>
              <a:ext cx="228600" cy="158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rot="5400000">
              <a:off x="877094" y="2551906"/>
              <a:ext cx="228600" cy="158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endCxn id="6" idx="0"/>
            </p:cNvCxnSpPr>
            <p:nvPr/>
          </p:nvCxnSpPr>
          <p:spPr>
            <a:xfrm rot="16200000" flipH="1">
              <a:off x="915194" y="3505994"/>
              <a:ext cx="457200" cy="15081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6" idx="2"/>
            </p:cNvCxnSpPr>
            <p:nvPr/>
          </p:nvCxnSpPr>
          <p:spPr>
            <a:xfrm rot="5400000">
              <a:off x="970757" y="4552156"/>
              <a:ext cx="381000" cy="115887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endCxn id="8" idx="0"/>
            </p:cNvCxnSpPr>
            <p:nvPr/>
          </p:nvCxnSpPr>
          <p:spPr>
            <a:xfrm rot="16200000" flipH="1">
              <a:off x="1086644" y="5163344"/>
              <a:ext cx="228600" cy="11271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endCxn id="9" idx="0"/>
            </p:cNvCxnSpPr>
            <p:nvPr/>
          </p:nvCxnSpPr>
          <p:spPr>
            <a:xfrm rot="16200000" flipH="1">
              <a:off x="1086644" y="5772944"/>
              <a:ext cx="228600" cy="112712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H="1">
              <a:off x="-2019300" y="4381500"/>
              <a:ext cx="4419600" cy="76200"/>
            </a:xfrm>
            <a:prstGeom prst="line">
              <a:avLst/>
            </a:prstGeom>
            <a:ln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endCxn id="4" idx="1"/>
            </p:cNvCxnSpPr>
            <p:nvPr/>
          </p:nvCxnSpPr>
          <p:spPr>
            <a:xfrm>
              <a:off x="152400" y="2209800"/>
              <a:ext cx="152400" cy="381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9" idx="2"/>
            </p:cNvCxnSpPr>
            <p:nvPr/>
          </p:nvCxnSpPr>
          <p:spPr>
            <a:xfrm rot="5400000">
              <a:off x="1085850" y="6457950"/>
              <a:ext cx="304800" cy="38100"/>
            </a:xfrm>
            <a:prstGeom prst="line">
              <a:avLst/>
            </a:prstGeom>
            <a:ln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10800000">
              <a:off x="228600" y="6629400"/>
              <a:ext cx="990600" cy="1588"/>
            </a:xfrm>
            <a:prstGeom prst="line">
              <a:avLst/>
            </a:prstGeom>
            <a:ln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6" idx="3"/>
            </p:cNvCxnSpPr>
            <p:nvPr/>
          </p:nvCxnSpPr>
          <p:spPr>
            <a:xfrm rot="16200000" flipH="1">
              <a:off x="419100" y="2324100"/>
              <a:ext cx="3429000" cy="152400"/>
            </a:xfrm>
            <a:prstGeom prst="line">
              <a:avLst/>
            </a:prstGeom>
            <a:ln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endCxn id="10" idx="1"/>
            </p:cNvCxnSpPr>
            <p:nvPr/>
          </p:nvCxnSpPr>
          <p:spPr>
            <a:xfrm flipV="1">
              <a:off x="2057400" y="609600"/>
              <a:ext cx="304800" cy="762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10" idx="2"/>
            </p:cNvCxnSpPr>
            <p:nvPr/>
          </p:nvCxnSpPr>
          <p:spPr>
            <a:xfrm rot="16200000" flipH="1">
              <a:off x="3371850" y="1009650"/>
              <a:ext cx="228600" cy="381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endCxn id="12" idx="0"/>
            </p:cNvCxnSpPr>
            <p:nvPr/>
          </p:nvCxnSpPr>
          <p:spPr>
            <a:xfrm rot="16200000" flipH="1">
              <a:off x="3371850" y="1657350"/>
              <a:ext cx="304800" cy="381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12" idx="2"/>
              <a:endCxn id="13" idx="0"/>
            </p:cNvCxnSpPr>
            <p:nvPr/>
          </p:nvCxnSpPr>
          <p:spPr>
            <a:xfrm rot="5400000">
              <a:off x="3429001" y="2628900"/>
              <a:ext cx="2286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13" idx="2"/>
              <a:endCxn id="14" idx="0"/>
            </p:cNvCxnSpPr>
            <p:nvPr/>
          </p:nvCxnSpPr>
          <p:spPr>
            <a:xfrm rot="5400000">
              <a:off x="3467101" y="3200400"/>
              <a:ext cx="1524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rot="5400000">
              <a:off x="3314701" y="3924300"/>
              <a:ext cx="2286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rot="5400000">
              <a:off x="3352801" y="4495800"/>
              <a:ext cx="1524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rot="5400000">
              <a:off x="3352801" y="5029200"/>
              <a:ext cx="1524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5400000">
              <a:off x="2857500" y="3543300"/>
              <a:ext cx="4114800" cy="76200"/>
            </a:xfrm>
            <a:prstGeom prst="line">
              <a:avLst/>
            </a:prstGeom>
            <a:ln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V="1">
              <a:off x="3581400" y="5638800"/>
              <a:ext cx="1295400" cy="76200"/>
            </a:xfrm>
            <a:prstGeom prst="line">
              <a:avLst/>
            </a:prstGeom>
            <a:ln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 rot="16200000" flipH="1">
              <a:off x="3390900" y="5524500"/>
              <a:ext cx="228600" cy="1524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4953000" y="1524000"/>
              <a:ext cx="1143000" cy="1588"/>
            </a:xfrm>
            <a:prstGeom prst="line">
              <a:avLst/>
            </a:prstGeom>
            <a:ln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 rot="5400000">
              <a:off x="5943601" y="1676400"/>
              <a:ext cx="3048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endCxn id="20" idx="0"/>
            </p:cNvCxnSpPr>
            <p:nvPr/>
          </p:nvCxnSpPr>
          <p:spPr>
            <a:xfrm rot="16200000" flipH="1">
              <a:off x="5924550" y="2457450"/>
              <a:ext cx="533400" cy="381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 rot="5400000">
              <a:off x="5943601" y="3581400"/>
              <a:ext cx="3048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 rot="5400000">
              <a:off x="5981701" y="4229100"/>
              <a:ext cx="2286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22" idx="2"/>
              <a:endCxn id="23" idx="0"/>
            </p:cNvCxnSpPr>
            <p:nvPr/>
          </p:nvCxnSpPr>
          <p:spPr>
            <a:xfrm rot="5400000">
              <a:off x="6134101" y="4800600"/>
              <a:ext cx="1524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>
              <a:stCxn id="23" idx="2"/>
              <a:endCxn id="24" idx="0"/>
            </p:cNvCxnSpPr>
            <p:nvPr/>
          </p:nvCxnSpPr>
          <p:spPr>
            <a:xfrm rot="5400000">
              <a:off x="5981700" y="5562600"/>
              <a:ext cx="304800" cy="1524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>
              <a:stCxn id="24" idx="1"/>
            </p:cNvCxnSpPr>
            <p:nvPr/>
          </p:nvCxnSpPr>
          <p:spPr>
            <a:xfrm rot="10800000">
              <a:off x="4876800" y="5638800"/>
              <a:ext cx="76200" cy="457200"/>
            </a:xfrm>
            <a:prstGeom prst="line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24" idx="3"/>
              <a:endCxn id="26" idx="1"/>
            </p:cNvCxnSpPr>
            <p:nvPr/>
          </p:nvCxnSpPr>
          <p:spPr>
            <a:xfrm flipV="1">
              <a:off x="7162800" y="6057900"/>
              <a:ext cx="381000" cy="38100"/>
            </a:xfrm>
            <a:prstGeom prst="line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23" idx="3"/>
              <a:endCxn id="25" idx="1"/>
            </p:cNvCxnSpPr>
            <p:nvPr/>
          </p:nvCxnSpPr>
          <p:spPr>
            <a:xfrm flipV="1">
              <a:off x="7239000" y="5143500"/>
              <a:ext cx="304800" cy="381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25" idx="0"/>
              <a:endCxn id="19" idx="3"/>
            </p:cNvCxnSpPr>
            <p:nvPr/>
          </p:nvCxnSpPr>
          <p:spPr>
            <a:xfrm rot="16200000" flipV="1">
              <a:off x="6057900" y="2895600"/>
              <a:ext cx="2933700" cy="11811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07"/>
            <p:cNvSpPr/>
            <p:nvPr/>
          </p:nvSpPr>
          <p:spPr>
            <a:xfrm>
              <a:off x="2133600" y="6425514"/>
              <a:ext cx="381000" cy="280086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A</a:t>
              </a:r>
            </a:p>
          </p:txBody>
        </p:sp>
        <p:cxnSp>
          <p:nvCxnSpPr>
            <p:cNvPr id="110" name="Straight Arrow Connector 109"/>
            <p:cNvCxnSpPr>
              <a:stCxn id="107" idx="1"/>
              <a:endCxn id="108" idx="6"/>
            </p:cNvCxnSpPr>
            <p:nvPr/>
          </p:nvCxnSpPr>
          <p:spPr>
            <a:xfrm rot="10800000" flipV="1">
              <a:off x="2514600" y="6553199"/>
              <a:ext cx="381000" cy="12357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>
              <a:stCxn id="107" idx="3"/>
            </p:cNvCxnSpPr>
            <p:nvPr/>
          </p:nvCxnSpPr>
          <p:spPr>
            <a:xfrm>
              <a:off x="4572000" y="6553200"/>
              <a:ext cx="3733800" cy="1588"/>
            </a:xfrm>
            <a:prstGeom prst="line">
              <a:avLst/>
            </a:prstGeom>
            <a:ln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rot="5400000">
              <a:off x="8153401" y="6400800"/>
              <a:ext cx="304800" cy="3175"/>
            </a:xfrm>
            <a:prstGeom prst="line">
              <a:avLst/>
            </a:prstGeom>
            <a:ln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>
              <a:stCxn id="107" idx="0"/>
            </p:cNvCxnSpPr>
            <p:nvPr/>
          </p:nvCxnSpPr>
          <p:spPr>
            <a:xfrm rot="5400000" flipH="1" flipV="1">
              <a:off x="4000500" y="5372100"/>
              <a:ext cx="609600" cy="11430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stCxn id="10" idx="3"/>
              <a:endCxn id="27" idx="1"/>
            </p:cNvCxnSpPr>
            <p:nvPr/>
          </p:nvCxnSpPr>
          <p:spPr>
            <a:xfrm>
              <a:off x="4572000" y="609600"/>
              <a:ext cx="381000" cy="158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stCxn id="27" idx="3"/>
              <a:endCxn id="28" idx="1"/>
            </p:cNvCxnSpPr>
            <p:nvPr/>
          </p:nvCxnSpPr>
          <p:spPr>
            <a:xfrm>
              <a:off x="6858000" y="609600"/>
              <a:ext cx="228600" cy="158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>
              <a:stCxn id="28" idx="2"/>
              <a:endCxn id="29" idx="0"/>
            </p:cNvCxnSpPr>
            <p:nvPr/>
          </p:nvCxnSpPr>
          <p:spPr>
            <a:xfrm rot="16200000" flipH="1">
              <a:off x="7848600" y="1028700"/>
              <a:ext cx="304800" cy="762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>
              <a:stCxn id="28" idx="3"/>
            </p:cNvCxnSpPr>
            <p:nvPr/>
          </p:nvCxnSpPr>
          <p:spPr>
            <a:xfrm>
              <a:off x="8839200" y="609600"/>
              <a:ext cx="152400" cy="1676400"/>
            </a:xfrm>
            <a:prstGeom prst="line">
              <a:avLst/>
            </a:prstGeom>
            <a:ln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Oval 129"/>
            <p:cNvSpPr/>
            <p:nvPr/>
          </p:nvSpPr>
          <p:spPr>
            <a:xfrm>
              <a:off x="1981200" y="2057400"/>
              <a:ext cx="381000" cy="381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A</a:t>
              </a:r>
            </a:p>
          </p:txBody>
        </p:sp>
        <p:cxnSp>
          <p:nvCxnSpPr>
            <p:cNvPr id="132" name="Straight Arrow Connector 131"/>
            <p:cNvCxnSpPr>
              <a:stCxn id="130" idx="2"/>
              <a:endCxn id="4" idx="3"/>
            </p:cNvCxnSpPr>
            <p:nvPr/>
          </p:nvCxnSpPr>
          <p:spPr>
            <a:xfrm rot="10800000">
              <a:off x="1828800" y="2247900"/>
              <a:ext cx="152400" cy="158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7" name="TextBox 133"/>
            <p:cNvSpPr txBox="1">
              <a:spLocks noChangeArrowheads="1"/>
            </p:cNvSpPr>
            <p:nvPr/>
          </p:nvSpPr>
          <p:spPr bwMode="auto">
            <a:xfrm>
              <a:off x="1295400" y="4495800"/>
              <a:ext cx="4572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Yes</a:t>
              </a:r>
            </a:p>
          </p:txBody>
        </p:sp>
        <p:sp>
          <p:nvSpPr>
            <p:cNvPr id="4168" name="TextBox 134"/>
            <p:cNvSpPr txBox="1">
              <a:spLocks noChangeArrowheads="1"/>
            </p:cNvSpPr>
            <p:nvPr/>
          </p:nvSpPr>
          <p:spPr bwMode="auto">
            <a:xfrm>
              <a:off x="2209800" y="3810000"/>
              <a:ext cx="4572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No</a:t>
              </a:r>
            </a:p>
          </p:txBody>
        </p:sp>
        <p:sp>
          <p:nvSpPr>
            <p:cNvPr id="4169" name="TextBox 135"/>
            <p:cNvSpPr txBox="1">
              <a:spLocks noChangeArrowheads="1"/>
            </p:cNvSpPr>
            <p:nvPr/>
          </p:nvSpPr>
          <p:spPr bwMode="auto">
            <a:xfrm>
              <a:off x="3505200" y="838200"/>
              <a:ext cx="4572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Yes</a:t>
              </a:r>
            </a:p>
          </p:txBody>
        </p:sp>
        <p:sp>
          <p:nvSpPr>
            <p:cNvPr id="4170" name="TextBox 136"/>
            <p:cNvSpPr txBox="1">
              <a:spLocks noChangeArrowheads="1"/>
            </p:cNvSpPr>
            <p:nvPr/>
          </p:nvSpPr>
          <p:spPr bwMode="auto">
            <a:xfrm>
              <a:off x="4419600" y="381000"/>
              <a:ext cx="4572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No</a:t>
              </a:r>
            </a:p>
          </p:txBody>
        </p:sp>
        <p:sp>
          <p:nvSpPr>
            <p:cNvPr id="4171" name="TextBox 137"/>
            <p:cNvSpPr txBox="1">
              <a:spLocks noChangeArrowheads="1"/>
            </p:cNvSpPr>
            <p:nvPr/>
          </p:nvSpPr>
          <p:spPr bwMode="auto">
            <a:xfrm>
              <a:off x="6248400" y="5562600"/>
              <a:ext cx="4572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No</a:t>
              </a:r>
            </a:p>
          </p:txBody>
        </p:sp>
        <p:sp>
          <p:nvSpPr>
            <p:cNvPr id="4172" name="TextBox 138"/>
            <p:cNvSpPr txBox="1">
              <a:spLocks noChangeArrowheads="1"/>
            </p:cNvSpPr>
            <p:nvPr/>
          </p:nvSpPr>
          <p:spPr bwMode="auto">
            <a:xfrm>
              <a:off x="4876800" y="5715000"/>
              <a:ext cx="4572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No</a:t>
              </a:r>
            </a:p>
          </p:txBody>
        </p:sp>
        <p:sp>
          <p:nvSpPr>
            <p:cNvPr id="4173" name="TextBox 139"/>
            <p:cNvSpPr txBox="1">
              <a:spLocks noChangeArrowheads="1"/>
            </p:cNvSpPr>
            <p:nvPr/>
          </p:nvSpPr>
          <p:spPr bwMode="auto">
            <a:xfrm>
              <a:off x="3657600" y="5943600"/>
              <a:ext cx="4572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No</a:t>
              </a:r>
            </a:p>
          </p:txBody>
        </p:sp>
        <p:sp>
          <p:nvSpPr>
            <p:cNvPr id="4174" name="TextBox 141"/>
            <p:cNvSpPr txBox="1">
              <a:spLocks noChangeArrowheads="1"/>
            </p:cNvSpPr>
            <p:nvPr/>
          </p:nvSpPr>
          <p:spPr bwMode="auto">
            <a:xfrm>
              <a:off x="7086600" y="4876800"/>
              <a:ext cx="4572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Yes</a:t>
              </a:r>
            </a:p>
          </p:txBody>
        </p:sp>
        <p:sp>
          <p:nvSpPr>
            <p:cNvPr id="4175" name="TextBox 142"/>
            <p:cNvSpPr txBox="1">
              <a:spLocks noChangeArrowheads="1"/>
            </p:cNvSpPr>
            <p:nvPr/>
          </p:nvSpPr>
          <p:spPr bwMode="auto">
            <a:xfrm>
              <a:off x="7086600" y="5791200"/>
              <a:ext cx="4572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Yes</a:t>
              </a:r>
            </a:p>
          </p:txBody>
        </p:sp>
        <p:sp>
          <p:nvSpPr>
            <p:cNvPr id="4176" name="TextBox 143"/>
            <p:cNvSpPr txBox="1">
              <a:spLocks noChangeArrowheads="1"/>
            </p:cNvSpPr>
            <p:nvPr/>
          </p:nvSpPr>
          <p:spPr bwMode="auto">
            <a:xfrm>
              <a:off x="2514600" y="6248400"/>
              <a:ext cx="4572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Yes</a:t>
              </a:r>
            </a:p>
          </p:txBody>
        </p:sp>
        <p:sp>
          <p:nvSpPr>
            <p:cNvPr id="4177" name="TextBox 144"/>
            <p:cNvSpPr txBox="1">
              <a:spLocks noChangeArrowheads="1"/>
            </p:cNvSpPr>
            <p:nvPr/>
          </p:nvSpPr>
          <p:spPr bwMode="auto">
            <a:xfrm>
              <a:off x="7543800" y="914400"/>
              <a:ext cx="4572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Yes</a:t>
              </a:r>
            </a:p>
          </p:txBody>
        </p:sp>
      </p:grpSp>
      <p:cxnSp>
        <p:nvCxnSpPr>
          <p:cNvPr id="95" name="Straight Connector 94"/>
          <p:cNvCxnSpPr/>
          <p:nvPr/>
        </p:nvCxnSpPr>
        <p:spPr>
          <a:xfrm>
            <a:off x="0" y="1977081"/>
            <a:ext cx="2533135" cy="24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rot="16200000" flipH="1">
            <a:off x="321276" y="4077729"/>
            <a:ext cx="4275437" cy="24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rot="10800000" flipV="1">
            <a:off x="494273" y="6252518"/>
            <a:ext cx="1977079" cy="605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9F19E-F21B-4FB6-ADF5-764B37581D5E}" type="datetime1">
              <a:rPr lang="en-US" smtClean="0"/>
              <a:t>9/27/2021</a:t>
            </a:fld>
            <a:endParaRPr lang="en-US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7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57"/>
          <p:cNvGrpSpPr>
            <a:grpSpLocks/>
          </p:cNvGrpSpPr>
          <p:nvPr/>
        </p:nvGrpSpPr>
        <p:grpSpPr bwMode="auto">
          <a:xfrm>
            <a:off x="457200" y="381000"/>
            <a:ext cx="7772400" cy="6172200"/>
            <a:chOff x="457200" y="381000"/>
            <a:chExt cx="7772400" cy="6172200"/>
          </a:xfrm>
        </p:grpSpPr>
        <p:sp>
          <p:nvSpPr>
            <p:cNvPr id="2" name="Hexagon 1"/>
            <p:cNvSpPr/>
            <p:nvPr/>
          </p:nvSpPr>
          <p:spPr>
            <a:xfrm>
              <a:off x="533400" y="381000"/>
              <a:ext cx="1447800" cy="762000"/>
            </a:xfrm>
            <a:prstGeom prst="hexagon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400" dirty="0"/>
                <a:t>READ Subroutine</a:t>
              </a:r>
            </a:p>
          </p:txBody>
        </p:sp>
        <p:sp>
          <p:nvSpPr>
            <p:cNvPr id="3" name="Diamond 2"/>
            <p:cNvSpPr/>
            <p:nvPr/>
          </p:nvSpPr>
          <p:spPr>
            <a:xfrm>
              <a:off x="457200" y="1676400"/>
              <a:ext cx="1981200" cy="762000"/>
            </a:xfrm>
            <a:prstGeom prst="diamond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MDI=“OFF” ?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533400" y="2819400"/>
              <a:ext cx="1828800" cy="6858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400" dirty="0"/>
                <a:t>Read next source card from </a:t>
              </a:r>
              <a:r>
                <a:rPr lang="en-US" sz="1400" dirty="0" err="1"/>
                <a:t>i</a:t>
              </a:r>
              <a:r>
                <a:rPr lang="en-US" sz="1400" dirty="0"/>
                <a:t>/p file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533400" y="5181600"/>
              <a:ext cx="1828800" cy="6858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Return to Main Processing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276600" y="1676400"/>
              <a:ext cx="1828800" cy="6858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200" dirty="0"/>
                <a:t>Increment MDT pointer to next entry</a:t>
              </a:r>
            </a:p>
            <a:p>
              <a:pPr algn="ctr">
                <a:defRPr/>
              </a:pPr>
              <a:r>
                <a:rPr lang="en-US" sz="1200" dirty="0"/>
                <a:t>MDTO</a:t>
              </a:r>
              <a:r>
                <a:rPr lang="en-US" sz="1200" dirty="0">
                  <a:sym typeface="Wingdings" pitchFamily="2" charset="2"/>
                </a:rPr>
                <a:t>+MDTP+1</a:t>
              </a:r>
              <a:endParaRPr lang="en-US" sz="12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248400" y="1600200"/>
              <a:ext cx="1828800" cy="6858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Get Next card from MDT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248400" y="2667000"/>
              <a:ext cx="1828800" cy="6858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400" dirty="0"/>
                <a:t>Substitute argument from macro call</a:t>
              </a:r>
            </a:p>
          </p:txBody>
        </p:sp>
        <p:sp>
          <p:nvSpPr>
            <p:cNvPr id="9" name="Diamond 8"/>
            <p:cNvSpPr/>
            <p:nvPr/>
          </p:nvSpPr>
          <p:spPr>
            <a:xfrm>
              <a:off x="6324600" y="3657600"/>
              <a:ext cx="1676400" cy="762000"/>
            </a:xfrm>
            <a:prstGeom prst="diamond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400" dirty="0"/>
                <a:t>MEND pseudo op?</a:t>
              </a:r>
            </a:p>
          </p:txBody>
        </p:sp>
        <p:sp>
          <p:nvSpPr>
            <p:cNvPr id="10" name="Diamond 9"/>
            <p:cNvSpPr/>
            <p:nvPr/>
          </p:nvSpPr>
          <p:spPr>
            <a:xfrm>
              <a:off x="6324600" y="4800600"/>
              <a:ext cx="1676400" cy="762000"/>
            </a:xfrm>
            <a:prstGeom prst="diamond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/>
                <a:t>AIF or AGO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0" y="5867400"/>
              <a:ext cx="1828800" cy="6858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400" dirty="0"/>
                <a:t>Process AIF or AGO, Set new value to MDTP</a:t>
              </a:r>
            </a:p>
          </p:txBody>
        </p:sp>
        <p:sp>
          <p:nvSpPr>
            <p:cNvPr id="12" name="Diamond 11"/>
            <p:cNvSpPr/>
            <p:nvPr/>
          </p:nvSpPr>
          <p:spPr>
            <a:xfrm>
              <a:off x="3429000" y="4114800"/>
              <a:ext cx="1676400" cy="762000"/>
            </a:xfrm>
            <a:prstGeom prst="diamond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/>
                <a:t>MDLC=0?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76600" y="2971800"/>
              <a:ext cx="1828800" cy="457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MDI </a:t>
              </a:r>
              <a:r>
                <a:rPr lang="en-US" dirty="0">
                  <a:sym typeface="Wingdings" pitchFamily="2" charset="2"/>
                </a:rPr>
                <a:t> “OFF”</a:t>
              </a:r>
              <a:endParaRPr lang="en-US" dirty="0"/>
            </a:p>
          </p:txBody>
        </p:sp>
        <p:cxnSp>
          <p:nvCxnSpPr>
            <p:cNvPr id="15" name="Straight Arrow Connector 14"/>
            <p:cNvCxnSpPr>
              <a:endCxn id="3" idx="0"/>
            </p:cNvCxnSpPr>
            <p:nvPr/>
          </p:nvCxnSpPr>
          <p:spPr>
            <a:xfrm rot="5400000">
              <a:off x="1181101" y="1409700"/>
              <a:ext cx="5334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3" idx="2"/>
              <a:endCxn id="4" idx="0"/>
            </p:cNvCxnSpPr>
            <p:nvPr/>
          </p:nvCxnSpPr>
          <p:spPr>
            <a:xfrm rot="5400000">
              <a:off x="1257301" y="2628900"/>
              <a:ext cx="3810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4" idx="2"/>
              <a:endCxn id="5" idx="0"/>
            </p:cNvCxnSpPr>
            <p:nvPr/>
          </p:nvCxnSpPr>
          <p:spPr>
            <a:xfrm rot="5400000">
              <a:off x="609601" y="4343400"/>
              <a:ext cx="16764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3" idx="3"/>
              <a:endCxn id="6" idx="1"/>
            </p:cNvCxnSpPr>
            <p:nvPr/>
          </p:nvCxnSpPr>
          <p:spPr>
            <a:xfrm flipV="1">
              <a:off x="2438400" y="2019300"/>
              <a:ext cx="838200" cy="381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3"/>
              <a:endCxn id="7" idx="1"/>
            </p:cNvCxnSpPr>
            <p:nvPr/>
          </p:nvCxnSpPr>
          <p:spPr>
            <a:xfrm flipV="1">
              <a:off x="5105400" y="1943100"/>
              <a:ext cx="1143000" cy="762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7" idx="2"/>
              <a:endCxn id="8" idx="0"/>
            </p:cNvCxnSpPr>
            <p:nvPr/>
          </p:nvCxnSpPr>
          <p:spPr>
            <a:xfrm rot="5400000">
              <a:off x="6972301" y="2476500"/>
              <a:ext cx="3810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8" idx="2"/>
              <a:endCxn id="9" idx="0"/>
            </p:cNvCxnSpPr>
            <p:nvPr/>
          </p:nvCxnSpPr>
          <p:spPr>
            <a:xfrm rot="5400000">
              <a:off x="7010401" y="3505200"/>
              <a:ext cx="3048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9" idx="2"/>
              <a:endCxn id="10" idx="0"/>
            </p:cNvCxnSpPr>
            <p:nvPr/>
          </p:nvCxnSpPr>
          <p:spPr>
            <a:xfrm rot="5400000">
              <a:off x="6972301" y="4610100"/>
              <a:ext cx="3810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0" idx="2"/>
            </p:cNvCxnSpPr>
            <p:nvPr/>
          </p:nvCxnSpPr>
          <p:spPr>
            <a:xfrm rot="5400000">
              <a:off x="7010401" y="5715000"/>
              <a:ext cx="3048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1" idx="1"/>
            </p:cNvCxnSpPr>
            <p:nvPr/>
          </p:nvCxnSpPr>
          <p:spPr>
            <a:xfrm rot="10800000" flipV="1">
              <a:off x="1447800" y="6210300"/>
              <a:ext cx="4953000" cy="38100"/>
            </a:xfrm>
            <a:prstGeom prst="line">
              <a:avLst/>
            </a:prstGeom>
            <a:ln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endCxn id="5" idx="2"/>
            </p:cNvCxnSpPr>
            <p:nvPr/>
          </p:nvCxnSpPr>
          <p:spPr>
            <a:xfrm rot="5400000" flipH="1" flipV="1">
              <a:off x="1257301" y="6057900"/>
              <a:ext cx="3810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0" idx="1"/>
            </p:cNvCxnSpPr>
            <p:nvPr/>
          </p:nvCxnSpPr>
          <p:spPr>
            <a:xfrm rot="10800000" flipV="1">
              <a:off x="2362200" y="5181600"/>
              <a:ext cx="3962400" cy="1524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12" idx="2"/>
            </p:cNvCxnSpPr>
            <p:nvPr/>
          </p:nvCxnSpPr>
          <p:spPr>
            <a:xfrm rot="5400000">
              <a:off x="4076701" y="5067300"/>
              <a:ext cx="381000" cy="3175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12" idx="0"/>
              <a:endCxn id="13" idx="2"/>
            </p:cNvCxnSpPr>
            <p:nvPr/>
          </p:nvCxnSpPr>
          <p:spPr>
            <a:xfrm rot="16200000" flipV="1">
              <a:off x="3886200" y="3733800"/>
              <a:ext cx="685800" cy="762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9" idx="1"/>
              <a:endCxn id="12" idx="3"/>
            </p:cNvCxnSpPr>
            <p:nvPr/>
          </p:nvCxnSpPr>
          <p:spPr>
            <a:xfrm flipH="1">
              <a:off x="5105400" y="4038600"/>
              <a:ext cx="1219200" cy="4572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13" idx="1"/>
              <a:endCxn id="4" idx="3"/>
            </p:cNvCxnSpPr>
            <p:nvPr/>
          </p:nvCxnSpPr>
          <p:spPr>
            <a:xfrm rot="10800000">
              <a:off x="2362200" y="3162300"/>
              <a:ext cx="914400" cy="3810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51" name="TextBox 47"/>
            <p:cNvSpPr txBox="1">
              <a:spLocks noChangeArrowheads="1"/>
            </p:cNvSpPr>
            <p:nvPr/>
          </p:nvSpPr>
          <p:spPr bwMode="auto">
            <a:xfrm>
              <a:off x="7086600" y="5562600"/>
              <a:ext cx="6096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Yes</a:t>
              </a:r>
            </a:p>
          </p:txBody>
        </p:sp>
        <p:sp>
          <p:nvSpPr>
            <p:cNvPr id="5152" name="TextBox 48"/>
            <p:cNvSpPr txBox="1">
              <a:spLocks noChangeArrowheads="1"/>
            </p:cNvSpPr>
            <p:nvPr/>
          </p:nvSpPr>
          <p:spPr bwMode="auto">
            <a:xfrm>
              <a:off x="3810000" y="3810000"/>
              <a:ext cx="6096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Yes</a:t>
              </a:r>
            </a:p>
          </p:txBody>
        </p:sp>
        <p:sp>
          <p:nvSpPr>
            <p:cNvPr id="5153" name="TextBox 49"/>
            <p:cNvSpPr txBox="1">
              <a:spLocks noChangeArrowheads="1"/>
            </p:cNvSpPr>
            <p:nvPr/>
          </p:nvSpPr>
          <p:spPr bwMode="auto">
            <a:xfrm>
              <a:off x="5715000" y="3810000"/>
              <a:ext cx="6096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Yes</a:t>
              </a:r>
            </a:p>
          </p:txBody>
        </p:sp>
        <p:sp>
          <p:nvSpPr>
            <p:cNvPr id="5154" name="TextBox 50"/>
            <p:cNvSpPr txBox="1">
              <a:spLocks noChangeArrowheads="1"/>
            </p:cNvSpPr>
            <p:nvPr/>
          </p:nvSpPr>
          <p:spPr bwMode="auto">
            <a:xfrm>
              <a:off x="1447800" y="2514600"/>
              <a:ext cx="6096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Yes</a:t>
              </a:r>
            </a:p>
          </p:txBody>
        </p:sp>
        <p:sp>
          <p:nvSpPr>
            <p:cNvPr id="5155" name="TextBox 51"/>
            <p:cNvSpPr txBox="1">
              <a:spLocks noChangeArrowheads="1"/>
            </p:cNvSpPr>
            <p:nvPr/>
          </p:nvSpPr>
          <p:spPr bwMode="auto">
            <a:xfrm>
              <a:off x="2286000" y="1752600"/>
              <a:ext cx="6096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No</a:t>
              </a:r>
            </a:p>
          </p:txBody>
        </p:sp>
        <p:sp>
          <p:nvSpPr>
            <p:cNvPr id="5156" name="TextBox 52"/>
            <p:cNvSpPr txBox="1">
              <a:spLocks noChangeArrowheads="1"/>
            </p:cNvSpPr>
            <p:nvPr/>
          </p:nvSpPr>
          <p:spPr bwMode="auto">
            <a:xfrm>
              <a:off x="4267200" y="4876800"/>
              <a:ext cx="6096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No</a:t>
              </a:r>
            </a:p>
          </p:txBody>
        </p:sp>
        <p:sp>
          <p:nvSpPr>
            <p:cNvPr id="5157" name="TextBox 53"/>
            <p:cNvSpPr txBox="1">
              <a:spLocks noChangeArrowheads="1"/>
            </p:cNvSpPr>
            <p:nvPr/>
          </p:nvSpPr>
          <p:spPr bwMode="auto">
            <a:xfrm>
              <a:off x="7086600" y="4419600"/>
              <a:ext cx="6096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No</a:t>
              </a:r>
            </a:p>
          </p:txBody>
        </p:sp>
        <p:sp>
          <p:nvSpPr>
            <p:cNvPr id="5158" name="TextBox 54"/>
            <p:cNvSpPr txBox="1">
              <a:spLocks noChangeArrowheads="1"/>
            </p:cNvSpPr>
            <p:nvPr/>
          </p:nvSpPr>
          <p:spPr bwMode="auto">
            <a:xfrm>
              <a:off x="5943600" y="4953000"/>
              <a:ext cx="6096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200"/>
                <a:t>No</a:t>
              </a:r>
            </a:p>
          </p:txBody>
        </p:sp>
      </p:grp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5CDB-5860-4337-9C8E-DCA4CEC5D625}" type="datetime1">
              <a:rPr lang="en-US" smtClean="0"/>
              <a:t>9/27/2021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5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4"/>
          <p:cNvSpPr txBox="1">
            <a:spLocks noChangeArrowheads="1"/>
          </p:cNvSpPr>
          <p:nvPr/>
        </p:nvSpPr>
        <p:spPr bwMode="auto">
          <a:xfrm>
            <a:off x="228600" y="228600"/>
            <a:ext cx="2286000" cy="5848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2000">
                <a:solidFill>
                  <a:srgbClr val="3333FF"/>
                </a:solidFill>
              </a:rPr>
              <a:t>Source Code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>
              <a:solidFill>
                <a:srgbClr val="3333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DEFINE      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END</a:t>
            </a:r>
          </a:p>
        </p:txBody>
      </p:sp>
      <p:sp>
        <p:nvSpPr>
          <p:cNvPr id="6147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6148" name="Text Box 6"/>
          <p:cNvSpPr txBox="1">
            <a:spLocks noChangeArrowheads="1"/>
          </p:cNvSpPr>
          <p:nvPr/>
        </p:nvSpPr>
        <p:spPr bwMode="auto">
          <a:xfrm>
            <a:off x="4038600" y="228600"/>
            <a:ext cx="1981200" cy="1373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b="1">
                <a:solidFill>
                  <a:srgbClr val="3333FF"/>
                </a:solidFill>
              </a:rPr>
              <a:t>ALA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6149" name="Text Box 7"/>
          <p:cNvSpPr txBox="1">
            <a:spLocks noChangeArrowheads="1"/>
          </p:cNvSpPr>
          <p:nvPr/>
        </p:nvSpPr>
        <p:spPr bwMode="auto">
          <a:xfrm>
            <a:off x="2667000" y="2514600"/>
            <a:ext cx="2667000" cy="1373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b="1">
                <a:solidFill>
                  <a:srgbClr val="3333FF"/>
                </a:solidFill>
              </a:rPr>
              <a:t>MDT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	DEF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</p:txBody>
      </p:sp>
      <p:sp>
        <p:nvSpPr>
          <p:cNvPr id="6150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3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b="1">
                <a:solidFill>
                  <a:srgbClr val="3333FF"/>
                </a:solidFill>
              </a:rPr>
              <a:t>MNT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	NAME	MDTC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157D-F272-4785-8A2B-C7EAF372805C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96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498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7172" name="Text Box 6"/>
          <p:cNvSpPr txBox="1">
            <a:spLocks noChangeArrowheads="1"/>
          </p:cNvSpPr>
          <p:nvPr/>
        </p:nvSpPr>
        <p:spPr bwMode="auto">
          <a:xfrm>
            <a:off x="4038600" y="228600"/>
            <a:ext cx="1981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7173" name="Text Box 7"/>
          <p:cNvSpPr txBox="1">
            <a:spLocks noChangeArrowheads="1"/>
          </p:cNvSpPr>
          <p:nvPr/>
        </p:nvSpPr>
        <p:spPr bwMode="auto">
          <a:xfrm>
            <a:off x="4038600" y="2551906"/>
            <a:ext cx="26670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MDT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MDTC	DEF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--------------------------------------------</a:t>
            </a:r>
          </a:p>
        </p:txBody>
      </p:sp>
      <p:sp>
        <p:nvSpPr>
          <p:cNvPr id="7174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	NAME	MDTC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7175" name="Text Box 9"/>
          <p:cNvSpPr txBox="1">
            <a:spLocks noChangeArrowheads="1"/>
          </p:cNvSpPr>
          <p:nvPr/>
        </p:nvSpPr>
        <p:spPr bwMode="auto">
          <a:xfrm>
            <a:off x="2247900" y="6458198"/>
            <a:ext cx="556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due to Macro keyword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3D9EA-B4D7-4F04-8497-E07554DF8C0A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8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4"/>
          <p:cNvSpPr txBox="1">
            <a:spLocks noChangeArrowheads="1"/>
          </p:cNvSpPr>
          <p:nvPr/>
        </p:nvSpPr>
        <p:spPr bwMode="auto">
          <a:xfrm>
            <a:off x="228600" y="376238"/>
            <a:ext cx="2286000" cy="526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8195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MDLC=1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8196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8197" name="Text Box 7"/>
          <p:cNvSpPr txBox="1">
            <a:spLocks noChangeArrowheads="1"/>
          </p:cNvSpPr>
          <p:nvPr/>
        </p:nvSpPr>
        <p:spPr bwMode="auto">
          <a:xfrm>
            <a:off x="4038600" y="2362994"/>
            <a:ext cx="26670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 dirty="0"/>
              <a:t>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</p:txBody>
      </p:sp>
      <p:sp>
        <p:nvSpPr>
          <p:cNvPr id="8198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8199" name="Text Box 9"/>
          <p:cNvSpPr txBox="1">
            <a:spLocks noChangeArrowheads="1"/>
          </p:cNvSpPr>
          <p:nvPr/>
        </p:nvSpPr>
        <p:spPr bwMode="auto">
          <a:xfrm>
            <a:off x="1600200" y="6398667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solidFill>
                  <a:srgbClr val="FFFF00"/>
                </a:solidFill>
              </a:rPr>
              <a:t>Reading Next source card after entering line into MDT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045EA-A45F-4A32-9E2F-F4B0D1AF4ACF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7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3622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9219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MDLC=2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9220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9221" name="Text Box 7"/>
          <p:cNvSpPr txBox="1">
            <a:spLocks noChangeArrowheads="1"/>
          </p:cNvSpPr>
          <p:nvPr/>
        </p:nvSpPr>
        <p:spPr bwMode="auto">
          <a:xfrm>
            <a:off x="4038600" y="2488071"/>
            <a:ext cx="2667000" cy="147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 dirty="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 dirty="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3		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</p:txBody>
      </p:sp>
      <p:sp>
        <p:nvSpPr>
          <p:cNvPr id="9222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9223" name="Text Box 9"/>
          <p:cNvSpPr txBox="1">
            <a:spLocks noChangeArrowheads="1"/>
          </p:cNvSpPr>
          <p:nvPr/>
        </p:nvSpPr>
        <p:spPr bwMode="auto">
          <a:xfrm>
            <a:off x="1750062" y="6436642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after entering line into MDT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A42FC-D40D-4652-834C-020ABE71E5FE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7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10243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10244" name="Text Box 6"/>
          <p:cNvSpPr txBox="1">
            <a:spLocks noChangeArrowheads="1"/>
          </p:cNvSpPr>
          <p:nvPr/>
        </p:nvSpPr>
        <p:spPr bwMode="auto">
          <a:xfrm>
            <a:off x="4298213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 dirty="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 dirty="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 dirty="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 dirty="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 dirty="0"/>
              <a:t>#0	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 dirty="0"/>
              <a:t>---------------------------------</a:t>
            </a:r>
          </a:p>
        </p:txBody>
      </p:sp>
      <p:sp>
        <p:nvSpPr>
          <p:cNvPr id="10245" name="Text Box 7"/>
          <p:cNvSpPr txBox="1">
            <a:spLocks noChangeArrowheads="1"/>
          </p:cNvSpPr>
          <p:nvPr/>
        </p:nvSpPr>
        <p:spPr bwMode="auto">
          <a:xfrm>
            <a:off x="3886200" y="2463799"/>
            <a:ext cx="266700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 dirty="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 dirty="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 dirty="0"/>
              <a:t>            #0           &amp;Y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</p:txBody>
      </p:sp>
      <p:sp>
        <p:nvSpPr>
          <p:cNvPr id="10246" name="Text Box 8"/>
          <p:cNvSpPr txBox="1">
            <a:spLocks noChangeArrowheads="1"/>
          </p:cNvSpPr>
          <p:nvPr/>
        </p:nvSpPr>
        <p:spPr bwMode="auto">
          <a:xfrm>
            <a:off x="6409899" y="243681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dirty="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 dirty="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-----------------------------------------------</a:t>
            </a:r>
          </a:p>
        </p:txBody>
      </p:sp>
      <p:sp>
        <p:nvSpPr>
          <p:cNvPr id="10247" name="Text Box 9"/>
          <p:cNvSpPr txBox="1">
            <a:spLocks noChangeArrowheads="1"/>
          </p:cNvSpPr>
          <p:nvPr/>
        </p:nvSpPr>
        <p:spPr bwMode="auto">
          <a:xfrm>
            <a:off x="1745513" y="6412706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after entering line into MDT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21597-54BE-41DD-85D4-2FBF082761CD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5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11267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11269" name="Text Box 7"/>
          <p:cNvSpPr txBox="1">
            <a:spLocks noChangeArrowheads="1"/>
          </p:cNvSpPr>
          <p:nvPr/>
        </p:nvSpPr>
        <p:spPr bwMode="auto">
          <a:xfrm>
            <a:off x="2667000" y="2514600"/>
            <a:ext cx="2667000" cy="184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 dirty="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 dirty="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 dirty="0"/>
              <a:t>            </a:t>
            </a:r>
            <a:r>
              <a:rPr lang="en-US" sz="1200" dirty="0" smtClean="0"/>
              <a:t> #</a:t>
            </a:r>
            <a:r>
              <a:rPr lang="en-US" sz="1200" dirty="0"/>
              <a:t>0           &amp;Y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4	 </a:t>
            </a:r>
            <a:r>
              <a:rPr lang="en-US" sz="1200" dirty="0" smtClean="0"/>
              <a:t>            CNOP    </a:t>
            </a:r>
            <a:r>
              <a:rPr lang="en-US" sz="1200" dirty="0"/>
              <a:t>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5		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</p:txBody>
      </p:sp>
      <p:sp>
        <p:nvSpPr>
          <p:cNvPr id="11270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11271" name="Text Box 9"/>
          <p:cNvSpPr txBox="1">
            <a:spLocks noChangeArrowheads="1"/>
          </p:cNvSpPr>
          <p:nvPr/>
        </p:nvSpPr>
        <p:spPr bwMode="auto">
          <a:xfrm>
            <a:off x="1600200" y="6435849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after entering line into MDT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052B5-AD09-48EA-ABBF-AF42843BC02E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4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MDTC=6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12293" name="Text Box 7"/>
          <p:cNvSpPr txBox="1">
            <a:spLocks noChangeArrowheads="1"/>
          </p:cNvSpPr>
          <p:nvPr/>
        </p:nvSpPr>
        <p:spPr bwMode="auto">
          <a:xfrm>
            <a:off x="2667000" y="2514600"/>
            <a:ext cx="2667000" cy="202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           &amp;Y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12294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12295" name="Text Box 9"/>
          <p:cNvSpPr txBox="1">
            <a:spLocks noChangeArrowheads="1"/>
          </p:cNvSpPr>
          <p:nvPr/>
        </p:nvSpPr>
        <p:spPr bwMode="auto">
          <a:xfrm>
            <a:off x="1790700" y="6458198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after entering line into MDT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539A-61AC-451F-8776-03E1D99AACB5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64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4"/>
          <p:cNvSpPr txBox="1">
            <a:spLocks noChangeArrowheads="1"/>
          </p:cNvSpPr>
          <p:nvPr/>
        </p:nvSpPr>
        <p:spPr bwMode="auto">
          <a:xfrm>
            <a:off x="228600" y="4064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13315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MDTC=7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13316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13317" name="Text Box 7"/>
          <p:cNvSpPr txBox="1">
            <a:spLocks noChangeArrowheads="1"/>
          </p:cNvSpPr>
          <p:nvPr/>
        </p:nvSpPr>
        <p:spPr bwMode="auto">
          <a:xfrm>
            <a:off x="2667000" y="2514600"/>
            <a:ext cx="26670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           &amp;Y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13318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13319" name="Text Box 9"/>
          <p:cNvSpPr txBox="1">
            <a:spLocks noChangeArrowheads="1"/>
          </p:cNvSpPr>
          <p:nvPr/>
        </p:nvSpPr>
        <p:spPr bwMode="auto">
          <a:xfrm>
            <a:off x="1790700" y="6398667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after entering line into MDT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7F27-86DF-404A-A690-1FA3C0F3DE3A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5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498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</p:txBody>
      </p:sp>
      <p:sp>
        <p:nvSpPr>
          <p:cNvPr id="14339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14340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14341" name="Text Box 7"/>
          <p:cNvSpPr txBox="1">
            <a:spLocks noChangeArrowheads="1"/>
          </p:cNvSpPr>
          <p:nvPr/>
        </p:nvSpPr>
        <p:spPr bwMode="auto">
          <a:xfrm>
            <a:off x="2667000" y="2514600"/>
            <a:ext cx="2667000" cy="239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           &amp;Y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14342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14343" name="Text Box 9"/>
          <p:cNvSpPr txBox="1">
            <a:spLocks noChangeArrowheads="1"/>
          </p:cNvSpPr>
          <p:nvPr/>
        </p:nvSpPr>
        <p:spPr bwMode="auto">
          <a:xfrm>
            <a:off x="1790700" y="6459786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after entering line into MDT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8A005-6622-4D3C-89E3-EED8F386FC94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6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4384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15363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MDTC=9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15364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15365" name="Text Box 7"/>
          <p:cNvSpPr txBox="1">
            <a:spLocks noChangeArrowheads="1"/>
          </p:cNvSpPr>
          <p:nvPr/>
        </p:nvSpPr>
        <p:spPr bwMode="auto">
          <a:xfrm>
            <a:off x="2667000" y="2514600"/>
            <a:ext cx="2667000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           &amp;Y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15366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15367" name="Text Box 9"/>
          <p:cNvSpPr txBox="1">
            <a:spLocks noChangeArrowheads="1"/>
          </p:cNvSpPr>
          <p:nvPr/>
        </p:nvSpPr>
        <p:spPr bwMode="auto">
          <a:xfrm>
            <a:off x="1790700" y="6458198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solidFill>
                  <a:srgbClr val="FFFF00"/>
                </a:solidFill>
              </a:rPr>
              <a:t>Reading Next source card after entering line into MDT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59E80-4B30-4F2E-A890-C8580E8C7F7D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3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3622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16387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MDLC=1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16388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16389" name="Text Box 7"/>
          <p:cNvSpPr txBox="1">
            <a:spLocks noChangeArrowheads="1"/>
          </p:cNvSpPr>
          <p:nvPr/>
        </p:nvSpPr>
        <p:spPr bwMode="auto">
          <a:xfrm>
            <a:off x="2667000" y="2209800"/>
            <a:ext cx="2667000" cy="276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           &amp;Y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15, 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16390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16391" name="Text Box 9"/>
          <p:cNvSpPr txBox="1">
            <a:spLocks noChangeArrowheads="1"/>
          </p:cNvSpPr>
          <p:nvPr/>
        </p:nvSpPr>
        <p:spPr bwMode="auto">
          <a:xfrm>
            <a:off x="1790700" y="6398667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after entering line into MDT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A31D3-8F2C-43E4-84C3-F98FEAB105B8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7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438400" cy="498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</p:txBody>
      </p:sp>
      <p:sp>
        <p:nvSpPr>
          <p:cNvPr id="17411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17412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17413" name="Text Box 7"/>
          <p:cNvSpPr txBox="1">
            <a:spLocks noChangeArrowheads="1"/>
          </p:cNvSpPr>
          <p:nvPr/>
        </p:nvSpPr>
        <p:spPr bwMode="auto">
          <a:xfrm>
            <a:off x="2667000" y="2209800"/>
            <a:ext cx="2667000" cy="294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           &amp;Y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17414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17415" name="Text Box 9"/>
          <p:cNvSpPr txBox="1">
            <a:spLocks noChangeArrowheads="1"/>
          </p:cNvSpPr>
          <p:nvPr/>
        </p:nvSpPr>
        <p:spPr bwMode="auto">
          <a:xfrm>
            <a:off x="1029890" y="6458198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after entering line into MDT &amp; MDLC=0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8600" y="6459786"/>
            <a:ext cx="1854203" cy="365125"/>
          </a:xfrm>
        </p:spPr>
        <p:txBody>
          <a:bodyPr/>
          <a:lstStyle/>
          <a:p>
            <a:fld id="{3BDEF312-D744-4DE7-A8F9-6A5FCA0EA150}" type="datetime1">
              <a:rPr lang="en-US" smtClean="0"/>
              <a:t>9/27/2021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1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438400" cy="498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PROG	START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</p:txBody>
      </p:sp>
      <p:sp>
        <p:nvSpPr>
          <p:cNvPr id="18435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18437" name="Text Box 7"/>
          <p:cNvSpPr txBox="1">
            <a:spLocks noChangeArrowheads="1"/>
          </p:cNvSpPr>
          <p:nvPr/>
        </p:nvSpPr>
        <p:spPr bwMode="auto">
          <a:xfrm>
            <a:off x="2667000" y="2209800"/>
            <a:ext cx="2667000" cy="294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           &amp;Y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18438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18439" name="Text Box 9"/>
          <p:cNvSpPr txBox="1">
            <a:spLocks noChangeArrowheads="1"/>
          </p:cNvSpPr>
          <p:nvPr/>
        </p:nvSpPr>
        <p:spPr bwMode="auto">
          <a:xfrm>
            <a:off x="2057400" y="6458198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solidFill>
                  <a:srgbClr val="FFFF00"/>
                </a:solidFill>
              </a:rPr>
              <a:t>Reading Next source card AND write to output file</a:t>
            </a:r>
          </a:p>
        </p:txBody>
      </p:sp>
      <p:sp>
        <p:nvSpPr>
          <p:cNvPr id="18440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>
              <a:solidFill>
                <a:srgbClr val="0099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8DC4F-3283-4FD7-BF50-92527CD5A604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9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438400" cy="498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</a:t>
            </a:r>
            <a:r>
              <a:rPr lang="en-US" sz="1200">
                <a:solidFill>
                  <a:srgbClr val="FF9900"/>
                </a:solidFill>
              </a:rPr>
              <a:t>SR               1,1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</p:txBody>
      </p:sp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</a:t>
            </a:r>
          </a:p>
        </p:txBody>
      </p:sp>
      <p:sp>
        <p:nvSpPr>
          <p:cNvPr id="19460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19461" name="Text Box 7"/>
          <p:cNvSpPr txBox="1">
            <a:spLocks noChangeArrowheads="1"/>
          </p:cNvSpPr>
          <p:nvPr/>
        </p:nvSpPr>
        <p:spPr bwMode="auto">
          <a:xfrm>
            <a:off x="2667000" y="2209800"/>
            <a:ext cx="2667000" cy="294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           &amp;Y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15, 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19462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19463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>
              <a:solidFill>
                <a:srgbClr val="0099FF"/>
              </a:solidFill>
            </a:endParaRPr>
          </a:p>
        </p:txBody>
      </p:sp>
      <p:sp>
        <p:nvSpPr>
          <p:cNvPr id="19464" name="Text Box 9"/>
          <p:cNvSpPr txBox="1">
            <a:spLocks noChangeArrowheads="1"/>
          </p:cNvSpPr>
          <p:nvPr/>
        </p:nvSpPr>
        <p:spPr bwMode="auto">
          <a:xfrm>
            <a:off x="1790700" y="6411367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AND write to output file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090A6-A1A2-4284-96FC-4CDC513F1D51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2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MDTP=1</a:t>
            </a:r>
          </a:p>
        </p:txBody>
      </p:sp>
      <p:sp>
        <p:nvSpPr>
          <p:cNvPr id="20484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20485" name="Text Box 7"/>
          <p:cNvSpPr txBox="1">
            <a:spLocks noChangeArrowheads="1"/>
          </p:cNvSpPr>
          <p:nvPr/>
        </p:nvSpPr>
        <p:spPr bwMode="auto">
          <a:xfrm>
            <a:off x="3239690" y="2209800"/>
            <a:ext cx="2667000" cy="294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 dirty="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 dirty="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 dirty="0"/>
              <a:t>            #0           &amp;Y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</p:txBody>
      </p:sp>
      <p:sp>
        <p:nvSpPr>
          <p:cNvPr id="20486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dirty="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 dirty="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-----------------------------------------------</a:t>
            </a:r>
          </a:p>
        </p:txBody>
      </p:sp>
      <p:sp>
        <p:nvSpPr>
          <p:cNvPr id="20487" name="Text Box 9"/>
          <p:cNvSpPr txBox="1">
            <a:spLocks noChangeArrowheads="1"/>
          </p:cNvSpPr>
          <p:nvPr/>
        </p:nvSpPr>
        <p:spPr bwMode="auto">
          <a:xfrm>
            <a:off x="1750062" y="6405686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solidFill>
                  <a:srgbClr val="FFFF00"/>
                </a:solidFill>
              </a:rPr>
              <a:t>Reading Next source card i.e. call to outer MACRO</a:t>
            </a:r>
          </a:p>
        </p:txBody>
      </p:sp>
      <p:sp>
        <p:nvSpPr>
          <p:cNvPr id="20488" name="Text Box 10"/>
          <p:cNvSpPr txBox="1">
            <a:spLocks noChangeArrowheads="1"/>
          </p:cNvSpPr>
          <p:nvPr/>
        </p:nvSpPr>
        <p:spPr bwMode="auto">
          <a:xfrm>
            <a:off x="6066430" y="2298700"/>
            <a:ext cx="30480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	SR	1</a:t>
            </a:r>
            <a:r>
              <a:rPr lang="en-US" sz="1200" dirty="0" smtClean="0"/>
              <a:t>, 1</a:t>
            </a:r>
            <a:endParaRPr lang="en-US" sz="1200" dirty="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 dirty="0"/>
          </a:p>
        </p:txBody>
      </p:sp>
      <p:sp>
        <p:nvSpPr>
          <p:cNvPr id="2" name="Oval 1"/>
          <p:cNvSpPr/>
          <p:nvPr/>
        </p:nvSpPr>
        <p:spPr>
          <a:xfrm>
            <a:off x="7848600" y="901700"/>
            <a:ext cx="457200" cy="4699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3581400" y="1371600"/>
            <a:ext cx="4495800" cy="673100"/>
            <a:chOff x="3657600" y="1371600"/>
            <a:chExt cx="4419600" cy="457200"/>
          </a:xfrm>
        </p:grpSpPr>
        <p:cxnSp>
          <p:nvCxnSpPr>
            <p:cNvPr id="6" name="Straight Connector 5"/>
            <p:cNvCxnSpPr>
              <a:stCxn id="2" idx="4"/>
            </p:cNvCxnSpPr>
            <p:nvPr/>
          </p:nvCxnSpPr>
          <p:spPr>
            <a:xfrm>
              <a:off x="8077200" y="1371600"/>
              <a:ext cx="0" cy="45720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3657600" y="1828800"/>
              <a:ext cx="44196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3657600" y="1485900"/>
              <a:ext cx="0" cy="34290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3EFF9-26ED-46D2-BF2D-1DBE901D1787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7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1507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MDTP=2</a:t>
            </a:r>
          </a:p>
        </p:txBody>
      </p:sp>
      <p:sp>
        <p:nvSpPr>
          <p:cNvPr id="21508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21509" name="Text Box 7"/>
          <p:cNvSpPr txBox="1">
            <a:spLocks noChangeArrowheads="1"/>
          </p:cNvSpPr>
          <p:nvPr/>
        </p:nvSpPr>
        <p:spPr bwMode="auto">
          <a:xfrm>
            <a:off x="3124200" y="2120900"/>
            <a:ext cx="2667000" cy="294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 dirty="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 dirty="0">
                <a:solidFill>
                  <a:srgbClr val="0099FF"/>
                </a:solidFill>
              </a:rPr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 dirty="0"/>
              <a:t>            #0           &amp;Y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7		L          15, 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</p:txBody>
      </p:sp>
      <p:sp>
        <p:nvSpPr>
          <p:cNvPr id="21510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3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2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21511" name="Text Box 9"/>
          <p:cNvSpPr txBox="1">
            <a:spLocks noChangeArrowheads="1"/>
          </p:cNvSpPr>
          <p:nvPr/>
        </p:nvSpPr>
        <p:spPr bwMode="auto">
          <a:xfrm>
            <a:off x="1485900" y="6431472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which expansion of MACRO DEFINE</a:t>
            </a:r>
          </a:p>
        </p:txBody>
      </p:sp>
      <p:sp>
        <p:nvSpPr>
          <p:cNvPr id="21512" name="Text Box 10"/>
          <p:cNvSpPr txBox="1">
            <a:spLocks noChangeArrowheads="1"/>
          </p:cNvSpPr>
          <p:nvPr/>
        </p:nvSpPr>
        <p:spPr bwMode="auto">
          <a:xfrm>
            <a:off x="6268872" y="2209800"/>
            <a:ext cx="30480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5D90-B626-469B-B53E-513C2DCF041A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1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228600" y="342900"/>
            <a:ext cx="2362200" cy="526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MDLC=1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MDTP=3</a:t>
            </a:r>
          </a:p>
        </p:txBody>
      </p:sp>
      <p:sp>
        <p:nvSpPr>
          <p:cNvPr id="22532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#1	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22533" name="Text Box 7"/>
          <p:cNvSpPr txBox="1">
            <a:spLocks noChangeArrowheads="1"/>
          </p:cNvSpPr>
          <p:nvPr/>
        </p:nvSpPr>
        <p:spPr bwMode="auto">
          <a:xfrm>
            <a:off x="2970147" y="2129880"/>
            <a:ext cx="2667000" cy="313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 dirty="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 dirty="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 dirty="0">
                <a:solidFill>
                  <a:srgbClr val="0099FF"/>
                </a:solidFill>
              </a:rPr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12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</p:txBody>
      </p:sp>
      <p:sp>
        <p:nvSpPr>
          <p:cNvPr id="22534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>
                <a:solidFill>
                  <a:srgbClr val="0099FF"/>
                </a:solidFill>
              </a:rPr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22535" name="Text Box 9"/>
          <p:cNvSpPr txBox="1">
            <a:spLocks noChangeArrowheads="1"/>
          </p:cNvSpPr>
          <p:nvPr/>
        </p:nvSpPr>
        <p:spPr bwMode="auto">
          <a:xfrm>
            <a:off x="1485900" y="6459786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which expansion of MACRO DEFINE</a:t>
            </a:r>
          </a:p>
        </p:txBody>
      </p:sp>
      <p:sp>
        <p:nvSpPr>
          <p:cNvPr id="22536" name="Text Box 10"/>
          <p:cNvSpPr txBox="1">
            <a:spLocks noChangeArrowheads="1"/>
          </p:cNvSpPr>
          <p:nvPr/>
        </p:nvSpPr>
        <p:spPr bwMode="auto">
          <a:xfrm>
            <a:off x="5901344" y="2208663"/>
            <a:ext cx="30480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44AD-2725-48C7-8222-EE2D8B262B3A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8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3555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MDTP=4</a:t>
            </a:r>
          </a:p>
        </p:txBody>
      </p:sp>
      <p:sp>
        <p:nvSpPr>
          <p:cNvPr id="23556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23557" name="Text Box 7"/>
          <p:cNvSpPr txBox="1">
            <a:spLocks noChangeArrowheads="1"/>
          </p:cNvSpPr>
          <p:nvPr/>
        </p:nvSpPr>
        <p:spPr bwMode="auto">
          <a:xfrm>
            <a:off x="2667000" y="2209800"/>
            <a:ext cx="2667000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12</a:t>
            </a:r>
            <a:r>
              <a:rPr lang="en-US" sz="1200"/>
              <a:t>		</a:t>
            </a:r>
            <a:r>
              <a:rPr lang="en-US" sz="1200">
                <a:solidFill>
                  <a:srgbClr val="0099FF"/>
                </a:solidFill>
              </a:rPr>
              <a:t>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23558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23559" name="Text Box 9"/>
          <p:cNvSpPr txBox="1">
            <a:spLocks noChangeArrowheads="1"/>
          </p:cNvSpPr>
          <p:nvPr/>
        </p:nvSpPr>
        <p:spPr bwMode="auto">
          <a:xfrm>
            <a:off x="1485900" y="6450136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which expansion of MACRO DEFINE</a:t>
            </a:r>
          </a:p>
        </p:txBody>
      </p:sp>
      <p:sp>
        <p:nvSpPr>
          <p:cNvPr id="23560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E8D6-601B-4DDF-8659-45EB44977222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7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MDTP=5</a:t>
            </a:r>
          </a:p>
        </p:txBody>
      </p:sp>
      <p:sp>
        <p:nvSpPr>
          <p:cNvPr id="24580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24581" name="Text Box 7"/>
          <p:cNvSpPr txBox="1">
            <a:spLocks noChangeArrowheads="1"/>
          </p:cNvSpPr>
          <p:nvPr/>
        </p:nvSpPr>
        <p:spPr bwMode="auto">
          <a:xfrm>
            <a:off x="2667000" y="2209800"/>
            <a:ext cx="2667000" cy="349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15, 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24582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24583" name="Text Box 9"/>
          <p:cNvSpPr txBox="1">
            <a:spLocks noChangeArrowheads="1"/>
          </p:cNvSpPr>
          <p:nvPr/>
        </p:nvSpPr>
        <p:spPr bwMode="auto">
          <a:xfrm>
            <a:off x="1485900" y="6459786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which expansion of MACRO DEFINE</a:t>
            </a:r>
          </a:p>
        </p:txBody>
      </p:sp>
      <p:sp>
        <p:nvSpPr>
          <p:cNvPr id="24584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2CA97-A90D-4BF9-90CB-FBB4FC4F5448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3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362200" cy="498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</p:txBody>
      </p:sp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MDTP=6</a:t>
            </a:r>
          </a:p>
        </p:txBody>
      </p:sp>
      <p:sp>
        <p:nvSpPr>
          <p:cNvPr id="25604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25605" name="Text Box 7"/>
          <p:cNvSpPr txBox="1">
            <a:spLocks noChangeArrowheads="1"/>
          </p:cNvSpPr>
          <p:nvPr/>
        </p:nvSpPr>
        <p:spPr bwMode="auto">
          <a:xfrm>
            <a:off x="2667000" y="2209800"/>
            <a:ext cx="2667000" cy="368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25606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25607" name="Text Box 9"/>
          <p:cNvSpPr txBox="1">
            <a:spLocks noChangeArrowheads="1"/>
          </p:cNvSpPr>
          <p:nvPr/>
        </p:nvSpPr>
        <p:spPr bwMode="auto">
          <a:xfrm>
            <a:off x="1485900" y="6432550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which expansion of MACRO DEFINE</a:t>
            </a:r>
          </a:p>
        </p:txBody>
      </p:sp>
      <p:sp>
        <p:nvSpPr>
          <p:cNvPr id="25608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3830C-7CBC-4233-940C-9E8F7FCA3BA5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8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6627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MDTC=16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MDTP=7</a:t>
            </a:r>
          </a:p>
        </p:txBody>
      </p:sp>
      <p:sp>
        <p:nvSpPr>
          <p:cNvPr id="26628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26629" name="Text Box 7"/>
          <p:cNvSpPr txBox="1">
            <a:spLocks noChangeArrowheads="1"/>
          </p:cNvSpPr>
          <p:nvPr/>
        </p:nvSpPr>
        <p:spPr bwMode="auto">
          <a:xfrm>
            <a:off x="2667000" y="2209800"/>
            <a:ext cx="2667000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16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26630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26631" name="Text Box 9"/>
          <p:cNvSpPr txBox="1">
            <a:spLocks noChangeArrowheads="1"/>
          </p:cNvSpPr>
          <p:nvPr/>
        </p:nvSpPr>
        <p:spPr bwMode="auto">
          <a:xfrm>
            <a:off x="1371600" y="6459786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which expansion of MACRO DEFINE</a:t>
            </a:r>
          </a:p>
        </p:txBody>
      </p:sp>
      <p:sp>
        <p:nvSpPr>
          <p:cNvPr id="26632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61447" y="6459785"/>
            <a:ext cx="1854203" cy="365125"/>
          </a:xfrm>
        </p:spPr>
        <p:txBody>
          <a:bodyPr/>
          <a:lstStyle/>
          <a:p>
            <a:fld id="{E13896AD-0CD3-4CB7-A789-2734F2A96F2E}" type="datetime1">
              <a:rPr lang="en-US" smtClean="0"/>
              <a:t>9/27/2021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3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7651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MDTC=17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MDTP=8</a:t>
            </a:r>
          </a:p>
        </p:txBody>
      </p:sp>
      <p:sp>
        <p:nvSpPr>
          <p:cNvPr id="27652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27653" name="Text Box 7"/>
          <p:cNvSpPr txBox="1">
            <a:spLocks noChangeArrowheads="1"/>
          </p:cNvSpPr>
          <p:nvPr/>
        </p:nvSpPr>
        <p:spPr bwMode="auto">
          <a:xfrm>
            <a:off x="2667000" y="2209800"/>
            <a:ext cx="2667000" cy="405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17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27654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27655" name="Text Box 9"/>
          <p:cNvSpPr txBox="1">
            <a:spLocks noChangeArrowheads="1"/>
          </p:cNvSpPr>
          <p:nvPr/>
        </p:nvSpPr>
        <p:spPr bwMode="auto">
          <a:xfrm>
            <a:off x="1485900" y="6459786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which expansion of MACRO DEFINE</a:t>
            </a:r>
          </a:p>
        </p:txBody>
      </p:sp>
      <p:sp>
        <p:nvSpPr>
          <p:cNvPr id="27656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E7CD8-DA76-4A83-AA9A-6DE10FC88ACF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MDTP=9</a:t>
            </a:r>
          </a:p>
        </p:txBody>
      </p:sp>
      <p:sp>
        <p:nvSpPr>
          <p:cNvPr id="28676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28677" name="Text Box 7"/>
          <p:cNvSpPr txBox="1">
            <a:spLocks noChangeArrowheads="1"/>
          </p:cNvSpPr>
          <p:nvPr/>
        </p:nvSpPr>
        <p:spPr bwMode="auto">
          <a:xfrm>
            <a:off x="2667000" y="1981200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15, 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28678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28679" name="Text Box 9"/>
          <p:cNvSpPr txBox="1">
            <a:spLocks noChangeArrowheads="1"/>
          </p:cNvSpPr>
          <p:nvPr/>
        </p:nvSpPr>
        <p:spPr bwMode="auto">
          <a:xfrm>
            <a:off x="572690" y="6426353"/>
            <a:ext cx="800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which expansion of MACRO DEFINE &amp; MDLC=0</a:t>
            </a:r>
          </a:p>
        </p:txBody>
      </p:sp>
      <p:sp>
        <p:nvSpPr>
          <p:cNvPr id="28680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2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DEFINE 	COS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MDTP=10</a:t>
            </a:r>
          </a:p>
        </p:txBody>
      </p:sp>
      <p:sp>
        <p:nvSpPr>
          <p:cNvPr id="29700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29701" name="Text Box 7"/>
          <p:cNvSpPr txBox="1">
            <a:spLocks noChangeArrowheads="1"/>
          </p:cNvSpPr>
          <p:nvPr/>
        </p:nvSpPr>
        <p:spPr bwMode="auto">
          <a:xfrm>
            <a:off x="2667000" y="1981200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29702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29703" name="Text Box 9"/>
          <p:cNvSpPr txBox="1">
            <a:spLocks noChangeArrowheads="1"/>
          </p:cNvSpPr>
          <p:nvPr/>
        </p:nvSpPr>
        <p:spPr bwMode="auto">
          <a:xfrm>
            <a:off x="2247900" y="6412705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solidFill>
                  <a:srgbClr val="FFFF00"/>
                </a:solidFill>
              </a:rPr>
              <a:t>Expansion of Macro Define completed</a:t>
            </a:r>
          </a:p>
        </p:txBody>
      </p:sp>
      <p:sp>
        <p:nvSpPr>
          <p:cNvPr id="29704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7A46-8967-41E5-86B6-170B4F92BE73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6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</a:t>
            </a:r>
            <a:r>
              <a:rPr lang="en-US" sz="1200">
                <a:solidFill>
                  <a:srgbClr val="CC3300"/>
                </a:solidFill>
              </a:rPr>
              <a:t>AR              1,4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	L                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30723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MDTP=10</a:t>
            </a:r>
          </a:p>
        </p:txBody>
      </p:sp>
      <p:sp>
        <p:nvSpPr>
          <p:cNvPr id="30724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30725" name="Text Box 7"/>
          <p:cNvSpPr txBox="1">
            <a:spLocks noChangeArrowheads="1"/>
          </p:cNvSpPr>
          <p:nvPr/>
        </p:nvSpPr>
        <p:spPr bwMode="auto">
          <a:xfrm>
            <a:off x="2667000" y="1981200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15, 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30726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30727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	AR	1,4</a:t>
            </a:r>
          </a:p>
        </p:txBody>
      </p:sp>
      <p:sp>
        <p:nvSpPr>
          <p:cNvPr id="30728" name="Text Box 9"/>
          <p:cNvSpPr txBox="1">
            <a:spLocks noChangeArrowheads="1"/>
          </p:cNvSpPr>
          <p:nvPr/>
        </p:nvSpPr>
        <p:spPr bwMode="auto">
          <a:xfrm>
            <a:off x="1790700" y="6450805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AND write to output file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48A46-6F37-4C34-B44D-F9F33F3AF391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2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COS	AR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1,X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31747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MDTP=11</a:t>
            </a:r>
          </a:p>
        </p:txBody>
      </p:sp>
      <p:sp>
        <p:nvSpPr>
          <p:cNvPr id="31748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#1	AR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31749" name="Text Box 7"/>
          <p:cNvSpPr txBox="1">
            <a:spLocks noChangeArrowheads="1"/>
          </p:cNvSpPr>
          <p:nvPr/>
        </p:nvSpPr>
        <p:spPr bwMode="auto">
          <a:xfrm>
            <a:off x="2895600" y="1947044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 dirty="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 dirty="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 dirty="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 dirty="0"/>
              <a:t>---------------------------------------------</a:t>
            </a:r>
          </a:p>
        </p:txBody>
      </p:sp>
      <p:sp>
        <p:nvSpPr>
          <p:cNvPr id="31750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>
                <a:solidFill>
                  <a:srgbClr val="0099FF"/>
                </a:solidFill>
              </a:rPr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31751" name="Text Box 9"/>
          <p:cNvSpPr txBox="1">
            <a:spLocks noChangeArrowheads="1"/>
          </p:cNvSpPr>
          <p:nvPr/>
        </p:nvSpPr>
        <p:spPr bwMode="auto">
          <a:xfrm>
            <a:off x="1600200" y="6443615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solidFill>
                  <a:srgbClr val="FFFF00"/>
                </a:solidFill>
              </a:rPr>
              <a:t>Reading Next source card which is call to MACRO COS</a:t>
            </a:r>
          </a:p>
        </p:txBody>
      </p:sp>
      <p:sp>
        <p:nvSpPr>
          <p:cNvPr id="31752" name="Text Box 10"/>
          <p:cNvSpPr txBox="1">
            <a:spLocks noChangeArrowheads="1"/>
          </p:cNvSpPr>
          <p:nvPr/>
        </p:nvSpPr>
        <p:spPr bwMode="auto">
          <a:xfrm>
            <a:off x="6096000" y="2243931"/>
            <a:ext cx="28956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	SR	1</a:t>
            </a:r>
            <a:r>
              <a:rPr lang="en-US" sz="1200" dirty="0" smtClean="0"/>
              <a:t>, 1</a:t>
            </a:r>
            <a:endParaRPr lang="en-US" sz="1200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dirty="0"/>
              <a:t>	AR	1</a:t>
            </a:r>
            <a:r>
              <a:rPr lang="en-US" sz="1200" dirty="0" smtClean="0"/>
              <a:t>, 4</a:t>
            </a:r>
            <a:endParaRPr lang="en-US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EB1D-0519-440A-86EA-28D2EA3A7D3B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6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COS	AR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1,X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32771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MDTP=12</a:t>
            </a:r>
          </a:p>
        </p:txBody>
      </p:sp>
      <p:sp>
        <p:nvSpPr>
          <p:cNvPr id="32772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AR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32773" name="Text Box 7"/>
          <p:cNvSpPr txBox="1">
            <a:spLocks noChangeArrowheads="1"/>
          </p:cNvSpPr>
          <p:nvPr/>
        </p:nvSpPr>
        <p:spPr bwMode="auto">
          <a:xfrm>
            <a:off x="2667000" y="1981200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	L          15, 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32774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32775" name="Text Box 9"/>
          <p:cNvSpPr txBox="1">
            <a:spLocks noChangeArrowheads="1"/>
          </p:cNvSpPr>
          <p:nvPr/>
        </p:nvSpPr>
        <p:spPr bwMode="auto">
          <a:xfrm>
            <a:off x="905974" y="6453057"/>
            <a:ext cx="7696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Expansion of MACRO COS started &amp; written to expanded source file</a:t>
            </a:r>
          </a:p>
        </p:txBody>
      </p:sp>
      <p:sp>
        <p:nvSpPr>
          <p:cNvPr id="32776" name="Text Box 10"/>
          <p:cNvSpPr txBox="1">
            <a:spLocks noChangeArrowheads="1"/>
          </p:cNvSpPr>
          <p:nvPr/>
        </p:nvSpPr>
        <p:spPr bwMode="auto">
          <a:xfrm>
            <a:off x="6019800" y="2362200"/>
            <a:ext cx="3048000" cy="1938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	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	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>
              <a:solidFill>
                <a:srgbClr val="0099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8600" y="6432550"/>
            <a:ext cx="1854203" cy="365125"/>
          </a:xfrm>
        </p:spPr>
        <p:txBody>
          <a:bodyPr/>
          <a:lstStyle/>
          <a:p>
            <a:fld id="{9F1F6339-A22D-4231-9BBE-7FB7730F5997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9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COS	AR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1,X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33795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MDTP=13</a:t>
            </a:r>
          </a:p>
        </p:txBody>
      </p:sp>
      <p:sp>
        <p:nvSpPr>
          <p:cNvPr id="33796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AR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33797" name="Text Box 7"/>
          <p:cNvSpPr txBox="1">
            <a:spLocks noChangeArrowheads="1"/>
          </p:cNvSpPr>
          <p:nvPr/>
        </p:nvSpPr>
        <p:spPr bwMode="auto">
          <a:xfrm>
            <a:off x="2667000" y="1981200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	L          15, 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33798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33799" name="Text Box 9"/>
          <p:cNvSpPr txBox="1">
            <a:spLocks noChangeArrowheads="1"/>
          </p:cNvSpPr>
          <p:nvPr/>
        </p:nvSpPr>
        <p:spPr bwMode="auto">
          <a:xfrm>
            <a:off x="941763" y="6450533"/>
            <a:ext cx="7467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Expansion of MACRO COS started &amp; written to expanded source file</a:t>
            </a:r>
          </a:p>
        </p:txBody>
      </p:sp>
      <p:sp>
        <p:nvSpPr>
          <p:cNvPr id="33800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221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	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	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6450533"/>
            <a:ext cx="1854203" cy="365125"/>
          </a:xfrm>
        </p:spPr>
        <p:txBody>
          <a:bodyPr/>
          <a:lstStyle/>
          <a:p>
            <a:fld id="{894976D3-0FED-4CCA-BF37-4827B99951FF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43847" y="6459786"/>
            <a:ext cx="984019" cy="365125"/>
          </a:xfrm>
        </p:spPr>
        <p:txBody>
          <a:bodyPr/>
          <a:lstStyle/>
          <a:p>
            <a:fld id="{428E721A-F7CA-4705-81EC-A2370FE3F563}" type="slidenum">
              <a:rPr lang="en-US" smtClean="0"/>
              <a:pPr/>
              <a:t>131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67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COS	AR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1,X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MDTP=14</a:t>
            </a:r>
          </a:p>
        </p:txBody>
      </p:sp>
      <p:sp>
        <p:nvSpPr>
          <p:cNvPr id="34820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AR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34821" name="Text Box 7"/>
          <p:cNvSpPr txBox="1">
            <a:spLocks noChangeArrowheads="1"/>
          </p:cNvSpPr>
          <p:nvPr/>
        </p:nvSpPr>
        <p:spPr bwMode="auto">
          <a:xfrm>
            <a:off x="2667000" y="1981200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15, 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34822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34823" name="Text Box 9"/>
          <p:cNvSpPr txBox="1">
            <a:spLocks noChangeArrowheads="1"/>
          </p:cNvSpPr>
          <p:nvPr/>
        </p:nvSpPr>
        <p:spPr bwMode="auto">
          <a:xfrm>
            <a:off x="914400" y="6455567"/>
            <a:ext cx="792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Expansion of MACRO COS started &amp; written to expanded source </a:t>
            </a:r>
            <a:r>
              <a:rPr lang="en-US" sz="1800" dirty="0" smtClean="0">
                <a:solidFill>
                  <a:srgbClr val="FFFF00"/>
                </a:solidFill>
              </a:rPr>
              <a:t>file</a:t>
            </a:r>
            <a:endParaRPr lang="en-US" sz="1800" dirty="0">
              <a:solidFill>
                <a:srgbClr val="FFFF00"/>
              </a:solidFill>
            </a:endParaRPr>
          </a:p>
        </p:txBody>
      </p:sp>
      <p:sp>
        <p:nvSpPr>
          <p:cNvPr id="34824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26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	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BAL	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	DC                 A(AR)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8600" y="6455568"/>
            <a:ext cx="1854203" cy="365125"/>
          </a:xfrm>
        </p:spPr>
        <p:txBody>
          <a:bodyPr/>
          <a:lstStyle/>
          <a:p>
            <a:fld id="{3820CEFC-F6DD-4664-A424-686DD5EEBB96}" type="datetime1">
              <a:rPr lang="en-US" smtClean="0"/>
              <a:t>9/27/2021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5181" y="6455567"/>
            <a:ext cx="984019" cy="365125"/>
          </a:xfrm>
        </p:spPr>
        <p:txBody>
          <a:bodyPr/>
          <a:lstStyle/>
          <a:p>
            <a:fld id="{428E721A-F7CA-4705-81EC-A2370FE3F563}" type="slidenum">
              <a:rPr lang="en-US" smtClean="0"/>
              <a:pPr/>
              <a:t>132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26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COS	AR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1,X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35843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MDTP=15</a:t>
            </a:r>
          </a:p>
        </p:txBody>
      </p:sp>
      <p:sp>
        <p:nvSpPr>
          <p:cNvPr id="35844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AR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35845" name="Text Box 7"/>
          <p:cNvSpPr txBox="1">
            <a:spLocks noChangeArrowheads="1"/>
          </p:cNvSpPr>
          <p:nvPr/>
        </p:nvSpPr>
        <p:spPr bwMode="auto">
          <a:xfrm>
            <a:off x="2667000" y="1981200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35846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35847" name="Text Box 9"/>
          <p:cNvSpPr txBox="1">
            <a:spLocks noChangeArrowheads="1"/>
          </p:cNvSpPr>
          <p:nvPr/>
        </p:nvSpPr>
        <p:spPr bwMode="auto">
          <a:xfrm>
            <a:off x="794982" y="6429967"/>
            <a:ext cx="7352731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Expansion of MACRO COS started &amp; written to expanded source file</a:t>
            </a:r>
          </a:p>
        </p:txBody>
      </p:sp>
      <p:sp>
        <p:nvSpPr>
          <p:cNvPr id="35848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2954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	1,4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BAL	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	DC                A(AR)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	L                  15,=V(COS)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13277" y="6431756"/>
            <a:ext cx="1854203" cy="365125"/>
          </a:xfrm>
        </p:spPr>
        <p:txBody>
          <a:bodyPr/>
          <a:lstStyle/>
          <a:p>
            <a:fld id="{DA2F0415-3257-4C26-B0C5-3A14A87BC8F9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5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COS	AR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1,X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36867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MDI=“ON”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MDTP=16</a:t>
            </a:r>
          </a:p>
        </p:txBody>
      </p:sp>
      <p:sp>
        <p:nvSpPr>
          <p:cNvPr id="36868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AR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36869" name="Text Box 7"/>
          <p:cNvSpPr txBox="1">
            <a:spLocks noChangeArrowheads="1"/>
          </p:cNvSpPr>
          <p:nvPr/>
        </p:nvSpPr>
        <p:spPr bwMode="auto">
          <a:xfrm>
            <a:off x="2667000" y="1981200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36870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36871" name="Text Box 9"/>
          <p:cNvSpPr txBox="1">
            <a:spLocks noChangeArrowheads="1"/>
          </p:cNvSpPr>
          <p:nvPr/>
        </p:nvSpPr>
        <p:spPr bwMode="auto">
          <a:xfrm>
            <a:off x="877541" y="6398667"/>
            <a:ext cx="784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Expansion of MACRO COS started &amp; written to expanded source file</a:t>
            </a:r>
          </a:p>
        </p:txBody>
      </p:sp>
      <p:sp>
        <p:nvSpPr>
          <p:cNvPr id="36872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	1,4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BAL	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	DC                 A(AR)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	BALR           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8600" y="6432550"/>
            <a:ext cx="1854203" cy="365125"/>
          </a:xfrm>
        </p:spPr>
        <p:txBody>
          <a:bodyPr/>
          <a:lstStyle/>
          <a:p>
            <a:fld id="{9EC71406-C573-4607-9EF4-E4F1F04D002A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5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/>
          <p:cNvSpPr txBox="1">
            <a:spLocks noChangeArrowheads="1"/>
          </p:cNvSpPr>
          <p:nvPr/>
        </p:nvSpPr>
        <p:spPr bwMode="auto">
          <a:xfrm>
            <a:off x="2286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COS	AR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1,X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37891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FF9900"/>
                </a:solidFill>
              </a:rPr>
              <a:t>MDTP=17</a:t>
            </a:r>
          </a:p>
        </p:txBody>
      </p:sp>
      <p:sp>
        <p:nvSpPr>
          <p:cNvPr id="37892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AR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37893" name="Text Box 7"/>
          <p:cNvSpPr txBox="1">
            <a:spLocks noChangeArrowheads="1"/>
          </p:cNvSpPr>
          <p:nvPr/>
        </p:nvSpPr>
        <p:spPr bwMode="auto">
          <a:xfrm>
            <a:off x="2667000" y="1981200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>
                <a:solidFill>
                  <a:srgbClr val="0099FF"/>
                </a:solidFill>
              </a:rPr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37894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37895" name="Text Box 9"/>
          <p:cNvSpPr txBox="1">
            <a:spLocks noChangeArrowheads="1"/>
          </p:cNvSpPr>
          <p:nvPr/>
        </p:nvSpPr>
        <p:spPr bwMode="auto">
          <a:xfrm>
            <a:off x="1173898" y="6430961"/>
            <a:ext cx="7772400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Expansion of MACRO COS completed &amp; setting MDI to OFF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800" dirty="0">
              <a:solidFill>
                <a:srgbClr val="FFFF00"/>
              </a:solidFill>
            </a:endParaRPr>
          </a:p>
        </p:txBody>
      </p:sp>
      <p:sp>
        <p:nvSpPr>
          <p:cNvPr id="37896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	1,4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BAL	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	DC                 A(AR)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	BALR            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8600" y="6455568"/>
            <a:ext cx="1854203" cy="365125"/>
          </a:xfrm>
        </p:spPr>
        <p:txBody>
          <a:bodyPr/>
          <a:lstStyle/>
          <a:p>
            <a:fld id="{6AD0F7A4-D467-4BAA-8876-0A5DCB2D7F01}" type="datetime1">
              <a:rPr lang="en-US" smtClean="0"/>
              <a:t>9/27/2021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7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4"/>
          <p:cNvSpPr txBox="1">
            <a:spLocks noChangeArrowheads="1"/>
          </p:cNvSpPr>
          <p:nvPr/>
        </p:nvSpPr>
        <p:spPr bwMode="auto">
          <a:xfrm>
            <a:off x="762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</a:t>
            </a:r>
            <a:r>
              <a:rPr lang="en-US" sz="1200">
                <a:solidFill>
                  <a:srgbClr val="CC3300"/>
                </a:solidFill>
              </a:rPr>
              <a:t>L                1,X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>
              <a:solidFill>
                <a:srgbClr val="CC3300"/>
              </a:solidFill>
            </a:endParaRPr>
          </a:p>
        </p:txBody>
      </p:sp>
      <p:sp>
        <p:nvSpPr>
          <p:cNvPr id="38915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MDTP=17</a:t>
            </a:r>
          </a:p>
        </p:txBody>
      </p:sp>
      <p:sp>
        <p:nvSpPr>
          <p:cNvPr id="38916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AR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38917" name="Text Box 7"/>
          <p:cNvSpPr txBox="1">
            <a:spLocks noChangeArrowheads="1"/>
          </p:cNvSpPr>
          <p:nvPr/>
        </p:nvSpPr>
        <p:spPr bwMode="auto">
          <a:xfrm>
            <a:off x="2667000" y="1981200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38918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38919" name="Text Box 9"/>
          <p:cNvSpPr txBox="1">
            <a:spLocks noChangeArrowheads="1"/>
          </p:cNvSpPr>
          <p:nvPr/>
        </p:nvSpPr>
        <p:spPr bwMode="auto">
          <a:xfrm>
            <a:off x="830753" y="6412705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&amp; entering line into expanded source file</a:t>
            </a:r>
          </a:p>
        </p:txBody>
      </p:sp>
      <p:sp>
        <p:nvSpPr>
          <p:cNvPr id="38920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	1,4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BAL	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	DC                 A(AR)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	BALR            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b="1"/>
              <a:t>	</a:t>
            </a:r>
            <a:r>
              <a:rPr lang="en-US" sz="1200">
                <a:solidFill>
                  <a:srgbClr val="0099FF"/>
                </a:solidFill>
              </a:rPr>
              <a:t>L	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6200" y="6354887"/>
            <a:ext cx="1854203" cy="365125"/>
          </a:xfrm>
        </p:spPr>
        <p:txBody>
          <a:bodyPr/>
          <a:lstStyle/>
          <a:p>
            <a:fld id="{7B5F787F-3F73-4C95-A99F-887905ACD687}" type="datetime1">
              <a:rPr lang="en-US" smtClean="0"/>
              <a:t>9/27/2021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6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4"/>
          <p:cNvSpPr txBox="1">
            <a:spLocks noChangeArrowheads="1"/>
          </p:cNvSpPr>
          <p:nvPr/>
        </p:nvSpPr>
        <p:spPr bwMode="auto">
          <a:xfrm>
            <a:off x="762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1,X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CC3300"/>
                </a:solidFill>
              </a:rPr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>
              <a:solidFill>
                <a:srgbClr val="CC3300"/>
              </a:solidFill>
            </a:endParaRPr>
          </a:p>
        </p:txBody>
      </p:sp>
      <p:sp>
        <p:nvSpPr>
          <p:cNvPr id="39939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MDTP=17</a:t>
            </a:r>
          </a:p>
        </p:txBody>
      </p:sp>
      <p:sp>
        <p:nvSpPr>
          <p:cNvPr id="39940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AR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39941" name="Text Box 7"/>
          <p:cNvSpPr txBox="1">
            <a:spLocks noChangeArrowheads="1"/>
          </p:cNvSpPr>
          <p:nvPr/>
        </p:nvSpPr>
        <p:spPr bwMode="auto">
          <a:xfrm>
            <a:off x="2667000" y="1981200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39942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39943" name="Text Box 9"/>
          <p:cNvSpPr txBox="1">
            <a:spLocks noChangeArrowheads="1"/>
          </p:cNvSpPr>
          <p:nvPr/>
        </p:nvSpPr>
        <p:spPr bwMode="auto">
          <a:xfrm>
            <a:off x="1485900" y="6382472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 dirty="0">
                <a:solidFill>
                  <a:srgbClr val="FFFF00"/>
                </a:solidFill>
              </a:rPr>
              <a:t>Reading Next source card &amp; entering line into expanded source file</a:t>
            </a:r>
          </a:p>
        </p:txBody>
      </p:sp>
      <p:sp>
        <p:nvSpPr>
          <p:cNvPr id="39944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	1,4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BAL	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	DC                 A(AR)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	BALR            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b="1"/>
              <a:t>	</a:t>
            </a:r>
            <a:r>
              <a:rPr lang="en-US" sz="1200"/>
              <a:t>L	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	END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B4475-328D-4F3B-AF2B-473F7FBAEE63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5181" y="6414946"/>
            <a:ext cx="984019" cy="365125"/>
          </a:xfrm>
        </p:spPr>
        <p:txBody>
          <a:bodyPr/>
          <a:lstStyle/>
          <a:p>
            <a:fld id="{428E721A-F7CA-4705-81EC-A2370FE3F563}" type="slidenum">
              <a:rPr lang="en-US" smtClean="0"/>
              <a:pPr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1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"/>
          <p:cNvSpPr txBox="1">
            <a:spLocks noChangeArrowheads="1"/>
          </p:cNvSpPr>
          <p:nvPr/>
        </p:nvSpPr>
        <p:spPr bwMode="auto">
          <a:xfrm>
            <a:off x="76200" y="304800"/>
            <a:ext cx="2286000" cy="526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&amp;SUB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MACRO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&amp;SUB	&amp;Y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	1,*+8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DC	A(&amp;Y)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L	15,=V(&amp;SUB)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BALR	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MEND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sz="1200"/>
              <a:t>PROG	START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               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DEFINE 	COS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              1,4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COS	AR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1,X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END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200">
              <a:solidFill>
                <a:srgbClr val="CC3300"/>
              </a:solidFill>
            </a:endParaRPr>
          </a:p>
        </p:txBody>
      </p:sp>
      <p:sp>
        <p:nvSpPr>
          <p:cNvPr id="40963" name="Text Box 5"/>
          <p:cNvSpPr txBox="1">
            <a:spLocks noChangeArrowheads="1"/>
          </p:cNvSpPr>
          <p:nvPr/>
        </p:nvSpPr>
        <p:spPr bwMode="auto">
          <a:xfrm>
            <a:off x="2895600" y="228600"/>
            <a:ext cx="9906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MDTC=18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MNTC=3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MDI=“OFF”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MDLC=0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MDTP=17</a:t>
            </a:r>
          </a:p>
        </p:txBody>
      </p:sp>
      <p:sp>
        <p:nvSpPr>
          <p:cNvPr id="40964" name="Text Box 6"/>
          <p:cNvSpPr txBox="1">
            <a:spLocks noChangeArrowheads="1"/>
          </p:cNvSpPr>
          <p:nvPr/>
        </p:nvSpPr>
        <p:spPr bwMode="auto">
          <a:xfrm>
            <a:off x="4038600" y="381000"/>
            <a:ext cx="19812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ALA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INDEX	ARG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#0	COS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#1	AR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</a:t>
            </a:r>
          </a:p>
        </p:txBody>
      </p:sp>
      <p:sp>
        <p:nvSpPr>
          <p:cNvPr id="40965" name="Text Box 7"/>
          <p:cNvSpPr txBox="1">
            <a:spLocks noChangeArrowheads="1"/>
          </p:cNvSpPr>
          <p:nvPr/>
        </p:nvSpPr>
        <p:spPr bwMode="auto">
          <a:xfrm>
            <a:off x="2667000" y="1981200"/>
            <a:ext cx="2667000" cy="423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MDTC	DEF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 DEFINE  &amp;SUB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  MACRO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3"/>
            </a:pPr>
            <a:r>
              <a:rPr lang="en-US" sz="1200"/>
              <a:t>            #0/COS   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4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5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6		DC         A(&amp;Y)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7		L           15,=V(#0)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8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9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10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11		COS       &amp;Y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12		CNOP    0,4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13		BAL       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14		DC         A(#1)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15		L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16		BALR    14,15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17		MEND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18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</a:t>
            </a:r>
          </a:p>
        </p:txBody>
      </p:sp>
      <p:sp>
        <p:nvSpPr>
          <p:cNvPr id="40966" name="Text Box 8"/>
          <p:cNvSpPr txBox="1">
            <a:spLocks noChangeArrowheads="1"/>
          </p:cNvSpPr>
          <p:nvPr/>
        </p:nvSpPr>
        <p:spPr bwMode="auto">
          <a:xfrm>
            <a:off x="6096000" y="228600"/>
            <a:ext cx="2590800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/>
              <a:t>MNT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MNTC	NAME	MDTC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/>
            </a:pPr>
            <a:r>
              <a:rPr lang="en-US" sz="1200"/>
              <a:t>            DEFINE	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AutoNum type="arabicPlain" startAt="2"/>
            </a:pPr>
            <a:r>
              <a:rPr lang="en-US" sz="1200"/>
              <a:t>           COS	11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3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1200"/>
              <a:t>-----------------------------------------------</a:t>
            </a:r>
          </a:p>
        </p:txBody>
      </p:sp>
      <p:sp>
        <p:nvSpPr>
          <p:cNvPr id="40967" name="Text Box 9"/>
          <p:cNvSpPr txBox="1">
            <a:spLocks noChangeArrowheads="1"/>
          </p:cNvSpPr>
          <p:nvPr/>
        </p:nvSpPr>
        <p:spPr bwMode="auto">
          <a:xfrm>
            <a:off x="1138238" y="6450013"/>
            <a:ext cx="7086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solidFill>
                  <a:srgbClr val="FFFF00"/>
                </a:solidFill>
              </a:rPr>
              <a:t>Output</a:t>
            </a:r>
            <a:r>
              <a:rPr lang="en-US" sz="1800">
                <a:solidFill>
                  <a:srgbClr val="FFFF00"/>
                </a:solidFill>
                <a:sym typeface="Wingdings" panose="05000000000000000000" pitchFamily="2" charset="2"/>
              </a:rPr>
              <a:t> </a:t>
            </a:r>
            <a:r>
              <a:rPr lang="en-US" sz="1800">
                <a:solidFill>
                  <a:srgbClr val="FFFF00"/>
                </a:solidFill>
              </a:rPr>
              <a:t>Expanded source file is ready (END of processing)</a:t>
            </a:r>
          </a:p>
        </p:txBody>
      </p:sp>
      <p:sp>
        <p:nvSpPr>
          <p:cNvPr id="40968" name="Text Box 10"/>
          <p:cNvSpPr txBox="1">
            <a:spLocks noChangeArrowheads="1"/>
          </p:cNvSpPr>
          <p:nvPr/>
        </p:nvSpPr>
        <p:spPr bwMode="auto">
          <a:xfrm>
            <a:off x="5791200" y="2209800"/>
            <a:ext cx="3048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EXPANDED SOURCE FILE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--------------------------------------------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PROG	START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SR	1,1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AR	1,4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CNOP	0,4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BAL	1,*+8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	DC                 A(AR)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/>
              <a:t>	L                   15,=V(COS)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sz="1200"/>
              <a:t>	BALR            14,15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 b="1"/>
              <a:t>	</a:t>
            </a:r>
            <a:r>
              <a:rPr lang="en-US" sz="1200"/>
              <a:t>L	1,X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200">
                <a:solidFill>
                  <a:srgbClr val="0099FF"/>
                </a:solidFill>
              </a:rPr>
              <a:t>	</a:t>
            </a:r>
            <a:r>
              <a:rPr lang="en-US" sz="1200"/>
              <a:t>END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A3E6F-9DCC-4E1B-87EB-A5E2F906ECC8}" type="datetime1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9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1207"/>
            <a:ext cx="7543800" cy="1450757"/>
          </a:xfr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anchor="ctr">
            <a:normAutofit/>
          </a:bodyPr>
          <a:lstStyle/>
          <a:p>
            <a:pPr algn="ctr"/>
            <a:r>
              <a:rPr lang="en-US" sz="6000" b="1" dirty="0" smtClean="0"/>
              <a:t>Compiler</a:t>
            </a:r>
            <a:endParaRPr lang="en-IN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9" name="Group 8"/>
          <p:cNvGrpSpPr/>
          <p:nvPr/>
        </p:nvGrpSpPr>
        <p:grpSpPr>
          <a:xfrm>
            <a:off x="915590" y="2619517"/>
            <a:ext cx="7315200" cy="1828800"/>
            <a:chOff x="76200" y="2438400"/>
            <a:chExt cx="9753600" cy="2438400"/>
          </a:xfrm>
        </p:grpSpPr>
        <p:grpSp>
          <p:nvGrpSpPr>
            <p:cNvPr id="10" name="Group 22"/>
            <p:cNvGrpSpPr>
              <a:grpSpLocks/>
            </p:cNvGrpSpPr>
            <p:nvPr/>
          </p:nvGrpSpPr>
          <p:grpSpPr bwMode="auto">
            <a:xfrm>
              <a:off x="152400" y="2743201"/>
              <a:ext cx="9677400" cy="2046731"/>
              <a:chOff x="304800" y="4267200"/>
              <a:chExt cx="9677400" cy="2192118"/>
            </a:xfrm>
          </p:grpSpPr>
          <p:sp>
            <p:nvSpPr>
              <p:cNvPr id="12" name="Rounded Rectangle 11"/>
              <p:cNvSpPr/>
              <p:nvPr/>
            </p:nvSpPr>
            <p:spPr bwMode="auto">
              <a:xfrm>
                <a:off x="3695700" y="4267200"/>
                <a:ext cx="2514600" cy="1219200"/>
              </a:xfrm>
              <a:prstGeom prst="round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txBody>
              <a:bodyPr anchor="ctr"/>
              <a:lstStyle/>
              <a:p>
                <a:pPr algn="ctr">
                  <a:defRPr/>
                </a:pPr>
                <a:r>
                  <a:rPr lang="en-US" sz="2400" b="1" dirty="0">
                    <a:solidFill>
                      <a:schemeClr val="bg2"/>
                    </a:solidFill>
                  </a:rPr>
                  <a:t>Compiler</a:t>
                </a:r>
                <a:endParaRPr lang="en-IN" sz="2400" b="1" dirty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3" name="Straight Arrow Connector 7"/>
              <p:cNvCxnSpPr>
                <a:cxnSpLocks noChangeShapeType="1"/>
              </p:cNvCxnSpPr>
              <p:nvPr/>
            </p:nvCxnSpPr>
            <p:spPr bwMode="auto">
              <a:xfrm>
                <a:off x="2667000" y="4876800"/>
                <a:ext cx="990600" cy="0"/>
              </a:xfrm>
              <a:prstGeom prst="straightConnector1">
                <a:avLst/>
              </a:prstGeom>
              <a:noFill/>
              <a:ln w="57150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14" name="Straight Arrow Connector 8"/>
              <p:cNvCxnSpPr>
                <a:cxnSpLocks noChangeShapeType="1"/>
              </p:cNvCxnSpPr>
              <p:nvPr/>
            </p:nvCxnSpPr>
            <p:spPr bwMode="auto">
              <a:xfrm>
                <a:off x="6248400" y="4876800"/>
                <a:ext cx="838200" cy="0"/>
              </a:xfrm>
              <a:prstGeom prst="straightConnector1">
                <a:avLst/>
              </a:prstGeom>
              <a:noFill/>
              <a:ln w="57150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cxnSp>
            <p:nvCxnSpPr>
              <p:cNvPr id="15" name="Straight Arrow Connector 9"/>
              <p:cNvCxnSpPr>
                <a:cxnSpLocks noChangeShapeType="1"/>
              </p:cNvCxnSpPr>
              <p:nvPr/>
            </p:nvCxnSpPr>
            <p:spPr bwMode="auto">
              <a:xfrm>
                <a:off x="4953000" y="5486400"/>
                <a:ext cx="0" cy="609600"/>
              </a:xfrm>
              <a:prstGeom prst="straightConnector1">
                <a:avLst/>
              </a:prstGeom>
              <a:noFill/>
              <a:ln w="57150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  <p:sp>
            <p:nvSpPr>
              <p:cNvPr id="16" name="Text Box 7"/>
              <p:cNvSpPr txBox="1">
                <a:spLocks noChangeArrowheads="1"/>
              </p:cNvSpPr>
              <p:nvPr/>
            </p:nvSpPr>
            <p:spPr bwMode="auto">
              <a:xfrm>
                <a:off x="304800" y="4683204"/>
                <a:ext cx="3167063" cy="13625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/>
                <a:r>
                  <a:rPr lang="en-US" sz="1400" b="1" dirty="0"/>
                  <a:t>SOURCE PROGRAM</a:t>
                </a:r>
                <a:endParaRPr lang="en-US" sz="1600" b="1" dirty="0"/>
              </a:p>
              <a:p>
                <a:pPr algn="just"/>
                <a:r>
                  <a:rPr lang="en-US" sz="1400" dirty="0"/>
                  <a:t>( Normally a program written in a high-level programming language)</a:t>
                </a:r>
              </a:p>
            </p:txBody>
          </p:sp>
          <p:sp>
            <p:nvSpPr>
              <p:cNvPr id="17" name="Text Box 8"/>
              <p:cNvSpPr txBox="1">
                <a:spLocks noChangeArrowheads="1"/>
              </p:cNvSpPr>
              <p:nvPr/>
            </p:nvSpPr>
            <p:spPr bwMode="auto">
              <a:xfrm>
                <a:off x="6934200" y="4530804"/>
                <a:ext cx="3048000" cy="13625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just"/>
                <a:r>
                  <a:rPr lang="en-US" sz="1400" b="1" dirty="0"/>
                  <a:t>TARGET  PROGRAM</a:t>
                </a:r>
              </a:p>
              <a:p>
                <a:pPr algn="just"/>
                <a:r>
                  <a:rPr lang="en-US" sz="1400" dirty="0"/>
                  <a:t>( Normally the equivalent program in machine code – </a:t>
                </a:r>
                <a:r>
                  <a:rPr lang="en-US" sz="1400" dirty="0" err="1"/>
                  <a:t>relocatable</a:t>
                </a:r>
                <a:r>
                  <a:rPr lang="en-US" sz="1400" dirty="0"/>
                  <a:t> object file)</a:t>
                </a:r>
              </a:p>
            </p:txBody>
          </p:sp>
          <p:sp>
            <p:nvSpPr>
              <p:cNvPr id="18" name="TextBox 21"/>
              <p:cNvSpPr txBox="1">
                <a:spLocks noChangeArrowheads="1"/>
              </p:cNvSpPr>
              <p:nvPr/>
            </p:nvSpPr>
            <p:spPr bwMode="auto">
              <a:xfrm>
                <a:off x="4191000" y="6019799"/>
                <a:ext cx="1752600" cy="4395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sz="1400" b="1"/>
                  <a:t>Error Messages</a:t>
                </a:r>
                <a:endParaRPr lang="en-IN" sz="1400" b="1"/>
              </a:p>
            </p:txBody>
          </p:sp>
        </p:grpSp>
        <p:sp>
          <p:nvSpPr>
            <p:cNvPr id="11" name="Rectangle 10"/>
            <p:cNvSpPr/>
            <p:nvPr/>
          </p:nvSpPr>
          <p:spPr bwMode="auto">
            <a:xfrm>
              <a:off x="76200" y="2438400"/>
              <a:ext cx="9753600" cy="2438400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>
                <a:latin typeface="Times New Roman" charset="0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139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7B1A-42C4-4B69-8614-C3940FCD4A1A}" type="datetime1">
              <a:rPr lang="en-US" smtClean="0"/>
              <a:t>9/27/2021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ight Arrow 19">
            <a:hlinkClick r:id="rId2" action="ppaction://hlinkpres?slideindex=5&amp;slidetitle=Syllabus"/>
          </p:cNvPr>
          <p:cNvSpPr/>
          <p:nvPr/>
        </p:nvSpPr>
        <p:spPr>
          <a:xfrm>
            <a:off x="6578221" y="5581934"/>
            <a:ext cx="2197289" cy="5595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Syllabus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615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850" y="2914650"/>
            <a:ext cx="7404548" cy="971550"/>
          </a:xfr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b="1" dirty="0" smtClean="0"/>
              <a:t>Let’s </a:t>
            </a:r>
            <a:r>
              <a:rPr lang="en-US" sz="4000" b="1" dirty="0"/>
              <a:t>have </a:t>
            </a:r>
            <a:r>
              <a:rPr lang="en-US" sz="4000" b="1" dirty="0" smtClean="0"/>
              <a:t>a look </a:t>
            </a:r>
            <a:r>
              <a:rPr lang="en-US" sz="4000" b="1" dirty="0"/>
              <a:t>at, </a:t>
            </a:r>
            <a:r>
              <a:rPr lang="en-US" sz="4000" b="1" dirty="0" smtClean="0"/>
              <a:t>what happens inside </a:t>
            </a:r>
            <a:r>
              <a:rPr lang="en-US" sz="4000" b="1" dirty="0"/>
              <a:t>Black Box </a:t>
            </a:r>
            <a:endParaRPr lang="en-IN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140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C98A-7765-4027-8F10-32325EB13CF3}" type="datetime1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4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2677716" y="1657351"/>
            <a:ext cx="5482829" cy="4045744"/>
            <a:chOff x="1292" y="618"/>
            <a:chExt cx="4605" cy="3266"/>
          </a:xfrm>
        </p:grpSpPr>
        <p:sp>
          <p:nvSpPr>
            <p:cNvPr id="11274" name="Rectangle 5"/>
            <p:cNvSpPr>
              <a:spLocks/>
            </p:cNvSpPr>
            <p:nvPr/>
          </p:nvSpPr>
          <p:spPr bwMode="auto">
            <a:xfrm>
              <a:off x="2389" y="3721"/>
              <a:ext cx="1051" cy="1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en-US" altLang="zh-CN" sz="900">
                  <a:latin typeface="Arial" charset="0"/>
                  <a:ea typeface="宋体" pitchFamily="2" charset="-122"/>
                  <a:cs typeface="Arial" charset="0"/>
                  <a:sym typeface="Arial" charset="0"/>
                </a:rPr>
                <a:t>      Target Program</a:t>
              </a:r>
            </a:p>
          </p:txBody>
        </p:sp>
        <p:sp>
          <p:nvSpPr>
            <p:cNvPr id="11275" name="Line 6"/>
            <p:cNvSpPr>
              <a:spLocks noChangeShapeType="1"/>
            </p:cNvSpPr>
            <p:nvPr/>
          </p:nvSpPr>
          <p:spPr bwMode="auto">
            <a:xfrm>
              <a:off x="2932" y="3554"/>
              <a:ext cx="6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276" name="Rectangle 7"/>
            <p:cNvSpPr>
              <a:spLocks/>
            </p:cNvSpPr>
            <p:nvPr/>
          </p:nvSpPr>
          <p:spPr bwMode="auto">
            <a:xfrm>
              <a:off x="2589" y="618"/>
              <a:ext cx="1052" cy="1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en-US" altLang="zh-CN" sz="900" dirty="0">
                  <a:latin typeface="Arial" charset="0"/>
                  <a:ea typeface="宋体" pitchFamily="2" charset="-122"/>
                  <a:cs typeface="Arial" charset="0"/>
                  <a:sym typeface="Arial" charset="0"/>
                </a:rPr>
                <a:t>    Source Program</a:t>
              </a:r>
            </a:p>
          </p:txBody>
        </p:sp>
        <p:sp>
          <p:nvSpPr>
            <p:cNvPr id="11277" name="Rectangle 8"/>
            <p:cNvSpPr>
              <a:spLocks/>
            </p:cNvSpPr>
            <p:nvPr/>
          </p:nvSpPr>
          <p:spPr bwMode="auto">
            <a:xfrm>
              <a:off x="2453" y="928"/>
              <a:ext cx="1147" cy="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IN" sz="1350"/>
            </a:p>
          </p:txBody>
        </p:sp>
        <p:sp>
          <p:nvSpPr>
            <p:cNvPr id="11278" name="Rectangle 9"/>
            <p:cNvSpPr>
              <a:spLocks/>
            </p:cNvSpPr>
            <p:nvPr/>
          </p:nvSpPr>
          <p:spPr bwMode="auto">
            <a:xfrm>
              <a:off x="2640" y="987"/>
              <a:ext cx="805" cy="163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en-US" altLang="zh-CN" sz="900">
                  <a:latin typeface="Arial" charset="0"/>
                  <a:ea typeface="宋体" pitchFamily="2" charset="-122"/>
                  <a:cs typeface="Arial" charset="0"/>
                  <a:sym typeface="Arial" charset="0"/>
                </a:rPr>
                <a:t>Lexical Analyzer</a:t>
              </a:r>
            </a:p>
          </p:txBody>
        </p:sp>
        <p:sp>
          <p:nvSpPr>
            <p:cNvPr id="11279" name="Rectangle 10"/>
            <p:cNvSpPr>
              <a:spLocks/>
            </p:cNvSpPr>
            <p:nvPr/>
          </p:nvSpPr>
          <p:spPr bwMode="auto">
            <a:xfrm>
              <a:off x="2476" y="920"/>
              <a:ext cx="112" cy="163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en-US" altLang="zh-CN" sz="900">
                  <a:latin typeface="Arial" charset="0"/>
                  <a:ea typeface="宋体" pitchFamily="2" charset="-122"/>
                  <a:cs typeface="Arial" charset="0"/>
                  <a:sym typeface="Arial" charset="0"/>
                </a:rPr>
                <a:t>1</a:t>
              </a:r>
            </a:p>
          </p:txBody>
        </p:sp>
        <p:grpSp>
          <p:nvGrpSpPr>
            <p:cNvPr id="11280" name="Group 11"/>
            <p:cNvGrpSpPr>
              <a:grpSpLocks/>
            </p:cNvGrpSpPr>
            <p:nvPr/>
          </p:nvGrpSpPr>
          <p:grpSpPr bwMode="auto">
            <a:xfrm>
              <a:off x="2440" y="1365"/>
              <a:ext cx="1147" cy="328"/>
              <a:chOff x="0" y="0"/>
              <a:chExt cx="1230" cy="354"/>
            </a:xfrm>
          </p:grpSpPr>
          <p:sp>
            <p:nvSpPr>
              <p:cNvPr id="11324" name="Rectangle 12"/>
              <p:cNvSpPr>
                <a:spLocks/>
              </p:cNvSpPr>
              <p:nvPr/>
            </p:nvSpPr>
            <p:spPr bwMode="auto">
              <a:xfrm>
                <a:off x="0" y="8"/>
                <a:ext cx="1230" cy="34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en-IN" sz="1350"/>
              </a:p>
            </p:txBody>
          </p:sp>
          <p:sp>
            <p:nvSpPr>
              <p:cNvPr id="11325" name="Rectangle 13"/>
              <p:cNvSpPr>
                <a:spLocks/>
              </p:cNvSpPr>
              <p:nvPr/>
            </p:nvSpPr>
            <p:spPr bwMode="auto">
              <a:xfrm>
                <a:off x="200" y="72"/>
                <a:ext cx="864" cy="176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r>
                  <a:rPr lang="en-US" altLang="zh-CN" sz="900" dirty="0">
                    <a:latin typeface="Arial" charset="0"/>
                    <a:ea typeface="宋体" pitchFamily="2" charset="-122"/>
                    <a:cs typeface="Arial" charset="0"/>
                    <a:sym typeface="Arial" charset="0"/>
                  </a:rPr>
                  <a:t>Syntax Analyzer</a:t>
                </a:r>
              </a:p>
            </p:txBody>
          </p:sp>
          <p:sp>
            <p:nvSpPr>
              <p:cNvPr id="11326" name="Rectangle 14"/>
              <p:cNvSpPr>
                <a:spLocks/>
              </p:cNvSpPr>
              <p:nvPr/>
            </p:nvSpPr>
            <p:spPr bwMode="auto">
              <a:xfrm>
                <a:off x="24" y="0"/>
                <a:ext cx="120" cy="176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r>
                  <a:rPr lang="en-US" altLang="zh-CN" sz="900">
                    <a:latin typeface="Arial" charset="0"/>
                    <a:ea typeface="宋体" pitchFamily="2" charset="-122"/>
                    <a:cs typeface="Arial" charset="0"/>
                    <a:sym typeface="Arial" charset="0"/>
                  </a:rPr>
                  <a:t>2</a:t>
                </a:r>
              </a:p>
            </p:txBody>
          </p:sp>
        </p:grpSp>
        <p:sp>
          <p:nvSpPr>
            <p:cNvPr id="11281" name="Rectangle 15"/>
            <p:cNvSpPr>
              <a:spLocks/>
            </p:cNvSpPr>
            <p:nvPr/>
          </p:nvSpPr>
          <p:spPr bwMode="auto">
            <a:xfrm>
              <a:off x="2392" y="1775"/>
              <a:ext cx="1146" cy="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algn="ctr"/>
              <a:r>
                <a:rPr lang="en-US" sz="900" dirty="0">
                  <a:latin typeface="Arial" pitchFamily="34" charset="0"/>
                  <a:cs typeface="Arial" pitchFamily="34" charset="0"/>
                </a:rPr>
                <a:t>Semantic Analyzer</a:t>
              </a:r>
            </a:p>
          </p:txBody>
        </p:sp>
        <p:sp>
          <p:nvSpPr>
            <p:cNvPr id="11282" name="Rectangle 16"/>
            <p:cNvSpPr>
              <a:spLocks/>
            </p:cNvSpPr>
            <p:nvPr/>
          </p:nvSpPr>
          <p:spPr bwMode="auto">
            <a:xfrm>
              <a:off x="2449" y="1802"/>
              <a:ext cx="112" cy="162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en-US" altLang="zh-CN" sz="900">
                  <a:latin typeface="Arial" charset="0"/>
                  <a:ea typeface="宋体" pitchFamily="2" charset="-122"/>
                  <a:cs typeface="Arial" charset="0"/>
                  <a:sym typeface="Arial" charset="0"/>
                </a:rPr>
                <a:t>3</a:t>
              </a:r>
            </a:p>
          </p:txBody>
        </p:sp>
        <p:grpSp>
          <p:nvGrpSpPr>
            <p:cNvPr id="11283" name="Group 17"/>
            <p:cNvGrpSpPr>
              <a:grpSpLocks/>
            </p:cNvGrpSpPr>
            <p:nvPr/>
          </p:nvGrpSpPr>
          <p:grpSpPr bwMode="auto">
            <a:xfrm>
              <a:off x="2440" y="2253"/>
              <a:ext cx="1147" cy="327"/>
              <a:chOff x="0" y="0"/>
              <a:chExt cx="1230" cy="354"/>
            </a:xfrm>
          </p:grpSpPr>
          <p:sp>
            <p:nvSpPr>
              <p:cNvPr id="11321" name="Rectangle 18"/>
              <p:cNvSpPr>
                <a:spLocks/>
              </p:cNvSpPr>
              <p:nvPr/>
            </p:nvSpPr>
            <p:spPr bwMode="auto">
              <a:xfrm>
                <a:off x="0" y="8"/>
                <a:ext cx="1230" cy="34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en-IN" sz="1350"/>
              </a:p>
            </p:txBody>
          </p:sp>
          <p:sp>
            <p:nvSpPr>
              <p:cNvPr id="11322" name="Rectangle 19"/>
              <p:cNvSpPr>
                <a:spLocks/>
              </p:cNvSpPr>
              <p:nvPr/>
            </p:nvSpPr>
            <p:spPr bwMode="auto">
              <a:xfrm>
                <a:off x="199" y="32"/>
                <a:ext cx="864" cy="288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r>
                  <a:rPr lang="en-US" altLang="zh-CN" sz="900">
                    <a:latin typeface="Arial" charset="0"/>
                    <a:ea typeface="宋体" pitchFamily="2" charset="-122"/>
                    <a:cs typeface="Arial" charset="0"/>
                    <a:sym typeface="Arial" charset="0"/>
                  </a:rPr>
                  <a:t>Intermediate Code Generator</a:t>
                </a:r>
              </a:p>
            </p:txBody>
          </p:sp>
          <p:sp>
            <p:nvSpPr>
              <p:cNvPr id="11323" name="Rectangle 20"/>
              <p:cNvSpPr>
                <a:spLocks/>
              </p:cNvSpPr>
              <p:nvPr/>
            </p:nvSpPr>
            <p:spPr bwMode="auto">
              <a:xfrm>
                <a:off x="24" y="0"/>
                <a:ext cx="120" cy="176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r>
                  <a:rPr lang="en-US" altLang="zh-CN" sz="900">
                    <a:latin typeface="Arial" charset="0"/>
                    <a:ea typeface="宋体" pitchFamily="2" charset="-122"/>
                    <a:cs typeface="Arial" charset="0"/>
                    <a:sym typeface="Arial" charset="0"/>
                  </a:rPr>
                  <a:t>4</a:t>
                </a:r>
              </a:p>
            </p:txBody>
          </p:sp>
        </p:grpSp>
        <p:grpSp>
          <p:nvGrpSpPr>
            <p:cNvPr id="11284" name="Group 21"/>
            <p:cNvGrpSpPr>
              <a:grpSpLocks/>
            </p:cNvGrpSpPr>
            <p:nvPr/>
          </p:nvGrpSpPr>
          <p:grpSpPr bwMode="auto">
            <a:xfrm>
              <a:off x="2440" y="2749"/>
              <a:ext cx="1147" cy="327"/>
              <a:chOff x="0" y="0"/>
              <a:chExt cx="1230" cy="354"/>
            </a:xfrm>
          </p:grpSpPr>
          <p:sp>
            <p:nvSpPr>
              <p:cNvPr id="11318" name="Rectangle 22"/>
              <p:cNvSpPr>
                <a:spLocks/>
              </p:cNvSpPr>
              <p:nvPr/>
            </p:nvSpPr>
            <p:spPr bwMode="auto">
              <a:xfrm>
                <a:off x="0" y="8"/>
                <a:ext cx="1230" cy="34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en-IN" sz="1350"/>
              </a:p>
            </p:txBody>
          </p:sp>
          <p:sp>
            <p:nvSpPr>
              <p:cNvPr id="11319" name="Rectangle 23"/>
              <p:cNvSpPr>
                <a:spLocks/>
              </p:cNvSpPr>
              <p:nvPr/>
            </p:nvSpPr>
            <p:spPr bwMode="auto">
              <a:xfrm>
                <a:off x="200" y="80"/>
                <a:ext cx="864" cy="176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r>
                  <a:rPr lang="en-US" altLang="zh-CN" sz="900">
                    <a:latin typeface="Arial" charset="0"/>
                    <a:ea typeface="宋体" pitchFamily="2" charset="-122"/>
                    <a:cs typeface="Arial" charset="0"/>
                    <a:sym typeface="Arial" charset="0"/>
                  </a:rPr>
                  <a:t>Code Optimizer</a:t>
                </a:r>
              </a:p>
            </p:txBody>
          </p:sp>
          <p:sp>
            <p:nvSpPr>
              <p:cNvPr id="11320" name="Rectangle 24"/>
              <p:cNvSpPr>
                <a:spLocks/>
              </p:cNvSpPr>
              <p:nvPr/>
            </p:nvSpPr>
            <p:spPr bwMode="auto">
              <a:xfrm>
                <a:off x="24" y="0"/>
                <a:ext cx="120" cy="176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r>
                  <a:rPr lang="en-US" altLang="zh-CN" sz="900">
                    <a:latin typeface="Arial" charset="0"/>
                    <a:ea typeface="宋体" pitchFamily="2" charset="-122"/>
                    <a:cs typeface="Arial" charset="0"/>
                    <a:sym typeface="Arial" charset="0"/>
                  </a:rPr>
                  <a:t>5</a:t>
                </a:r>
              </a:p>
            </p:txBody>
          </p:sp>
        </p:grpSp>
        <p:grpSp>
          <p:nvGrpSpPr>
            <p:cNvPr id="11285" name="Group 25"/>
            <p:cNvGrpSpPr>
              <a:grpSpLocks/>
            </p:cNvGrpSpPr>
            <p:nvPr/>
          </p:nvGrpSpPr>
          <p:grpSpPr bwMode="auto">
            <a:xfrm>
              <a:off x="2440" y="3215"/>
              <a:ext cx="1147" cy="327"/>
              <a:chOff x="0" y="0"/>
              <a:chExt cx="1230" cy="354"/>
            </a:xfrm>
          </p:grpSpPr>
          <p:sp>
            <p:nvSpPr>
              <p:cNvPr id="11315" name="Rectangle 26"/>
              <p:cNvSpPr>
                <a:spLocks/>
              </p:cNvSpPr>
              <p:nvPr/>
            </p:nvSpPr>
            <p:spPr bwMode="auto">
              <a:xfrm>
                <a:off x="0" y="8"/>
                <a:ext cx="1230" cy="34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en-IN" sz="1350"/>
              </a:p>
            </p:txBody>
          </p:sp>
          <p:sp>
            <p:nvSpPr>
              <p:cNvPr id="11316" name="Rectangle 27"/>
              <p:cNvSpPr>
                <a:spLocks/>
              </p:cNvSpPr>
              <p:nvPr/>
            </p:nvSpPr>
            <p:spPr bwMode="auto">
              <a:xfrm>
                <a:off x="200" y="72"/>
                <a:ext cx="864" cy="176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r>
                  <a:rPr lang="en-US" altLang="zh-CN" sz="900">
                    <a:latin typeface="Arial" charset="0"/>
                    <a:ea typeface="宋体" pitchFamily="2" charset="-122"/>
                    <a:cs typeface="Arial" charset="0"/>
                    <a:sym typeface="Arial" charset="0"/>
                  </a:rPr>
                  <a:t>Code Generator</a:t>
                </a:r>
              </a:p>
            </p:txBody>
          </p:sp>
          <p:sp>
            <p:nvSpPr>
              <p:cNvPr id="11317" name="Rectangle 28"/>
              <p:cNvSpPr>
                <a:spLocks/>
              </p:cNvSpPr>
              <p:nvPr/>
            </p:nvSpPr>
            <p:spPr bwMode="auto">
              <a:xfrm>
                <a:off x="24" y="0"/>
                <a:ext cx="120" cy="176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r>
                  <a:rPr lang="en-US" altLang="zh-CN" sz="900">
                    <a:latin typeface="Arial" charset="0"/>
                    <a:ea typeface="宋体" pitchFamily="2" charset="-122"/>
                    <a:cs typeface="Arial" charset="0"/>
                    <a:sym typeface="Arial" charset="0"/>
                  </a:rPr>
                  <a:t>6</a:t>
                </a:r>
              </a:p>
            </p:txBody>
          </p:sp>
        </p:grpSp>
        <p:sp>
          <p:nvSpPr>
            <p:cNvPr id="11286" name="Line 29"/>
            <p:cNvSpPr>
              <a:spLocks noChangeShapeType="1"/>
            </p:cNvSpPr>
            <p:nvPr/>
          </p:nvSpPr>
          <p:spPr bwMode="auto">
            <a:xfrm>
              <a:off x="2968" y="803"/>
              <a:ext cx="7" cy="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287" name="Line 30"/>
            <p:cNvSpPr>
              <a:spLocks noChangeShapeType="1"/>
            </p:cNvSpPr>
            <p:nvPr/>
          </p:nvSpPr>
          <p:spPr bwMode="auto">
            <a:xfrm>
              <a:off x="2968" y="1265"/>
              <a:ext cx="7" cy="1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288" name="Line 31"/>
            <p:cNvSpPr>
              <a:spLocks noChangeShapeType="1"/>
            </p:cNvSpPr>
            <p:nvPr/>
          </p:nvSpPr>
          <p:spPr bwMode="auto">
            <a:xfrm>
              <a:off x="2968" y="1692"/>
              <a:ext cx="7" cy="1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289" name="Line 32"/>
            <p:cNvSpPr>
              <a:spLocks noChangeShapeType="1"/>
            </p:cNvSpPr>
            <p:nvPr/>
          </p:nvSpPr>
          <p:spPr bwMode="auto">
            <a:xfrm>
              <a:off x="2968" y="2119"/>
              <a:ext cx="7" cy="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290" name="Line 33"/>
            <p:cNvSpPr>
              <a:spLocks noChangeShapeType="1"/>
            </p:cNvSpPr>
            <p:nvPr/>
          </p:nvSpPr>
          <p:spPr bwMode="auto">
            <a:xfrm>
              <a:off x="2968" y="2581"/>
              <a:ext cx="5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291" name="Line 34"/>
            <p:cNvSpPr>
              <a:spLocks noChangeShapeType="1"/>
            </p:cNvSpPr>
            <p:nvPr/>
          </p:nvSpPr>
          <p:spPr bwMode="auto">
            <a:xfrm>
              <a:off x="2968" y="3079"/>
              <a:ext cx="7" cy="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grpSp>
          <p:nvGrpSpPr>
            <p:cNvPr id="11292" name="Group 35"/>
            <p:cNvGrpSpPr>
              <a:grpSpLocks/>
            </p:cNvGrpSpPr>
            <p:nvPr/>
          </p:nvGrpSpPr>
          <p:grpSpPr bwMode="auto">
            <a:xfrm>
              <a:off x="1292" y="1979"/>
              <a:ext cx="941" cy="427"/>
              <a:chOff x="0" y="0"/>
              <a:chExt cx="1010" cy="461"/>
            </a:xfrm>
          </p:grpSpPr>
          <p:sp>
            <p:nvSpPr>
              <p:cNvPr id="11313" name="Rectangle 36"/>
              <p:cNvSpPr>
                <a:spLocks/>
              </p:cNvSpPr>
              <p:nvPr/>
            </p:nvSpPr>
            <p:spPr bwMode="auto">
              <a:xfrm>
                <a:off x="0" y="0"/>
                <a:ext cx="1010" cy="46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en-IN" sz="1350"/>
              </a:p>
            </p:txBody>
          </p:sp>
          <p:sp>
            <p:nvSpPr>
              <p:cNvPr id="11314" name="Rectangle 37"/>
              <p:cNvSpPr>
                <a:spLocks/>
              </p:cNvSpPr>
              <p:nvPr/>
            </p:nvSpPr>
            <p:spPr bwMode="auto">
              <a:xfrm>
                <a:off x="111" y="104"/>
                <a:ext cx="776" cy="288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r>
                  <a:rPr lang="en-US" altLang="zh-CN" sz="900">
                    <a:latin typeface="Arial" charset="0"/>
                    <a:ea typeface="宋体" pitchFamily="2" charset="-122"/>
                    <a:cs typeface="Arial" charset="0"/>
                    <a:sym typeface="Arial" charset="0"/>
                  </a:rPr>
                  <a:t>Symbol-table Manager</a:t>
                </a:r>
              </a:p>
            </p:txBody>
          </p:sp>
        </p:grpSp>
        <p:grpSp>
          <p:nvGrpSpPr>
            <p:cNvPr id="11293" name="Group 38"/>
            <p:cNvGrpSpPr>
              <a:grpSpLocks/>
            </p:cNvGrpSpPr>
            <p:nvPr/>
          </p:nvGrpSpPr>
          <p:grpSpPr bwMode="auto">
            <a:xfrm>
              <a:off x="4252" y="1979"/>
              <a:ext cx="941" cy="427"/>
              <a:chOff x="0" y="0"/>
              <a:chExt cx="1010" cy="461"/>
            </a:xfrm>
          </p:grpSpPr>
          <p:sp>
            <p:nvSpPr>
              <p:cNvPr id="11311" name="Rectangle 39"/>
              <p:cNvSpPr>
                <a:spLocks/>
              </p:cNvSpPr>
              <p:nvPr/>
            </p:nvSpPr>
            <p:spPr bwMode="auto">
              <a:xfrm>
                <a:off x="0" y="0"/>
                <a:ext cx="1010" cy="46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en-IN" sz="1350"/>
              </a:p>
            </p:txBody>
          </p:sp>
          <p:sp>
            <p:nvSpPr>
              <p:cNvPr id="11312" name="Rectangle 40"/>
              <p:cNvSpPr>
                <a:spLocks/>
              </p:cNvSpPr>
              <p:nvPr/>
            </p:nvSpPr>
            <p:spPr bwMode="auto">
              <a:xfrm>
                <a:off x="111" y="104"/>
                <a:ext cx="776" cy="176"/>
              </a:xfrm>
              <a:prstGeom prst="rect">
                <a:avLst/>
              </a:prstGeom>
              <a:solidFill>
                <a:srgbClr val="FFFF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r>
                  <a:rPr lang="en-US" altLang="zh-CN" sz="900">
                    <a:latin typeface="Arial" charset="0"/>
                    <a:ea typeface="宋体" pitchFamily="2" charset="-122"/>
                    <a:cs typeface="Arial" charset="0"/>
                    <a:sym typeface="Arial" charset="0"/>
                  </a:rPr>
                  <a:t>Error Handler</a:t>
                </a:r>
              </a:p>
            </p:txBody>
          </p:sp>
        </p:grpSp>
        <p:sp>
          <p:nvSpPr>
            <p:cNvPr id="11294" name="Line 41"/>
            <p:cNvSpPr>
              <a:spLocks noChangeShapeType="1"/>
            </p:cNvSpPr>
            <p:nvPr/>
          </p:nvSpPr>
          <p:spPr bwMode="auto">
            <a:xfrm flipH="1">
              <a:off x="1496" y="1087"/>
              <a:ext cx="936" cy="8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295" name="Line 42"/>
            <p:cNvSpPr>
              <a:spLocks noChangeShapeType="1"/>
            </p:cNvSpPr>
            <p:nvPr/>
          </p:nvSpPr>
          <p:spPr bwMode="auto">
            <a:xfrm flipH="1">
              <a:off x="1783" y="1514"/>
              <a:ext cx="659" cy="4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296" name="Line 43"/>
            <p:cNvSpPr>
              <a:spLocks noChangeShapeType="1"/>
            </p:cNvSpPr>
            <p:nvPr/>
          </p:nvSpPr>
          <p:spPr bwMode="auto">
            <a:xfrm flipH="1">
              <a:off x="2070" y="1905"/>
              <a:ext cx="368" cy="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297" name="Line 44"/>
            <p:cNvSpPr>
              <a:spLocks noChangeShapeType="1"/>
            </p:cNvSpPr>
            <p:nvPr/>
          </p:nvSpPr>
          <p:spPr bwMode="auto">
            <a:xfrm rot="10800000">
              <a:off x="3586" y="1905"/>
              <a:ext cx="655" cy="1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298" name="Line 45"/>
            <p:cNvSpPr>
              <a:spLocks noChangeShapeType="1"/>
            </p:cNvSpPr>
            <p:nvPr/>
          </p:nvSpPr>
          <p:spPr bwMode="auto">
            <a:xfrm rot="10800000">
              <a:off x="3586" y="1514"/>
              <a:ext cx="659" cy="4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299" name="Line 46"/>
            <p:cNvSpPr>
              <a:spLocks noChangeShapeType="1"/>
            </p:cNvSpPr>
            <p:nvPr/>
          </p:nvSpPr>
          <p:spPr bwMode="auto">
            <a:xfrm rot="10800000">
              <a:off x="3586" y="1087"/>
              <a:ext cx="935" cy="8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300" name="Line 47"/>
            <p:cNvSpPr>
              <a:spLocks noChangeShapeType="1"/>
            </p:cNvSpPr>
            <p:nvPr/>
          </p:nvSpPr>
          <p:spPr bwMode="auto">
            <a:xfrm rot="10800000" flipH="1">
              <a:off x="3586" y="2403"/>
              <a:ext cx="935" cy="8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301" name="Line 48"/>
            <p:cNvSpPr>
              <a:spLocks noChangeShapeType="1"/>
            </p:cNvSpPr>
            <p:nvPr/>
          </p:nvSpPr>
          <p:spPr bwMode="auto">
            <a:xfrm>
              <a:off x="1496" y="2403"/>
              <a:ext cx="936" cy="8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302" name="Line 49"/>
            <p:cNvSpPr>
              <a:spLocks noChangeShapeType="1"/>
            </p:cNvSpPr>
            <p:nvPr/>
          </p:nvSpPr>
          <p:spPr bwMode="auto">
            <a:xfrm rot="10800000" flipH="1">
              <a:off x="3586" y="2403"/>
              <a:ext cx="659" cy="4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303" name="Line 50"/>
            <p:cNvSpPr>
              <a:spLocks noChangeShapeType="1"/>
            </p:cNvSpPr>
            <p:nvPr/>
          </p:nvSpPr>
          <p:spPr bwMode="auto">
            <a:xfrm>
              <a:off x="1783" y="2403"/>
              <a:ext cx="659" cy="4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304" name="Line 51"/>
            <p:cNvSpPr>
              <a:spLocks noChangeShapeType="1"/>
            </p:cNvSpPr>
            <p:nvPr/>
          </p:nvSpPr>
          <p:spPr bwMode="auto">
            <a:xfrm rot="10800000" flipH="1">
              <a:off x="3586" y="2296"/>
              <a:ext cx="655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305" name="Line 52"/>
            <p:cNvSpPr>
              <a:spLocks noChangeShapeType="1"/>
            </p:cNvSpPr>
            <p:nvPr/>
          </p:nvSpPr>
          <p:spPr bwMode="auto">
            <a:xfrm>
              <a:off x="2070" y="2403"/>
              <a:ext cx="368" cy="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350"/>
            </a:p>
          </p:txBody>
        </p:sp>
        <p:sp>
          <p:nvSpPr>
            <p:cNvPr id="11306" name="Text Box 53"/>
            <p:cNvSpPr txBox="1">
              <a:spLocks noChangeArrowheads="1"/>
            </p:cNvSpPr>
            <p:nvPr/>
          </p:nvSpPr>
          <p:spPr bwMode="auto">
            <a:xfrm>
              <a:off x="3696" y="1117"/>
              <a:ext cx="1559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 b="1">
                  <a:solidFill>
                    <a:schemeClr val="accent2"/>
                  </a:solidFill>
                  <a:latin typeface="Angsana New" pitchFamily="18" charset="-34"/>
                </a:rPr>
                <a:t>Stream of characters</a:t>
              </a:r>
              <a:endParaRPr lang="th-TH" sz="1350" b="1">
                <a:solidFill>
                  <a:schemeClr val="accent2"/>
                </a:solidFill>
                <a:latin typeface="Angsana New" pitchFamily="18" charset="-34"/>
              </a:endParaRPr>
            </a:p>
          </p:txBody>
        </p:sp>
        <p:sp>
          <p:nvSpPr>
            <p:cNvPr id="11307" name="Text Box 54"/>
            <p:cNvSpPr txBox="1">
              <a:spLocks noChangeArrowheads="1"/>
            </p:cNvSpPr>
            <p:nvPr/>
          </p:nvSpPr>
          <p:spPr bwMode="auto">
            <a:xfrm>
              <a:off x="3585" y="1566"/>
              <a:ext cx="142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350" b="1">
                  <a:solidFill>
                    <a:schemeClr val="accent2"/>
                  </a:solidFill>
                  <a:latin typeface="Angsana New" pitchFamily="18" charset="-34"/>
                </a:rPr>
                <a:t>Parse/syntax tree</a:t>
              </a:r>
              <a:endParaRPr lang="th-TH" sz="1350" b="1">
                <a:solidFill>
                  <a:schemeClr val="accent2"/>
                </a:solidFill>
                <a:latin typeface="Angsana New" pitchFamily="18" charset="-34"/>
              </a:endParaRPr>
            </a:p>
          </p:txBody>
        </p:sp>
        <p:sp>
          <p:nvSpPr>
            <p:cNvPr id="11308" name="Text Box 55"/>
            <p:cNvSpPr txBox="1">
              <a:spLocks noChangeArrowheads="1"/>
            </p:cNvSpPr>
            <p:nvPr/>
          </p:nvSpPr>
          <p:spPr bwMode="auto">
            <a:xfrm>
              <a:off x="3104" y="2059"/>
              <a:ext cx="1191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 b="1" dirty="0">
                  <a:solidFill>
                    <a:schemeClr val="accent2"/>
                  </a:solidFill>
                  <a:latin typeface="Angsana New" pitchFamily="18" charset="-34"/>
                </a:rPr>
                <a:t>Annotated tree</a:t>
              </a:r>
              <a:endParaRPr lang="th-TH" sz="1350" b="1" dirty="0">
                <a:solidFill>
                  <a:schemeClr val="accent2"/>
                </a:solidFill>
                <a:latin typeface="Angsana New" pitchFamily="18" charset="-34"/>
              </a:endParaRPr>
            </a:p>
          </p:txBody>
        </p:sp>
        <p:sp>
          <p:nvSpPr>
            <p:cNvPr id="11309" name="Text Box 56"/>
            <p:cNvSpPr txBox="1">
              <a:spLocks noChangeArrowheads="1"/>
            </p:cNvSpPr>
            <p:nvPr/>
          </p:nvSpPr>
          <p:spPr bwMode="auto">
            <a:xfrm>
              <a:off x="3539" y="2564"/>
              <a:ext cx="1404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 b="1">
                  <a:solidFill>
                    <a:schemeClr val="accent2"/>
                  </a:solidFill>
                  <a:latin typeface="Angsana New" pitchFamily="18" charset="-34"/>
                </a:rPr>
                <a:t>Intermediate code</a:t>
              </a:r>
              <a:endParaRPr lang="th-TH" sz="1350" b="1">
                <a:solidFill>
                  <a:schemeClr val="accent2"/>
                </a:solidFill>
                <a:latin typeface="Angsana New" pitchFamily="18" charset="-34"/>
              </a:endParaRPr>
            </a:p>
          </p:txBody>
        </p:sp>
        <p:sp>
          <p:nvSpPr>
            <p:cNvPr id="11310" name="Text Box 57"/>
            <p:cNvSpPr txBox="1">
              <a:spLocks noChangeArrowheads="1"/>
            </p:cNvSpPr>
            <p:nvPr/>
          </p:nvSpPr>
          <p:spPr bwMode="auto">
            <a:xfrm>
              <a:off x="3741" y="3117"/>
              <a:ext cx="2156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350" b="1" dirty="0">
                  <a:solidFill>
                    <a:schemeClr val="accent2"/>
                  </a:solidFill>
                  <a:latin typeface="Angsana New" pitchFamily="18" charset="-34"/>
                </a:rPr>
                <a:t>Optimized Intermediate code</a:t>
              </a:r>
              <a:endParaRPr lang="th-TH" sz="1350" b="1" dirty="0">
                <a:solidFill>
                  <a:schemeClr val="accent2"/>
                </a:solidFill>
                <a:latin typeface="Angsana New" pitchFamily="18" charset="-34"/>
              </a:endParaRPr>
            </a:p>
          </p:txBody>
        </p:sp>
      </p:grpSp>
      <p:sp>
        <p:nvSpPr>
          <p:cNvPr id="11269" name="Rectangle 58"/>
          <p:cNvSpPr>
            <a:spLocks noChangeArrowheads="1"/>
          </p:cNvSpPr>
          <p:nvPr/>
        </p:nvSpPr>
        <p:spPr bwMode="auto">
          <a:xfrm>
            <a:off x="1437085" y="351047"/>
            <a:ext cx="6400800" cy="5143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en-US" sz="4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General Model of Compiler</a:t>
            </a:r>
            <a:endParaRPr lang="th-TH" sz="4000" b="1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70" name="AutoShape 59"/>
          <p:cNvSpPr>
            <a:spLocks/>
          </p:cNvSpPr>
          <p:nvPr/>
        </p:nvSpPr>
        <p:spPr bwMode="auto">
          <a:xfrm>
            <a:off x="2185989" y="2031208"/>
            <a:ext cx="378619" cy="1565672"/>
          </a:xfrm>
          <a:prstGeom prst="leftBrace">
            <a:avLst>
              <a:gd name="adj1" fmla="val 3446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 sz="1350"/>
          </a:p>
        </p:txBody>
      </p:sp>
      <p:sp>
        <p:nvSpPr>
          <p:cNvPr id="11271" name="AutoShape 60"/>
          <p:cNvSpPr>
            <a:spLocks/>
          </p:cNvSpPr>
          <p:nvPr/>
        </p:nvSpPr>
        <p:spPr bwMode="auto">
          <a:xfrm>
            <a:off x="2185989" y="3813574"/>
            <a:ext cx="378619" cy="1620440"/>
          </a:xfrm>
          <a:prstGeom prst="leftBrace">
            <a:avLst>
              <a:gd name="adj1" fmla="val 3566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 sz="1350"/>
          </a:p>
        </p:txBody>
      </p:sp>
      <p:sp>
        <p:nvSpPr>
          <p:cNvPr id="11272" name="Text Box 61"/>
          <p:cNvSpPr txBox="1">
            <a:spLocks noChangeArrowheads="1"/>
          </p:cNvSpPr>
          <p:nvPr/>
        </p:nvSpPr>
        <p:spPr bwMode="auto">
          <a:xfrm>
            <a:off x="1079897" y="2246710"/>
            <a:ext cx="1160859" cy="108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50" b="1" dirty="0">
                <a:latin typeface="Angsana New" pitchFamily="18" charset="-34"/>
              </a:rPr>
              <a:t>Analysis/ Language </a:t>
            </a:r>
            <a:r>
              <a:rPr lang="en-US" sz="1200" b="1" dirty="0">
                <a:latin typeface="Angsana New" pitchFamily="18" charset="-34"/>
              </a:rPr>
              <a:t>Dependent</a:t>
            </a:r>
            <a:r>
              <a:rPr lang="en-US" sz="1050" b="1" dirty="0">
                <a:latin typeface="Angsana New" pitchFamily="18" charset="-34"/>
              </a:rPr>
              <a:t>/ M/C Independent  Phases</a:t>
            </a:r>
          </a:p>
        </p:txBody>
      </p:sp>
      <p:sp>
        <p:nvSpPr>
          <p:cNvPr id="11273" name="Text Box 62"/>
          <p:cNvSpPr txBox="1">
            <a:spLocks noChangeArrowheads="1"/>
          </p:cNvSpPr>
          <p:nvPr/>
        </p:nvSpPr>
        <p:spPr bwMode="auto">
          <a:xfrm>
            <a:off x="1106092" y="4164807"/>
            <a:ext cx="102631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Angsana New" pitchFamily="18" charset="-34"/>
              </a:rPr>
              <a:t>Synthesis/ Language Independent/ M/C Dependent  Phases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141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28515-50F4-4C19-ADD3-CCFF665F1DC8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7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368056" y="103427"/>
            <a:ext cx="8401050" cy="541030"/>
          </a:xfr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altLang="zh-TW" sz="3600" b="1" dirty="0"/>
              <a:t>The Structure of a Compiler</a:t>
            </a:r>
            <a:endParaRPr lang="zh-TW" altLang="en-US" sz="3600" b="1" dirty="0"/>
          </a:p>
        </p:txBody>
      </p:sp>
      <p:sp>
        <p:nvSpPr>
          <p:cNvPr id="23555" name="投影片編號版面配置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12775" y="5624514"/>
            <a:ext cx="1981200" cy="27384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E59AC09C-08CA-42E7-8FD5-42D86B640421}" type="slidenum">
              <a:rPr lang="zh-TW" altLang="en-US" b="1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pPr/>
              <a:t>142</a:t>
            </a:fld>
            <a:endParaRPr lang="zh-TW" altLang="en-US" b="1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10" name="Picture 8" descr="auto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0" y="1797210"/>
            <a:ext cx="4558042" cy="414962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19050">
            <a:contourClr>
              <a:schemeClr val="accent6">
                <a:lumMod val="20000"/>
                <a:lumOff val="80000"/>
              </a:schemeClr>
            </a:contourClr>
          </a:sp3d>
        </p:spPr>
      </p:pic>
      <p:sp>
        <p:nvSpPr>
          <p:cNvPr id="15" name="圓角矩形 14"/>
          <p:cNvSpPr/>
          <p:nvPr/>
        </p:nvSpPr>
        <p:spPr>
          <a:xfrm>
            <a:off x="862152" y="2518166"/>
            <a:ext cx="3362513" cy="2700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70000"/>
              </a:lnSpc>
            </a:pPr>
            <a:r>
              <a:rPr lang="en-US" altLang="zh-TW" sz="1050" b="1">
                <a:solidFill>
                  <a:srgbClr val="FFFF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Scanner  </a:t>
            </a:r>
            <a:br>
              <a:rPr lang="en-US" altLang="zh-TW" sz="1050" b="1">
                <a:solidFill>
                  <a:srgbClr val="FFFF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</a:br>
            <a:r>
              <a:rPr lang="en-US" altLang="zh-TW" sz="1050" b="1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[Lexical Analyzer]</a:t>
            </a:r>
            <a:endParaRPr lang="zh-TW" altLang="en-US" sz="1050" b="1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19" name="向右箭號 18"/>
          <p:cNvSpPr/>
          <p:nvPr/>
        </p:nvSpPr>
        <p:spPr>
          <a:xfrm rot="5400000">
            <a:off x="2436019" y="2212976"/>
            <a:ext cx="214313" cy="28892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70000"/>
              </a:lnSpc>
            </a:pPr>
            <a:endParaRPr lang="zh-TW" altLang="en-US" sz="900" b="1">
              <a:solidFill>
                <a:srgbClr val="0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0" name="向右箭號 19"/>
          <p:cNvSpPr/>
          <p:nvPr/>
        </p:nvSpPr>
        <p:spPr>
          <a:xfrm rot="5400000">
            <a:off x="2436019" y="2802336"/>
            <a:ext cx="214313" cy="28892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70000"/>
              </a:lnSpc>
            </a:pPr>
            <a:endParaRPr lang="zh-TW" altLang="en-US" sz="900" b="1">
              <a:solidFill>
                <a:srgbClr val="0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3" name="向右箭號 22"/>
          <p:cNvSpPr/>
          <p:nvPr/>
        </p:nvSpPr>
        <p:spPr>
          <a:xfrm rot="5400000">
            <a:off x="2466181" y="3230961"/>
            <a:ext cx="214313" cy="28892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70000"/>
              </a:lnSpc>
            </a:pPr>
            <a:endParaRPr lang="zh-TW" altLang="en-US" sz="900" b="1">
              <a:solidFill>
                <a:srgbClr val="0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857225" y="3482579"/>
            <a:ext cx="3362513" cy="2700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70000"/>
              </a:lnSpc>
            </a:pPr>
            <a:r>
              <a:rPr lang="en-US" altLang="zh-TW" sz="1050" b="1" dirty="0">
                <a:solidFill>
                  <a:srgbClr val="FFFF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Parser  </a:t>
            </a:r>
            <a:br>
              <a:rPr lang="en-US" altLang="zh-TW" sz="1050" b="1" dirty="0">
                <a:solidFill>
                  <a:srgbClr val="FFFF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</a:br>
            <a:r>
              <a:rPr lang="en-US" altLang="zh-TW" sz="1050" b="1" dirty="0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[Syntax Analyzer]</a:t>
            </a:r>
            <a:endParaRPr lang="zh-TW" altLang="en-US" sz="1050" b="1" dirty="0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61803" y="3964786"/>
            <a:ext cx="2655917" cy="596504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19050">
            <a:contourClr>
              <a:schemeClr val="accent6">
                <a:lumMod val="20000"/>
                <a:lumOff val="80000"/>
              </a:schemeClr>
            </a:contourClr>
          </a:sp3d>
        </p:spPr>
      </p:pic>
      <p:sp>
        <p:nvSpPr>
          <p:cNvPr id="25" name="向右箭號 24"/>
          <p:cNvSpPr/>
          <p:nvPr/>
        </p:nvSpPr>
        <p:spPr>
          <a:xfrm rot="5400000">
            <a:off x="2466181" y="3713163"/>
            <a:ext cx="214313" cy="28892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70000"/>
              </a:lnSpc>
            </a:pPr>
            <a:endParaRPr lang="zh-TW" altLang="en-US" sz="900" b="1">
              <a:solidFill>
                <a:srgbClr val="0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6" name="向右箭號 25"/>
          <p:cNvSpPr/>
          <p:nvPr/>
        </p:nvSpPr>
        <p:spPr>
          <a:xfrm rot="5400000">
            <a:off x="2486818" y="4518802"/>
            <a:ext cx="214313" cy="28892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70000"/>
              </a:lnSpc>
            </a:pPr>
            <a:endParaRPr lang="zh-TW" altLang="en-US" sz="900" b="1">
              <a:solidFill>
                <a:srgbClr val="0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7" name="圓角矩形 26"/>
          <p:cNvSpPr/>
          <p:nvPr/>
        </p:nvSpPr>
        <p:spPr>
          <a:xfrm>
            <a:off x="857225" y="4783110"/>
            <a:ext cx="3362513" cy="409189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70000"/>
              </a:lnSpc>
            </a:pPr>
            <a:r>
              <a:rPr lang="en-US" altLang="zh-TW" sz="1100" b="1">
                <a:solidFill>
                  <a:srgbClr val="FFFF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Semantic Process  </a:t>
            </a:r>
            <a:br>
              <a:rPr lang="en-US" altLang="zh-TW" sz="1100" b="1">
                <a:solidFill>
                  <a:srgbClr val="FFFF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</a:br>
            <a:r>
              <a:rPr lang="en-US" altLang="zh-TW" sz="1100" b="1">
                <a:solidFill>
                  <a:schemeClr val="bg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[Semantic analyzer]</a:t>
            </a:r>
            <a:endParaRPr lang="zh-TW" altLang="en-US" sz="1100" b="1">
              <a:solidFill>
                <a:schemeClr val="bg1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21501" y="5462298"/>
            <a:ext cx="2792597" cy="814763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19050">
            <a:contourClr>
              <a:schemeClr val="accent6">
                <a:lumMod val="20000"/>
                <a:lumOff val="80000"/>
              </a:schemeClr>
            </a:contourClr>
          </a:sp3d>
        </p:spPr>
      </p:pic>
      <p:sp>
        <p:nvSpPr>
          <p:cNvPr id="29" name="圓角矩形 28"/>
          <p:cNvSpPr/>
          <p:nvPr/>
        </p:nvSpPr>
        <p:spPr>
          <a:xfrm>
            <a:off x="5281454" y="1910153"/>
            <a:ext cx="3362513" cy="342228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70000"/>
              </a:lnSpc>
            </a:pPr>
            <a:r>
              <a:rPr lang="en-US" altLang="zh-TW" sz="1000" b="1" dirty="0">
                <a:solidFill>
                  <a:srgbClr val="FFFF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Code Generator</a:t>
            </a:r>
          </a:p>
          <a:p>
            <a:pPr algn="ctr">
              <a:lnSpc>
                <a:spcPct val="70000"/>
              </a:lnSpc>
            </a:pPr>
            <a:r>
              <a:rPr lang="en-US" altLang="zh-TW" sz="1000" b="1" dirty="0">
                <a:solidFill>
                  <a:srgbClr val="FFFFFF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[Intermediate Code Generator]</a:t>
            </a:r>
            <a:endParaRPr lang="zh-TW" altLang="en-US" sz="1000" b="1" dirty="0">
              <a:solidFill>
                <a:srgbClr val="FFFFFF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0" name="向右箭號 29"/>
          <p:cNvSpPr/>
          <p:nvPr/>
        </p:nvSpPr>
        <p:spPr>
          <a:xfrm rot="5400000">
            <a:off x="6843463" y="1648168"/>
            <a:ext cx="214313" cy="288925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70000"/>
              </a:lnSpc>
            </a:pPr>
            <a:endParaRPr lang="zh-TW" altLang="en-US" sz="900" b="1">
              <a:solidFill>
                <a:srgbClr val="0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4506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73598" y="2571743"/>
            <a:ext cx="3010228" cy="578571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19050">
            <a:contourClr>
              <a:schemeClr val="accent6">
                <a:lumMod val="20000"/>
                <a:lumOff val="80000"/>
              </a:schemeClr>
            </a:contourClr>
          </a:sp3d>
        </p:spPr>
      </p:pic>
      <p:sp>
        <p:nvSpPr>
          <p:cNvPr id="31" name="向右箭號 30"/>
          <p:cNvSpPr/>
          <p:nvPr/>
        </p:nvSpPr>
        <p:spPr>
          <a:xfrm rot="5400000">
            <a:off x="6855619" y="2266554"/>
            <a:ext cx="214313" cy="28892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70000"/>
              </a:lnSpc>
            </a:pPr>
            <a:endParaRPr lang="zh-TW" altLang="en-US" sz="900" b="1">
              <a:solidFill>
                <a:srgbClr val="0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2" name="圓角矩形 31"/>
          <p:cNvSpPr/>
          <p:nvPr/>
        </p:nvSpPr>
        <p:spPr>
          <a:xfrm>
            <a:off x="5297453" y="3415657"/>
            <a:ext cx="3362513" cy="270000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70000"/>
              </a:lnSpc>
              <a:defRPr/>
            </a:pPr>
            <a:r>
              <a:rPr lang="en-US" altLang="zh-TW" sz="1200" b="1" dirty="0">
                <a:solidFill>
                  <a:srgbClr val="FFFF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Code Optimizer</a:t>
            </a:r>
          </a:p>
        </p:txBody>
      </p:sp>
      <p:pic>
        <p:nvPicPr>
          <p:cNvPr id="45063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633715" y="3980261"/>
            <a:ext cx="2689991" cy="331762"/>
          </a:xfrm>
          <a:prstGeom prst="rect">
            <a:avLst/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 contourW="19050">
            <a:contourClr>
              <a:schemeClr val="accent6">
                <a:lumMod val="20000"/>
                <a:lumOff val="80000"/>
              </a:schemeClr>
            </a:contourClr>
          </a:sp3d>
        </p:spPr>
      </p:pic>
      <p:sp>
        <p:nvSpPr>
          <p:cNvPr id="34" name="向右箭號 33"/>
          <p:cNvSpPr/>
          <p:nvPr/>
        </p:nvSpPr>
        <p:spPr>
          <a:xfrm rot="5400000">
            <a:off x="6832410" y="3688945"/>
            <a:ext cx="214313" cy="28892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70000"/>
              </a:lnSpc>
            </a:pPr>
            <a:endParaRPr lang="zh-TW" altLang="en-US" sz="900" b="1">
              <a:solidFill>
                <a:srgbClr val="0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5" name="向右箭號 34"/>
          <p:cNvSpPr/>
          <p:nvPr/>
        </p:nvSpPr>
        <p:spPr>
          <a:xfrm rot="5400000">
            <a:off x="6843464" y="3150513"/>
            <a:ext cx="214313" cy="28892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70000"/>
              </a:lnSpc>
            </a:pPr>
            <a:endParaRPr lang="zh-TW" altLang="en-US" sz="900" b="1">
              <a:solidFill>
                <a:srgbClr val="0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6" name="向右箭號 35"/>
          <p:cNvSpPr/>
          <p:nvPr/>
        </p:nvSpPr>
        <p:spPr>
          <a:xfrm rot="5400000">
            <a:off x="2457584" y="5163679"/>
            <a:ext cx="214313" cy="28892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70000"/>
              </a:lnSpc>
            </a:pPr>
            <a:endParaRPr lang="zh-TW" altLang="en-US" sz="900" b="1">
              <a:solidFill>
                <a:srgbClr val="0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23586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729842" y="850934"/>
            <a:ext cx="1962150" cy="792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群組 32"/>
          <p:cNvGrpSpPr>
            <a:grpSpLocks/>
          </p:cNvGrpSpPr>
          <p:nvPr/>
        </p:nvGrpSpPr>
        <p:grpSpPr bwMode="auto">
          <a:xfrm>
            <a:off x="900197" y="2919483"/>
            <a:ext cx="2889166" cy="316637"/>
            <a:chOff x="659236" y="2749638"/>
            <a:chExt cx="3129885" cy="422184"/>
          </a:xfrm>
        </p:grpSpPr>
        <p:pic>
          <p:nvPicPr>
            <p:cNvPr id="45058" name="Picture 2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1342510" y="3000372"/>
              <a:ext cx="2446611" cy="171450"/>
            </a:xfrm>
            <a:prstGeom prst="rect">
              <a:avLst/>
            </a:prstGeom>
            <a:noFill/>
            <a:ln w="9525">
              <a:solidFill>
                <a:schemeClr val="accent6">
                  <a:lumMod val="20000"/>
                  <a:lumOff val="80000"/>
                </a:schemeClr>
              </a:solidFill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 contourW="19050">
              <a:contourClr>
                <a:schemeClr val="accent6">
                  <a:lumMod val="20000"/>
                  <a:lumOff val="80000"/>
                </a:schemeClr>
              </a:contourClr>
            </a:sp3d>
          </p:spPr>
        </p:pic>
        <p:sp>
          <p:nvSpPr>
            <p:cNvPr id="23600" name="文字方塊 27"/>
            <p:cNvSpPr txBox="1">
              <a:spLocks noChangeArrowheads="1"/>
            </p:cNvSpPr>
            <p:nvPr/>
          </p:nvSpPr>
          <p:spPr bwMode="auto">
            <a:xfrm>
              <a:off x="659236" y="2749638"/>
              <a:ext cx="100013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TW" sz="900" b="1" dirty="0">
                  <a:solidFill>
                    <a:srgbClr val="C00000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Tokens </a:t>
              </a:r>
              <a:endParaRPr lang="zh-TW" altLang="en-US" sz="900" b="1" dirty="0">
                <a:solidFill>
                  <a:srgbClr val="C0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endParaRPr>
            </a:p>
          </p:txBody>
        </p:sp>
      </p:grpSp>
      <p:sp>
        <p:nvSpPr>
          <p:cNvPr id="38" name="文字方塊 37"/>
          <p:cNvSpPr txBox="1">
            <a:spLocks noChangeArrowheads="1"/>
          </p:cNvSpPr>
          <p:nvPr/>
        </p:nvSpPr>
        <p:spPr bwMode="auto">
          <a:xfrm>
            <a:off x="642938" y="3857625"/>
            <a:ext cx="100012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900" b="1">
                <a:solidFill>
                  <a:srgbClr val="C0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Parse tree</a:t>
            </a:r>
            <a:endParaRPr lang="zh-TW" altLang="en-US" sz="900" b="1">
              <a:solidFill>
                <a:srgbClr val="C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39" name="矩形 38"/>
          <p:cNvSpPr>
            <a:spLocks noChangeArrowheads="1"/>
          </p:cNvSpPr>
          <p:nvPr/>
        </p:nvSpPr>
        <p:spPr bwMode="auto">
          <a:xfrm>
            <a:off x="22225" y="5173220"/>
            <a:ext cx="257175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altLang="zh-TW" sz="900" b="1" dirty="0">
                <a:solidFill>
                  <a:srgbClr val="C0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Abstract Syntax Tree w/ Attributes</a:t>
            </a: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6810240" y="2332640"/>
            <a:ext cx="250031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altLang="zh-TW" sz="900" b="1" dirty="0">
                <a:solidFill>
                  <a:srgbClr val="C0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Non-optimized Intermediate Code</a:t>
            </a:r>
          </a:p>
        </p:txBody>
      </p: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7084029" y="3689599"/>
            <a:ext cx="168507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TW" sz="900" b="1" dirty="0">
                <a:solidFill>
                  <a:srgbClr val="C0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Optimized Intermediate Code</a:t>
            </a:r>
          </a:p>
        </p:txBody>
      </p:sp>
      <p:sp>
        <p:nvSpPr>
          <p:cNvPr id="43" name="圓角矩形 42"/>
          <p:cNvSpPr/>
          <p:nvPr/>
        </p:nvSpPr>
        <p:spPr>
          <a:xfrm>
            <a:off x="5329479" y="4582021"/>
            <a:ext cx="3362513" cy="429108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70000"/>
              </a:lnSpc>
              <a:defRPr/>
            </a:pPr>
            <a:r>
              <a:rPr lang="en-US" altLang="zh-TW" sz="1400" b="1" dirty="0">
                <a:solidFill>
                  <a:srgbClr val="FFFF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Code </a:t>
            </a:r>
            <a:r>
              <a:rPr lang="en-US" altLang="zh-TW" sz="1400" b="1" dirty="0" smtClean="0">
                <a:solidFill>
                  <a:srgbClr val="FFFF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Generator</a:t>
            </a:r>
            <a:endParaRPr lang="en-US" altLang="zh-TW" sz="1400" b="1" dirty="0">
              <a:solidFill>
                <a:srgbClr val="FFFF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4" name="向右箭號 43"/>
          <p:cNvSpPr/>
          <p:nvPr/>
        </p:nvSpPr>
        <p:spPr>
          <a:xfrm rot="5400000">
            <a:off x="6871555" y="4309671"/>
            <a:ext cx="214313" cy="28892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70000"/>
              </a:lnSpc>
            </a:pPr>
            <a:endParaRPr lang="zh-TW" altLang="en-US" sz="900" b="1">
              <a:solidFill>
                <a:srgbClr val="0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pic>
        <p:nvPicPr>
          <p:cNvPr id="22564" name="Picture 36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923711" y="5336172"/>
            <a:ext cx="2303555" cy="85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向右箭號 44"/>
          <p:cNvSpPr/>
          <p:nvPr/>
        </p:nvSpPr>
        <p:spPr>
          <a:xfrm rot="5400000">
            <a:off x="6871555" y="5003330"/>
            <a:ext cx="214313" cy="288925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70000"/>
              </a:lnSpc>
            </a:pPr>
            <a:endParaRPr lang="zh-TW" altLang="en-US" sz="900" b="1">
              <a:solidFill>
                <a:srgbClr val="000000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7375671" y="5040636"/>
            <a:ext cx="1268296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TW" sz="900" b="1">
                <a:solidFill>
                  <a:srgbClr val="C00000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Target machine code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CAA20-9F1A-4174-A3EC-8EBDE0E31B0C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9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5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2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2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3" grpId="0" animBg="1"/>
      <p:bldP spid="25" grpId="0" animBg="1"/>
      <p:bldP spid="26" grpId="0" animBg="1"/>
      <p:bldP spid="30" grpId="0" animBg="1"/>
      <p:bldP spid="31" grpId="0" animBg="1"/>
      <p:bldP spid="34" grpId="0" animBg="1"/>
      <p:bldP spid="35" grpId="0" animBg="1"/>
      <p:bldP spid="36" grpId="0" animBg="1"/>
      <p:bldP spid="38" grpId="0"/>
      <p:bldP spid="39" grpId="0"/>
      <p:bldP spid="40" grpId="0"/>
      <p:bldP spid="41" grpId="0"/>
      <p:bldP spid="44" grpId="0" animBg="1"/>
      <p:bldP spid="45" grpId="0" animBg="1"/>
      <p:bldP spid="46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028" y="607734"/>
            <a:ext cx="8106771" cy="613716"/>
          </a:xfr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b="1" dirty="0"/>
              <a:t>Symbol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1284"/>
            <a:ext cx="8229600" cy="3718016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100" dirty="0"/>
              <a:t>Compiler uses symbol table to keep track of scope and binding information about names.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100" dirty="0"/>
              <a:t>S</a:t>
            </a:r>
            <a:r>
              <a:rPr lang="en-US" sz="2100" dirty="0" smtClean="0"/>
              <a:t>ymbol </a:t>
            </a:r>
            <a:r>
              <a:rPr lang="en-US" sz="2100" dirty="0"/>
              <a:t>table is searched every time </a:t>
            </a:r>
            <a:r>
              <a:rPr lang="en-US" sz="2100" dirty="0" smtClean="0"/>
              <a:t>when a </a:t>
            </a:r>
            <a:r>
              <a:rPr lang="en-US" sz="2100" dirty="0"/>
              <a:t>name is encountered in source text.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100" dirty="0"/>
              <a:t>Changes occur in symbol table if a new name or new info about existing name is discovered.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100" dirty="0"/>
              <a:t>Two symbol table mechanisms are presented </a:t>
            </a:r>
            <a:r>
              <a:rPr lang="en-US" sz="2100" dirty="0" smtClean="0"/>
              <a:t>generally, linear </a:t>
            </a:r>
            <a:r>
              <a:rPr lang="en-US" sz="2100" dirty="0"/>
              <a:t>list, hash tables.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100" dirty="0"/>
              <a:t>Compiler should grow S.T. dynamically at compile time or the symbol table can be kept fixed.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US" sz="2100" dirty="0"/>
          </a:p>
          <a:p>
            <a:pPr algn="just">
              <a:buFont typeface="Wingdings" panose="05000000000000000000" pitchFamily="2" charset="2"/>
              <a:buChar char="§"/>
            </a:pPr>
            <a:endParaRPr lang="en-US" sz="2100" dirty="0"/>
          </a:p>
          <a:p>
            <a:pPr algn="just">
              <a:buFont typeface="Wingdings" panose="05000000000000000000" pitchFamily="2" charset="2"/>
              <a:buChar char="§"/>
            </a:pPr>
            <a:endParaRPr lang="en-US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143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2923C-2360-4F76-95DF-548279283629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4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41846" y="331625"/>
            <a:ext cx="8244954" cy="986734"/>
          </a:xfr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b="1"/>
              <a:t>The Symbol Table</a:t>
            </a:r>
          </a:p>
        </p:txBody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61032"/>
            <a:ext cx="8229600" cy="207870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When </a:t>
            </a:r>
            <a:r>
              <a:rPr lang="en-US" dirty="0"/>
              <a:t>identifiers are found, they will be entered into a symbol table, which will hold all relevant information about identifiers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When the symbol is first encountered by the </a:t>
            </a:r>
            <a:r>
              <a:rPr lang="en-US" dirty="0" err="1" smtClean="0"/>
              <a:t>lexer</a:t>
            </a:r>
            <a:r>
              <a:rPr lang="en-US" dirty="0" smtClean="0"/>
              <a:t>, we do not yet know the scope.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That is determined later by the parser.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This </a:t>
            </a:r>
            <a:r>
              <a:rPr lang="en-US" dirty="0"/>
              <a:t>information will be used later by the semantic analyzer and the code generator.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143000" y="4271556"/>
            <a:ext cx="6858000" cy="1972101"/>
            <a:chOff x="720" y="2736"/>
            <a:chExt cx="4320" cy="1152"/>
          </a:xfrm>
        </p:grpSpPr>
        <p:sp>
          <p:nvSpPr>
            <p:cNvPr id="460804" name="Rectangle 4"/>
            <p:cNvSpPr>
              <a:spLocks noChangeArrowheads="1"/>
            </p:cNvSpPr>
            <p:nvPr/>
          </p:nvSpPr>
          <p:spPr bwMode="auto">
            <a:xfrm>
              <a:off x="720" y="2736"/>
              <a:ext cx="864" cy="48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Lexical</a:t>
              </a:r>
            </a:p>
            <a:p>
              <a:pPr algn="ctr"/>
              <a:r>
                <a:rPr lang="en-US"/>
                <a:t>Analyzer</a:t>
              </a:r>
            </a:p>
          </p:txBody>
        </p:sp>
        <p:sp>
          <p:nvSpPr>
            <p:cNvPr id="460806" name="Rectangle 6"/>
            <p:cNvSpPr>
              <a:spLocks noChangeArrowheads="1"/>
            </p:cNvSpPr>
            <p:nvPr/>
          </p:nvSpPr>
          <p:spPr bwMode="auto">
            <a:xfrm>
              <a:off x="3024" y="2736"/>
              <a:ext cx="864" cy="48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Semantic</a:t>
              </a:r>
            </a:p>
            <a:p>
              <a:pPr algn="ctr"/>
              <a:r>
                <a:rPr lang="en-US"/>
                <a:t>Analyzer</a:t>
              </a:r>
            </a:p>
          </p:txBody>
        </p:sp>
        <p:sp>
          <p:nvSpPr>
            <p:cNvPr id="460807" name="Rectangle 7"/>
            <p:cNvSpPr>
              <a:spLocks noChangeArrowheads="1"/>
            </p:cNvSpPr>
            <p:nvPr/>
          </p:nvSpPr>
          <p:spPr bwMode="auto">
            <a:xfrm>
              <a:off x="4176" y="2736"/>
              <a:ext cx="864" cy="48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/>
                <a:t>Code</a:t>
              </a:r>
            </a:p>
            <a:p>
              <a:pPr algn="ctr"/>
              <a:r>
                <a:rPr lang="en-US" dirty="0"/>
                <a:t>Generator</a:t>
              </a:r>
            </a:p>
          </p:txBody>
        </p:sp>
        <p:sp>
          <p:nvSpPr>
            <p:cNvPr id="460808" name="Rectangle 8"/>
            <p:cNvSpPr>
              <a:spLocks noChangeArrowheads="1"/>
            </p:cNvSpPr>
            <p:nvPr/>
          </p:nvSpPr>
          <p:spPr bwMode="auto">
            <a:xfrm>
              <a:off x="1872" y="3408"/>
              <a:ext cx="864" cy="48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Symbol</a:t>
              </a:r>
            </a:p>
            <a:p>
              <a:pPr algn="ctr"/>
              <a:r>
                <a:rPr lang="en-US"/>
                <a:t>Table</a:t>
              </a:r>
            </a:p>
          </p:txBody>
        </p:sp>
        <p:sp>
          <p:nvSpPr>
            <p:cNvPr id="460809" name="Line 9"/>
            <p:cNvSpPr>
              <a:spLocks noChangeShapeType="1"/>
            </p:cNvSpPr>
            <p:nvPr/>
          </p:nvSpPr>
          <p:spPr bwMode="auto">
            <a:xfrm>
              <a:off x="1584" y="2976"/>
              <a:ext cx="28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810" name="Line 10"/>
            <p:cNvSpPr>
              <a:spLocks noChangeShapeType="1"/>
            </p:cNvSpPr>
            <p:nvPr/>
          </p:nvSpPr>
          <p:spPr bwMode="auto">
            <a:xfrm>
              <a:off x="1296" y="3216"/>
              <a:ext cx="576" cy="38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811" name="Line 11"/>
            <p:cNvSpPr>
              <a:spLocks noChangeShapeType="1"/>
            </p:cNvSpPr>
            <p:nvPr/>
          </p:nvSpPr>
          <p:spPr bwMode="auto">
            <a:xfrm flipV="1">
              <a:off x="2736" y="3216"/>
              <a:ext cx="720" cy="43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812" name="Line 12"/>
            <p:cNvSpPr>
              <a:spLocks noChangeShapeType="1"/>
            </p:cNvSpPr>
            <p:nvPr/>
          </p:nvSpPr>
          <p:spPr bwMode="auto">
            <a:xfrm>
              <a:off x="3888" y="2976"/>
              <a:ext cx="28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813" name="Line 13"/>
            <p:cNvSpPr>
              <a:spLocks noChangeShapeType="1"/>
            </p:cNvSpPr>
            <p:nvPr/>
          </p:nvSpPr>
          <p:spPr bwMode="auto">
            <a:xfrm flipV="1">
              <a:off x="2736" y="3216"/>
              <a:ext cx="1632" cy="43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816" name="Rectangle 16"/>
            <p:cNvSpPr>
              <a:spLocks noChangeArrowheads="1"/>
            </p:cNvSpPr>
            <p:nvPr/>
          </p:nvSpPr>
          <p:spPr bwMode="auto">
            <a:xfrm>
              <a:off x="1872" y="2736"/>
              <a:ext cx="864" cy="480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/>
                <a:t>Syntax</a:t>
              </a:r>
            </a:p>
            <a:p>
              <a:pPr algn="ctr"/>
              <a:r>
                <a:rPr lang="en-US"/>
                <a:t>Analyzer</a:t>
              </a:r>
            </a:p>
          </p:txBody>
        </p:sp>
        <p:sp>
          <p:nvSpPr>
            <p:cNvPr id="460817" name="Line 17"/>
            <p:cNvSpPr>
              <a:spLocks noChangeShapeType="1"/>
            </p:cNvSpPr>
            <p:nvPr/>
          </p:nvSpPr>
          <p:spPr bwMode="auto">
            <a:xfrm>
              <a:off x="2736" y="2976"/>
              <a:ext cx="28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818" name="Line 18"/>
            <p:cNvSpPr>
              <a:spLocks noChangeShapeType="1"/>
            </p:cNvSpPr>
            <p:nvPr/>
          </p:nvSpPr>
          <p:spPr bwMode="auto">
            <a:xfrm>
              <a:off x="2304" y="3216"/>
              <a:ext cx="0" cy="19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miter lim="800000"/>
              <a:headEnd type="triangl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144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E8B91-AD08-438D-BBAB-4B7D00D9390D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0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464023"/>
            <a:ext cx="7543800" cy="727427"/>
          </a:xfr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b="1"/>
              <a:t>Symbol Table Entries</a:t>
            </a:r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46698"/>
            <a:ext cx="8229600" cy="36254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We will store the following information about identifiers</a:t>
            </a:r>
            <a:r>
              <a:rPr lang="en-US" sz="2400" dirty="0" smtClean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The name (as a string).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The data type and value.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The block level.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Its scope (global, local, or parameter).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/>
              <a:t>Its offset from the base pointer (for local variables and parameters only).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145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86DD0-6576-4BBD-B49F-8D405D8751CE}" type="datetime1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0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260" y="340434"/>
            <a:ext cx="7543800" cy="1014030"/>
          </a:xfr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b="1" dirty="0"/>
              <a:t>Interpreter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It is a translator (language processor) which directly executes operations specified in source program on input supplied by user.</a:t>
            </a:r>
          </a:p>
          <a:p>
            <a:pPr algn="just"/>
            <a:endParaRPr lang="en-US" sz="2400" dirty="0"/>
          </a:p>
        </p:txBody>
      </p:sp>
      <p:grpSp>
        <p:nvGrpSpPr>
          <p:cNvPr id="7" name="Group 6"/>
          <p:cNvGrpSpPr/>
          <p:nvPr/>
        </p:nvGrpSpPr>
        <p:grpSpPr>
          <a:xfrm>
            <a:off x="937260" y="3370997"/>
            <a:ext cx="7315200" cy="1786992"/>
            <a:chOff x="76200" y="4267200"/>
            <a:chExt cx="9753600" cy="1752600"/>
          </a:xfrm>
        </p:grpSpPr>
        <p:grpSp>
          <p:nvGrpSpPr>
            <p:cNvPr id="8" name="Group 7"/>
            <p:cNvGrpSpPr/>
            <p:nvPr/>
          </p:nvGrpSpPr>
          <p:grpSpPr>
            <a:xfrm>
              <a:off x="76200" y="4267200"/>
              <a:ext cx="9753600" cy="1752600"/>
              <a:chOff x="76200" y="2438400"/>
              <a:chExt cx="9753600" cy="1752600"/>
            </a:xfrm>
          </p:grpSpPr>
          <p:grpSp>
            <p:nvGrpSpPr>
              <p:cNvPr id="11" name="Group 22"/>
              <p:cNvGrpSpPr>
                <a:grpSpLocks/>
              </p:cNvGrpSpPr>
              <p:nvPr/>
            </p:nvGrpSpPr>
            <p:grpSpPr bwMode="auto">
              <a:xfrm>
                <a:off x="152400" y="2743198"/>
                <a:ext cx="8686800" cy="1138339"/>
                <a:chOff x="304800" y="4267200"/>
                <a:chExt cx="8686800" cy="1219200"/>
              </a:xfrm>
            </p:grpSpPr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3695700" y="4267200"/>
                  <a:ext cx="2514600" cy="1219200"/>
                </a:xfrm>
                <a:prstGeom prst="round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txBody>
                <a:bodyPr anchor="ctr"/>
                <a:lstStyle/>
                <a:p>
                  <a:pPr algn="ctr">
                    <a:defRPr/>
                  </a:pPr>
                  <a:r>
                    <a:rPr lang="en-US" sz="2400" b="1" dirty="0"/>
                    <a:t>Interpreter</a:t>
                  </a:r>
                  <a:endParaRPr lang="en-IN" sz="2400" b="1" dirty="0"/>
                </a:p>
              </p:txBody>
            </p:sp>
            <p:cxnSp>
              <p:nvCxnSpPr>
                <p:cNvPr id="14" name="Straight Arrow Connector 7"/>
                <p:cNvCxnSpPr>
                  <a:cxnSpLocks noChangeShapeType="1"/>
                </p:cNvCxnSpPr>
                <p:nvPr/>
              </p:nvCxnSpPr>
              <p:spPr bwMode="auto">
                <a:xfrm>
                  <a:off x="2667000" y="4675264"/>
                  <a:ext cx="990600" cy="0"/>
                </a:xfrm>
                <a:prstGeom prst="straightConnector1">
                  <a:avLst/>
                </a:prstGeom>
                <a:noFill/>
                <a:ln w="57150" algn="ctr">
                  <a:solidFill>
                    <a:schemeClr val="tx1"/>
                  </a:solidFill>
                  <a:round/>
                  <a:headEnd/>
                  <a:tailEnd type="arrow" w="med" len="med"/>
                </a:ln>
              </p:spPr>
            </p:cxnSp>
            <p:cxnSp>
              <p:nvCxnSpPr>
                <p:cNvPr id="15" name="Straight Arrow Connector 8"/>
                <p:cNvCxnSpPr>
                  <a:cxnSpLocks noChangeShapeType="1"/>
                </p:cNvCxnSpPr>
                <p:nvPr/>
              </p:nvCxnSpPr>
              <p:spPr bwMode="auto">
                <a:xfrm>
                  <a:off x="6248400" y="4876800"/>
                  <a:ext cx="838200" cy="0"/>
                </a:xfrm>
                <a:prstGeom prst="straightConnector1">
                  <a:avLst/>
                </a:prstGeom>
                <a:noFill/>
                <a:ln w="57150" algn="ctr">
                  <a:solidFill>
                    <a:schemeClr val="tx1"/>
                  </a:solidFill>
                  <a:round/>
                  <a:headEnd/>
                  <a:tailEnd type="arrow" w="med" len="med"/>
                </a:ln>
              </p:spPr>
            </p:cxnSp>
            <p:sp>
              <p:nvSpPr>
                <p:cNvPr id="16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304800" y="4430426"/>
                  <a:ext cx="2895599" cy="32329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algn="just"/>
                  <a:r>
                    <a:rPr lang="en-US" sz="1400" b="1" dirty="0"/>
                    <a:t>SOURCE PROGRAM</a:t>
                  </a:r>
                  <a:endParaRPr lang="en-US" sz="1600" b="1" dirty="0"/>
                </a:p>
              </p:txBody>
            </p:sp>
            <p:sp>
              <p:nvSpPr>
                <p:cNvPr id="17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7086600" y="4654795"/>
                  <a:ext cx="1905000" cy="35562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algn="just"/>
                  <a:r>
                    <a:rPr lang="en-US" sz="1600" b="1" dirty="0"/>
                    <a:t>Output</a:t>
                  </a:r>
                </a:p>
              </p:txBody>
            </p:sp>
          </p:grpSp>
          <p:sp>
            <p:nvSpPr>
              <p:cNvPr id="12" name="Rectangle 11"/>
              <p:cNvSpPr/>
              <p:nvPr/>
            </p:nvSpPr>
            <p:spPr bwMode="auto">
              <a:xfrm>
                <a:off x="76200" y="2438400"/>
                <a:ext cx="9753600" cy="1752600"/>
              </a:xfrm>
              <a:prstGeom prst="rect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IN">
                  <a:latin typeface="Times New Roman" charset="0"/>
                </a:endParaRPr>
              </a:p>
            </p:txBody>
          </p:sp>
        </p:grp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1676400" y="5238691"/>
              <a:ext cx="1905000" cy="332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en-US" sz="1600" b="1" dirty="0"/>
                <a:t>Input</a:t>
              </a:r>
            </a:p>
          </p:txBody>
        </p:sp>
        <p:cxnSp>
          <p:nvCxnSpPr>
            <p:cNvPr id="10" name="Straight Arrow Connector 7"/>
            <p:cNvCxnSpPr>
              <a:cxnSpLocks noChangeShapeType="1"/>
            </p:cNvCxnSpPr>
            <p:nvPr/>
          </p:nvCxnSpPr>
          <p:spPr bwMode="auto">
            <a:xfrm>
              <a:off x="2514600" y="5410200"/>
              <a:ext cx="990600" cy="0"/>
            </a:xfrm>
            <a:prstGeom prst="straightConnector1">
              <a:avLst/>
            </a:prstGeom>
            <a:noFill/>
            <a:ln w="57150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146</a:t>
            </a:fld>
            <a:endParaRPr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205DF-E342-403A-92B6-A2E6F19C94FE}" type="datetime1">
              <a:rPr lang="en-US" smtClean="0"/>
              <a:t>9/27/2021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967" y="177421"/>
            <a:ext cx="8379726" cy="741074"/>
          </a:xfr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b="1" dirty="0"/>
              <a:t>Interpreter </a:t>
            </a:r>
            <a:r>
              <a:rPr lang="en-US" sz="4400" b="1" dirty="0" err="1"/>
              <a:t>vs</a:t>
            </a:r>
            <a:r>
              <a:rPr lang="en-US" sz="4400" b="1" dirty="0"/>
              <a:t> Compiler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1145282"/>
              </p:ext>
            </p:extLst>
          </p:nvPr>
        </p:nvGraphicFramePr>
        <p:xfrm>
          <a:off x="504965" y="1296536"/>
          <a:ext cx="8393374" cy="4812057"/>
        </p:xfrm>
        <a:graphic>
          <a:graphicData uri="http://schemas.openxmlformats.org/drawingml/2006/table">
            <a:tbl>
              <a:tblPr/>
              <a:tblGrid>
                <a:gridCol w="4196687"/>
                <a:gridCol w="4196687"/>
              </a:tblGrid>
              <a:tr h="61443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Interpreter</a:t>
                      </a:r>
                    </a:p>
                  </a:txBody>
                  <a:tcPr marL="60535" marR="48428" marT="90802" marB="84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Compiler</a:t>
                      </a:r>
                    </a:p>
                  </a:txBody>
                  <a:tcPr marL="60535" marR="48428" marT="90802" marB="84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AEC"/>
                    </a:solidFill>
                  </a:tcPr>
                </a:tc>
              </a:tr>
              <a:tr h="704362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Translates program 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by one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 at a time.</a:t>
                      </a:r>
                    </a:p>
                  </a:txBody>
                  <a:tcPr marL="60535" marR="48428" marT="60535" marB="54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Scans the entire program and translates it as a whole into machine code.</a:t>
                      </a:r>
                    </a:p>
                  </a:txBody>
                  <a:tcPr marL="60535" marR="48428" marT="60535" marB="54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934755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takes less amount of time to analyze the source code but the overall execution time is slower.</a:t>
                      </a:r>
                    </a:p>
                  </a:txBody>
                  <a:tcPr marL="60535" marR="48428" marT="60535" marB="54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takes large amount of time to analyze the source code but the overall execution time is comparatively faster.</a:t>
                      </a:r>
                    </a:p>
                  </a:txBody>
                  <a:tcPr marL="60535" marR="48428" marT="60535" marB="54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704362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intermediate object code is generated, hence are memory efficient.</a:t>
                      </a:r>
                    </a:p>
                  </a:txBody>
                  <a:tcPr marL="60535" marR="48428" marT="60535" marB="54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intermediate object code which further requires linking, hence requires more memory.</a:t>
                      </a:r>
                    </a:p>
                  </a:txBody>
                  <a:tcPr marL="60535" marR="48428" marT="60535" marB="54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934755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Continues translating the program until the first error is met, in which case it stops. Hence debugging is easy.</a:t>
                      </a:r>
                    </a:p>
                  </a:txBody>
                  <a:tcPr marL="60535" marR="48428" marT="60535" marB="54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generates the error message only after scanning the whole program. Hence debugging is comparatively hard.</a:t>
                      </a:r>
                    </a:p>
                  </a:txBody>
                  <a:tcPr marL="60535" marR="48428" marT="60535" marB="54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679337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 like Python, Ruby use interpreters.</a:t>
                      </a:r>
                    </a:p>
                  </a:txBody>
                  <a:tcPr marL="60535" marR="48428" marT="60535" marB="54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 like C, C++ use compilers.</a:t>
                      </a:r>
                    </a:p>
                  </a:txBody>
                  <a:tcPr marL="60535" marR="48428" marT="60535" marB="54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147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4134F-0D0C-4BD3-8AAD-8A27A3621CE2}" type="datetime1">
              <a:rPr lang="en-US" smtClean="0"/>
              <a:t>9/27/2021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2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503" y="286604"/>
            <a:ext cx="8913466" cy="1207345"/>
          </a:xfr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4400" b="1" dirty="0" smtClean="0"/>
              <a:t>Case Study- GNU m4 Macro Processor</a:t>
            </a:r>
            <a:endParaRPr lang="en-IN" sz="4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148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CE652-1AF0-43E8-9B3A-E01897CC0A0B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90153" y="1769775"/>
            <a:ext cx="8950816" cy="4414185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sz="1400" dirty="0" smtClean="0">
                <a:solidFill>
                  <a:srgbClr val="000000"/>
                </a:solidFill>
                <a:latin typeface="Arial Unicode MS" panose="020B0604020202020204" pitchFamily="34" charset="-128"/>
              </a:rPr>
              <a:t>m4</a:t>
            </a:r>
            <a:r>
              <a:rPr lang="en-US" sz="12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macro processor, it copies its input to the output, expanding macros as it goes.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</a:p>
          <a:p>
            <a:pPr algn="just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Macros are either </a:t>
            </a:r>
            <a:r>
              <a:rPr lang="en-US" sz="1600" dirty="0" smtClean="0">
                <a:solidFill>
                  <a:schemeClr val="tx1"/>
                </a:solidFill>
              </a:rPr>
              <a:t>built-in </a:t>
            </a:r>
            <a:r>
              <a:rPr lang="en-US" sz="1600" dirty="0">
                <a:solidFill>
                  <a:schemeClr val="tx1"/>
                </a:solidFill>
              </a:rPr>
              <a:t>or user-defined, and can take any number of arguments.</a:t>
            </a:r>
          </a:p>
          <a:p>
            <a:pPr lvl="0" algn="just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sz="1600" dirty="0" smtClean="0">
                <a:solidFill>
                  <a:schemeClr val="tx1"/>
                </a:solidFill>
              </a:rPr>
              <a:t>Besides just doing macro expansion, m4 has built-in functions for including named files in UNIX commands, </a:t>
            </a:r>
            <a:r>
              <a:rPr lang="en-US" sz="1600" b="1" dirty="0" smtClean="0">
                <a:solidFill>
                  <a:schemeClr val="tx1"/>
                </a:solidFill>
              </a:rPr>
              <a:t>doing integer arithmetic, manipulating text </a:t>
            </a:r>
            <a:r>
              <a:rPr lang="en-US" sz="1600" dirty="0" smtClean="0">
                <a:solidFill>
                  <a:schemeClr val="tx1"/>
                </a:solidFill>
              </a:rPr>
              <a:t>in various ways, recursion, etc.</a:t>
            </a:r>
          </a:p>
          <a:p>
            <a:pPr lvl="0" algn="just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m4 can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used either as a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 to a compiler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as a macro processor in its own right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popular GNU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Autoconf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pre-requires GNU m4 for generating the ’configure’ scripts. </a:t>
            </a:r>
          </a:p>
          <a:p>
            <a:pPr lvl="0" algn="just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people will not themselves program in 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m4. </a:t>
            </a:r>
            <a:r>
              <a:rPr lang="en-US" sz="1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GNU m4</a:t>
            </a:r>
            <a:r>
              <a:rPr lang="en-US" sz="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mostly compatible with the System V, Release 3 version, except for some minor differences. 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General Purpose Macro generator (GPM)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important ancestor of m4 </a:t>
            </a:r>
            <a:r>
              <a:rPr lang="en-US" sz="16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m4 is mostly SVR4 compatible.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buClrTx/>
              <a:buSzTx/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§"/>
            </a:pPr>
            <a:endParaRPr lang="en-US" sz="1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§"/>
            </a:pPr>
            <a:endParaRPr lang="en-US" sz="1800" dirty="0" smtClean="0">
              <a:solidFill>
                <a:schemeClr val="tx1"/>
              </a:solidFill>
            </a:endParaRPr>
          </a:p>
          <a:p>
            <a:pPr lvl="0" algn="just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§"/>
            </a:pPr>
            <a:endParaRPr lang="en-US" sz="1800" dirty="0" smtClean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1201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207345"/>
          </a:xfr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4400" b="1" dirty="0" smtClean="0"/>
              <a:t>Case Study- GNU m4 Macro Processor</a:t>
            </a:r>
            <a:endParaRPr lang="en-IN" sz="4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149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EAD6C-7C21-4755-98B7-736F18CB1357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39508" y="2285247"/>
            <a:ext cx="805112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32630" y="1876457"/>
            <a:ext cx="8380741" cy="318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format of the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m4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command is: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m4 [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option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...] [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macro-definitions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...] [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input-file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...]</a:t>
            </a:r>
          </a:p>
          <a:p>
            <a:pPr>
              <a:lnSpc>
                <a:spcPct val="150000"/>
              </a:lnSpc>
            </a:pPr>
            <a:r>
              <a:rPr lang="en-US" i="1" dirty="0">
                <a:solidFill>
                  <a:srgbClr val="000000"/>
                </a:solidFill>
                <a:latin typeface="Arial Unicode MS" panose="020B0604020202020204" pitchFamily="34" charset="-128"/>
              </a:rPr>
              <a:t>m4 --</a:t>
            </a:r>
            <a:r>
              <a:rPr lang="en-US" i="1" dirty="0" err="1">
                <a:solidFill>
                  <a:srgbClr val="000000"/>
                </a:solidFill>
                <a:latin typeface="Arial Unicode MS" panose="020B0604020202020204" pitchFamily="34" charset="-128"/>
              </a:rPr>
              <a:t>def</a:t>
            </a:r>
            <a:r>
              <a:rPr lang="en-US" i="1" dirty="0">
                <a:solidFill>
                  <a:srgbClr val="000000"/>
                </a:solidFill>
                <a:latin typeface="Arial Unicode MS" panose="020B0604020202020204" pitchFamily="34" charset="-128"/>
              </a:rPr>
              <a:t> foo --debug a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is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equivalent to 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en-US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i="1" dirty="0" smtClean="0">
                <a:solidFill>
                  <a:srgbClr val="000000"/>
                </a:solidFill>
                <a:latin typeface="Arial Unicode MS" panose="020B0604020202020204" pitchFamily="34" charset="-128"/>
              </a:rPr>
              <a:t>m4 </a:t>
            </a:r>
            <a:r>
              <a:rPr lang="en-US" i="1" dirty="0">
                <a:solidFill>
                  <a:srgbClr val="000000"/>
                </a:solidFill>
                <a:latin typeface="Arial Unicode MS" panose="020B0604020202020204" pitchFamily="34" charset="-128"/>
              </a:rPr>
              <a:t>--define=foo --debug= -- ./a</a:t>
            </a:r>
            <a:r>
              <a:rPr lang="en-US" sz="1400" dirty="0"/>
              <a:t> </a:t>
            </a:r>
            <a:endParaRPr lang="en-US" sz="40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400" dirty="0">
              <a:solidFill>
                <a:srgbClr val="000000"/>
              </a:solidFill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44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846028" cy="4357761"/>
          </a:xfrm>
        </p:spPr>
        <p:txBody>
          <a:bodyPr>
            <a:noAutofit/>
          </a:bodyPr>
          <a:lstStyle/>
          <a:p>
            <a:pPr lvl="0"/>
            <a:r>
              <a:rPr lang="en-IN" sz="1400" dirty="0" smtClean="0"/>
              <a:t>1) </a:t>
            </a:r>
            <a:r>
              <a:rPr lang="en-US" sz="1400" dirty="0"/>
              <a:t>John Donovan, “Systems Programming”, McGraw Hill, ISBN 978-0--07-460482-3</a:t>
            </a:r>
            <a:endParaRPr lang="en-IN" sz="1400" dirty="0"/>
          </a:p>
          <a:p>
            <a:pPr lvl="0"/>
            <a:r>
              <a:rPr lang="en-US" sz="1400" dirty="0" smtClean="0"/>
              <a:t>2) </a:t>
            </a:r>
            <a:r>
              <a:rPr lang="en-US" sz="1400" dirty="0" err="1" smtClean="0"/>
              <a:t>Dhamdhere</a:t>
            </a:r>
            <a:r>
              <a:rPr lang="en-US" sz="1400" dirty="0" smtClean="0"/>
              <a:t> </a:t>
            </a:r>
            <a:r>
              <a:rPr lang="en-US" sz="1400" dirty="0"/>
              <a:t>D., "Systems Programming and Operating Systems", McGraw Hill, ISBN 0 - 07 - 463579 – 4</a:t>
            </a:r>
            <a:endParaRPr lang="en-IN" sz="1400" dirty="0"/>
          </a:p>
          <a:p>
            <a:r>
              <a:rPr lang="en-IN" sz="1400" dirty="0" smtClean="0"/>
              <a:t>3</a:t>
            </a:r>
            <a:r>
              <a:rPr lang="en-IN" sz="1400" dirty="0"/>
              <a:t>) https://www.gnu.org/software/m4/manual/m4.html#Syntax</a:t>
            </a:r>
            <a:endParaRPr lang="en-IN" sz="1400" dirty="0" smtClean="0"/>
          </a:p>
          <a:p>
            <a:r>
              <a:rPr lang="en-IN" sz="1400" dirty="0" err="1" smtClean="0"/>
              <a:t>Ebooks</a:t>
            </a:r>
            <a:r>
              <a:rPr lang="en-IN" sz="1400" dirty="0" smtClean="0"/>
              <a:t>: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200" u="sng" dirty="0"/>
              <a:t>htt</a:t>
            </a:r>
            <a:r>
              <a:rPr lang="en-US" sz="1200" u="sng" dirty="0">
                <a:hlinkClick r:id="rId2"/>
              </a:rPr>
              <a:t>ps://www</a:t>
            </a:r>
            <a:r>
              <a:rPr lang="en-US" sz="1200" u="sng" dirty="0"/>
              <a:t>.els</a:t>
            </a:r>
            <a:r>
              <a:rPr lang="en-US" sz="1200" u="sng" dirty="0">
                <a:hlinkClick r:id="rId2"/>
              </a:rPr>
              <a:t>evier.com/books/system</a:t>
            </a:r>
            <a:r>
              <a:rPr lang="en-US" sz="1200" u="sng" dirty="0"/>
              <a:t>s</a:t>
            </a:r>
            <a:r>
              <a:rPr lang="en-US" sz="1200" u="sng" dirty="0">
                <a:hlinkClick r:id="rId2"/>
              </a:rPr>
              <a:t>-programming/anthony/978-0-12-800729-7</a:t>
            </a:r>
            <a:endParaRPr lang="en-IN" sz="1100" dirty="0"/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200" u="sng" dirty="0"/>
              <a:t>htt</a:t>
            </a:r>
            <a:r>
              <a:rPr lang="en-US" sz="1200" u="sng" dirty="0">
                <a:hlinkClick r:id="rId3"/>
              </a:rPr>
              <a:t>ps://www.kobo.com/</a:t>
            </a:r>
            <a:r>
              <a:rPr lang="en-US" sz="1200" u="sng" dirty="0"/>
              <a:t>us/e</a:t>
            </a:r>
            <a:r>
              <a:rPr lang="en-US" sz="1200" u="sng" dirty="0">
                <a:hlinkClick r:id="rId3"/>
              </a:rPr>
              <a:t>n/ebook/linux</a:t>
            </a:r>
            <a:r>
              <a:rPr lang="en-US" sz="1200" u="sng" dirty="0"/>
              <a:t>-</a:t>
            </a:r>
            <a:r>
              <a:rPr lang="en-US" sz="1200" u="sng" dirty="0">
                <a:hlinkClick r:id="rId3"/>
              </a:rPr>
              <a:t>system-programming-1</a:t>
            </a:r>
            <a:endParaRPr lang="en-IN" sz="1100" dirty="0"/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200" u="sng" dirty="0">
                <a:hlinkClick r:id="rId4"/>
              </a:rPr>
              <a:t>https://</a:t>
            </a:r>
            <a:r>
              <a:rPr lang="en-US" sz="1200" u="sng" dirty="0" smtClean="0">
                <a:hlinkClick r:id="rId4"/>
              </a:rPr>
              <a:t>www.e-booksdirectory.com/details.php?ebook=9907</a:t>
            </a:r>
            <a:endParaRPr lang="en-US" sz="1200" u="sng" dirty="0" smtClean="0"/>
          </a:p>
          <a:p>
            <a:pPr marL="201168" lvl="1" indent="0">
              <a:lnSpc>
                <a:spcPct val="170000"/>
              </a:lnSpc>
              <a:buNone/>
            </a:pPr>
            <a:r>
              <a:rPr lang="en-US" sz="1400" b="1" dirty="0" smtClean="0"/>
              <a:t>MOOCs </a:t>
            </a:r>
            <a:r>
              <a:rPr lang="en-US" sz="1400" b="1" dirty="0"/>
              <a:t>Courses Links:</a:t>
            </a:r>
            <a:endParaRPr lang="en-IN" sz="1400" dirty="0"/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200" u="sng" dirty="0" err="1" smtClean="0"/>
              <a:t>nptel</a:t>
            </a:r>
            <a:r>
              <a:rPr lang="en-US" sz="1200" u="sng" dirty="0" smtClean="0"/>
              <a:t> </a:t>
            </a:r>
            <a:r>
              <a:rPr lang="en-US" sz="1200" u="sng" dirty="0"/>
              <a:t>video lecture link: https://nptel.ac.in/courses/106/105/106105214/</a:t>
            </a:r>
            <a:endParaRPr lang="en-IN" sz="1100" dirty="0"/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200" u="sng" dirty="0" smtClean="0"/>
              <a:t>https</a:t>
            </a:r>
            <a:r>
              <a:rPr lang="en-US" sz="1200" u="sng" dirty="0"/>
              <a:t>://onlinecourses.nptel.ac.in/noc19_cs50/preview</a:t>
            </a:r>
            <a:endParaRPr lang="en-IN" sz="1100" dirty="0"/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200" u="sng" dirty="0"/>
              <a:t>htt</a:t>
            </a:r>
            <a:r>
              <a:rPr lang="en-US" sz="1200" u="sng" dirty="0">
                <a:hlinkClick r:id="rId5"/>
              </a:rPr>
              <a:t>ps://www.udemy.c</a:t>
            </a:r>
            <a:r>
              <a:rPr lang="en-US" sz="1200" u="sng" dirty="0"/>
              <a:t>om</a:t>
            </a:r>
            <a:r>
              <a:rPr lang="en-US" sz="1200" u="sng" dirty="0">
                <a:hlinkClick r:id="rId5"/>
              </a:rPr>
              <a:t>/cour</a:t>
            </a:r>
            <a:r>
              <a:rPr lang="en-US" sz="1200" u="sng" dirty="0"/>
              <a:t>se</a:t>
            </a:r>
            <a:r>
              <a:rPr lang="en-US" sz="1200" u="sng" dirty="0">
                <a:hlinkClick r:id="rId5"/>
              </a:rPr>
              <a:t>/system</a:t>
            </a:r>
            <a:r>
              <a:rPr lang="en-US" sz="1200" u="sng" dirty="0"/>
              <a:t>-</a:t>
            </a:r>
            <a:r>
              <a:rPr lang="en-US" sz="1200" u="sng" dirty="0">
                <a:hlinkClick r:id="rId5"/>
              </a:rPr>
              <a:t>programming/</a:t>
            </a:r>
            <a:endParaRPr lang="en-IN" sz="1200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1B173-77B9-4527-8D30-D17D790BC9F2}" type="datetime1">
              <a:rPr lang="en-US" smtClean="0"/>
              <a:t>9/27/2021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150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8261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22960" y="273725"/>
            <a:ext cx="7543800" cy="120734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400" b="1" dirty="0" smtClean="0"/>
              <a:t>References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598056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039" y="2497541"/>
            <a:ext cx="7543801" cy="2074459"/>
          </a:xfrm>
          <a:solidFill>
            <a:schemeClr val="bg2">
              <a:lumMod val="75000"/>
            </a:schemeClr>
          </a:solidFill>
          <a:ln>
            <a:solidFill>
              <a:srgbClr val="FF0066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anchor="ctr">
            <a:normAutofit/>
          </a:bodyPr>
          <a:lstStyle/>
          <a:p>
            <a:pPr algn="ctr"/>
            <a:endParaRPr lang="en-IN" sz="5400" dirty="0">
              <a:solidFill>
                <a:srgbClr val="FF00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721A-F7CA-4705-81EC-A2370FE3F563}" type="slidenum">
              <a:rPr lang="en-US" smtClean="0"/>
              <a:pPr/>
              <a:t>151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8E8F0-FD6D-4CC6-A1ED-17CA8128308E}" type="datetime1">
              <a:rPr lang="en-US" smtClean="0"/>
              <a:t>9/27/2021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478797" y="2934605"/>
            <a:ext cx="4946547" cy="1200329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66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 !!</a:t>
            </a:r>
            <a:endParaRPr lang="en-US" sz="72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0066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1639</TotalTime>
  <Words>9402</Words>
  <Application>Microsoft Office PowerPoint</Application>
  <PresentationFormat>On-screen Show (4:3)</PresentationFormat>
  <Paragraphs>7119</Paragraphs>
  <Slides>151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151</vt:i4>
      </vt:variant>
    </vt:vector>
  </HeadingPairs>
  <TitlesOfParts>
    <vt:vector size="163" baseType="lpstr">
      <vt:lpstr>Arial Unicode MS</vt:lpstr>
      <vt:lpstr>宋体</vt:lpstr>
      <vt:lpstr>Angsana New</vt:lpstr>
      <vt:lpstr>Arial</vt:lpstr>
      <vt:lpstr>Calibri</vt:lpstr>
      <vt:lpstr>Calibri Light</vt:lpstr>
      <vt:lpstr>Cordia New</vt:lpstr>
      <vt:lpstr>Monotype Sorts</vt:lpstr>
      <vt:lpstr>新細明體</vt:lpstr>
      <vt:lpstr>Times New Roman</vt:lpstr>
      <vt:lpstr>Wingdings</vt:lpstr>
      <vt:lpstr>Retrospect</vt:lpstr>
      <vt:lpstr>PowerPoint Presentation</vt:lpstr>
      <vt:lpstr>PowerPoint Presentation</vt:lpstr>
      <vt:lpstr>Macro Processor and Compiler       </vt:lpstr>
      <vt:lpstr>Syllabus</vt:lpstr>
      <vt:lpstr>Introduction to Macro Processor</vt:lpstr>
      <vt:lpstr>Macro Processor</vt:lpstr>
      <vt:lpstr>Macro Definition</vt:lpstr>
      <vt:lpstr>Macro Definition (cont..)</vt:lpstr>
      <vt:lpstr>Macro Call</vt:lpstr>
      <vt:lpstr>Macro Expansion</vt:lpstr>
      <vt:lpstr>Macro Expansion (cont..)</vt:lpstr>
      <vt:lpstr>Parameter Substitution</vt:lpstr>
      <vt:lpstr> Positional Formal Argument </vt:lpstr>
      <vt:lpstr> Keyword Argument </vt:lpstr>
      <vt:lpstr>Default Argument</vt:lpstr>
      <vt:lpstr>Macro with Mixed Parameter Lists</vt:lpstr>
      <vt:lpstr>Macro vs. Subroutine</vt:lpstr>
      <vt:lpstr>Advanced Macro Facilities</vt:lpstr>
      <vt:lpstr>Macro Calls within Macros  (Nested Macro Calls)</vt:lpstr>
      <vt:lpstr>Macro Calls within Macros  (Nested Macro Calls) (cont..)</vt:lpstr>
      <vt:lpstr>Macro Instruction Defining Macros</vt:lpstr>
      <vt:lpstr>Conditional Macro Expansion</vt:lpstr>
      <vt:lpstr>Need of Conditional Macro Expansion</vt:lpstr>
      <vt:lpstr>Conditional Macro Expansion</vt:lpstr>
      <vt:lpstr> AIF , .FINI, AGO </vt:lpstr>
      <vt:lpstr>Design of Two pass macro Processor</vt:lpstr>
      <vt:lpstr>Specifications of Data Structures </vt:lpstr>
      <vt:lpstr>Formats of Data Structures</vt:lpstr>
      <vt:lpstr>Formats of Data Structures (Cont..)</vt:lpstr>
      <vt:lpstr>Formats of Data Structures (Cont..)</vt:lpstr>
      <vt:lpstr>Two Pass Macro Processor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Macro Calls Within Macro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Single Pass Macro Processor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Compiler</vt:lpstr>
      <vt:lpstr>Let’s have a look at, what happens inside Black Box </vt:lpstr>
      <vt:lpstr>PowerPoint Presentation</vt:lpstr>
      <vt:lpstr>The Structure of a Compiler</vt:lpstr>
      <vt:lpstr>Symbol Table</vt:lpstr>
      <vt:lpstr>The Symbol Table</vt:lpstr>
      <vt:lpstr>Symbol Table Entries</vt:lpstr>
      <vt:lpstr>Interpreter</vt:lpstr>
      <vt:lpstr>Interpreter vs Compiler</vt:lpstr>
      <vt:lpstr>Case Study- GNU m4 Macro Processor</vt:lpstr>
      <vt:lpstr>Case Study- GNU m4 Macro Processor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Macro Processor, Linker &amp; Loader</dc:title>
  <dc:creator>chaitali Laulkar</dc:creator>
  <cp:lastModifiedBy>Administrator</cp:lastModifiedBy>
  <cp:revision>285</cp:revision>
  <dcterms:created xsi:type="dcterms:W3CDTF">2018-01-17T11:27:18Z</dcterms:created>
  <dcterms:modified xsi:type="dcterms:W3CDTF">2021-09-27T10:18:10Z</dcterms:modified>
</cp:coreProperties>
</file>